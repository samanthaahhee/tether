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540"/>
                </a:solidFill>
                <a:latin typeface="Georgia"/>
              </a:defRPr>
            </a:pPr>
            <a:r>
              <a:rPr sz="1300" b="0" i="0" u="none" strike="noStrike">
                <a:solidFill>
                  <a:srgbClr val="1F2540"/>
                </a:solidFill>
                <a:latin typeface="Georgia"/>
              </a:rPr>
              <a:t>Paying users (thousands)</a:t>
            </a:r>
          </a:p>
        </c:rich>
      </c:tx>
      <c:layout/>
      <c:overlay val="0"/>
    </c:title>
    <c:autoTitleDeleted val="0"/>
    <c:plotArea>
      <c:layout/>
      <c:barChart>
        <c:barDir val="col"/>
        <c:grouping val="clustered"/>
        <c:varyColors val="0"/>
        <c:ser>
          <c:idx val="0"/>
          <c:order val="0"/>
          <c:tx>
            <c:strRef>
              <c:f>Sheet1!$B$1</c:f>
              <c:strCache>
                <c:ptCount val="1"/>
                <c:pt idx="0">
                  <c:v>Paying users (000s)</c:v>
                </c:pt>
              </c:strCache>
            </c:strRef>
          </c:tx>
          <c:spPr>
            <a:solidFill>
              <a:srgbClr val="92A6F4"/>
            </a:solidFill>
            <a:effectLst/>
          </c:spPr>
          <c:invertIfNegative val="0"/>
          <c:dLbls>
            <c:numFmt formatCode="#,##0" sourceLinked="0"/>
            <c:txPr>
              <a:bodyPr/>
              <a:lstStyle/>
              <a:p>
                <a:pPr>
                  <a:defRPr b="0" i="0" strike="noStrike" sz="1100" u="none">
                    <a:solidFill>
                      <a:srgbClr val="1F2540"/>
                    </a:solidFill>
                    <a:latin typeface="Arial"/>
                  </a:defRPr>
                </a:pPr>
              </a:p>
            </c:txPr>
            <c:showLegendKey val="0"/>
            <c:showVal val="1"/>
            <c:showCatName val="0"/>
            <c:showSerName val="0"/>
            <c:showPercent val="0"/>
            <c:showBubbleSize val="0"/>
            <c:showLeaderLines val="0"/>
          </c:dLbls>
          <c:cat>
            <c:multiLvlStrRef>
              <c:f>Sheet1!$A$2:$A$4</c:f>
              <c:multiLvlStrCache>
                <c:ptCount val="3"/>
                <c:lvl>
                  <c:pt idx="0">
                    <c:v>Y1</c:v>
                  </c:pt>
                  <c:pt idx="1">
                    <c:v>Y2</c:v>
                  </c:pt>
                  <c:pt idx="2">
                    <c:v>Y3</c:v>
                  </c:pt>
                </c:lvl>
              </c:multiLvlStrCache>
            </c:multiLvlStrRef>
          </c:cat>
          <c:val>
            <c:numRef>
              <c:f>Sheet1!$B$2:$B$4</c:f>
              <c:numCache>
                <c:formatCode>General</c:formatCode>
                <c:ptCount val="3"/>
                <c:pt idx="0">
                  <c:v>12</c:v>
                </c:pt>
                <c:pt idx="1">
                  <c:v>68</c:v>
                </c:pt>
                <c:pt idx="2">
                  <c:v>184</c:v>
                </c:pt>
              </c:numCache>
            </c:numRef>
          </c:val>
        </c:ser>
        <c:dLbls>
          <c:numFmt formatCode="#,##0" sourceLinked="0"/>
          <c:txPr>
            <a:bodyPr/>
            <a:lstStyle/>
            <a:p>
              <a:pPr>
                <a:defRPr b="0" i="0" strike="noStrike" sz="1100" u="none">
                  <a:solidFill>
                    <a:srgbClr val="1F25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A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0D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A6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96D35F"/>
              </a:solidFill>
              <a:effectLst/>
            </c:spPr>
          </c:dPt>
          <c:dPt>
            <c:idx val="1"/>
            <c:bubble3D val="0"/>
            <c:spPr>
              <a:solidFill>
                <a:srgbClr val="92A6F4"/>
              </a:solidFill>
              <a:effectLst/>
            </c:spPr>
          </c:dPt>
          <c:dPt>
            <c:idx val="2"/>
            <c:bubble3D val="0"/>
            <c:spPr>
              <a:solidFill>
                <a:srgbClr val="F67700"/>
              </a:solidFill>
              <a:effectLst/>
            </c:spPr>
          </c:dPt>
          <c:dPt>
            <c:idx val="3"/>
            <c:bubble3D val="0"/>
            <c:spPr>
              <a:solidFill>
                <a:srgbClr val="BD57F2"/>
              </a:solidFill>
              <a:effectLst/>
            </c:spPr>
          </c:dPt>
          <c:dPt>
            <c:idx val="4"/>
            <c:bubble3D val="0"/>
            <c:spPr>
              <a:solidFill>
                <a:srgbClr val="C9A559"/>
              </a:solidFill>
              <a:effectLst/>
            </c:spPr>
          </c:dPt>
          <c:dPt>
            <c:idx val="5"/>
            <c:bubble3D val="0"/>
            <c:spPr>
              <a:solidFill>
                <a:srgbClr val="1F254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TikTok organic</c:v>
                </c:pt>
                <c:pt idx="1">
                  <c:v>Creator partnerships</c:v>
                </c:pt>
                <c:pt idx="2">
                  <c:v>SEO (attachment keywords)</c:v>
                </c:pt>
                <c:pt idx="3">
                  <c:v>Paid social (Meta/TikTok)</c:v>
                </c:pt>
                <c:pt idx="4">
                  <c:v>Google SEM</c:v>
                </c:pt>
                <c:pt idx="5">
                  <c:v>Word of mouth / couple plan</c:v>
                </c:pt>
              </c:strCache>
            </c:strRef>
          </c:cat>
          <c:val>
            <c:numRef>
              <c:f>Sheet1!$B$2:$B$7</c:f>
              <c:numCache>
                <c:ptCount val="6"/>
                <c:pt idx="0">
                  <c:v>28</c:v>
                </c:pt>
                <c:pt idx="1">
                  <c:v>18</c:v>
                </c:pt>
                <c:pt idx="2">
                  <c:v>14</c:v>
                </c:pt>
                <c:pt idx="3">
                  <c:v>18</c:v>
                </c:pt>
                <c:pt idx="4">
                  <c:v>8</c:v>
                </c:pt>
                <c:pt idx="5">
                  <c:v>14</c:v>
                </c:pt>
              </c:numCache>
            </c:numRef>
          </c:val>
        </c:ser>
        <c:firstSliceAng val="0"/>
        <c:holeSize val="50"/>
      </c:doughnutChart>
      <c:spPr>
        <a:noFill/>
        <a:ln>
          <a:noFill/>
        </a:ln>
        <a:effectLst/>
      </c:spPr>
    </c:plotArea>
    <c:legend>
      <c:legendPos val="r"/>
      <c:overlay val="0"/>
      <c:txPr>
        <a:bodyPr/>
        <a:lstStyle/>
        <a:p>
          <a:pPr>
            <a:defRPr sz="1000">
              <a:solidFill>
                <a:srgbClr val="2A2D34"/>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540"/>
        </a:solidFill>
      </p:bgPr>
    </p:bg>
    <p:spTree>
      <p:nvGrpSpPr>
        <p:cNvPr id="1" name=""/>
        <p:cNvGrpSpPr/>
        <p:nvPr/>
      </p:nvGrpSpPr>
      <p:grpSpPr>
        <a:xfrm>
          <a:off x="0" y="0"/>
          <a:ext cx="0" cy="0"/>
          <a:chOff x="0" y="0"/>
          <a:chExt cx="0" cy="0"/>
        </a:xfrm>
      </p:grpSpPr>
      <p:sp>
        <p:nvSpPr>
          <p:cNvPr id="2" name="Shape 0"/>
          <p:cNvSpPr/>
          <p:nvPr/>
        </p:nvSpPr>
        <p:spPr>
          <a:xfrm>
            <a:off x="0" y="5120640"/>
            <a:ext cx="12161520" cy="1737360"/>
          </a:xfrm>
          <a:prstGeom prst="rect">
            <a:avLst/>
          </a:prstGeom>
          <a:solidFill>
            <a:srgbClr val="FAF7F2"/>
          </a:solidFill>
          <a:ln w="12700">
            <a:solidFill>
              <a:srgbClr val="FAF7F2"/>
            </a:solidFill>
            <a:prstDash val="solid"/>
          </a:ln>
        </p:spPr>
      </p:sp>
      <p:sp>
        <p:nvSpPr>
          <p:cNvPr id="3" name="Shape 1"/>
          <p:cNvSpPr/>
          <p:nvPr/>
        </p:nvSpPr>
        <p:spPr>
          <a:xfrm>
            <a:off x="0" y="5029200"/>
            <a:ext cx="3040380" cy="91440"/>
          </a:xfrm>
          <a:prstGeom prst="rect">
            <a:avLst/>
          </a:prstGeom>
          <a:solidFill>
            <a:srgbClr val="96D35F"/>
          </a:solidFill>
          <a:ln w="12700">
            <a:solidFill>
              <a:srgbClr val="96D35F"/>
            </a:solidFill>
            <a:prstDash val="solid"/>
          </a:ln>
        </p:spPr>
      </p:sp>
      <p:sp>
        <p:nvSpPr>
          <p:cNvPr id="4" name="Shape 2"/>
          <p:cNvSpPr/>
          <p:nvPr/>
        </p:nvSpPr>
        <p:spPr>
          <a:xfrm>
            <a:off x="3040380" y="5029200"/>
            <a:ext cx="3040380" cy="91440"/>
          </a:xfrm>
          <a:prstGeom prst="rect">
            <a:avLst/>
          </a:prstGeom>
          <a:solidFill>
            <a:srgbClr val="92A6F4"/>
          </a:solidFill>
          <a:ln w="12700">
            <a:solidFill>
              <a:srgbClr val="92A6F4"/>
            </a:solidFill>
            <a:prstDash val="solid"/>
          </a:ln>
        </p:spPr>
      </p:sp>
      <p:sp>
        <p:nvSpPr>
          <p:cNvPr id="5" name="Shape 3"/>
          <p:cNvSpPr/>
          <p:nvPr/>
        </p:nvSpPr>
        <p:spPr>
          <a:xfrm>
            <a:off x="6080760" y="5029200"/>
            <a:ext cx="3040380" cy="91440"/>
          </a:xfrm>
          <a:prstGeom prst="rect">
            <a:avLst/>
          </a:prstGeom>
          <a:solidFill>
            <a:srgbClr val="F67700"/>
          </a:solidFill>
          <a:ln w="12700">
            <a:solidFill>
              <a:srgbClr val="F67700"/>
            </a:solidFill>
            <a:prstDash val="solid"/>
          </a:ln>
        </p:spPr>
      </p:sp>
      <p:sp>
        <p:nvSpPr>
          <p:cNvPr id="6" name="Shape 4"/>
          <p:cNvSpPr/>
          <p:nvPr/>
        </p:nvSpPr>
        <p:spPr>
          <a:xfrm>
            <a:off x="9121140" y="5029200"/>
            <a:ext cx="3040380" cy="91440"/>
          </a:xfrm>
          <a:prstGeom prst="rect">
            <a:avLst/>
          </a:prstGeom>
          <a:solidFill>
            <a:srgbClr val="BD57F2"/>
          </a:solidFill>
          <a:ln w="12700">
            <a:solidFill>
              <a:srgbClr val="BD57F2"/>
            </a:solidFill>
            <a:prstDash val="solid"/>
          </a:ln>
        </p:spPr>
      </p:sp>
      <p:sp>
        <p:nvSpPr>
          <p:cNvPr id="7" name="Text 5"/>
          <p:cNvSpPr/>
          <p:nvPr/>
        </p:nvSpPr>
        <p:spPr>
          <a:xfrm>
            <a:off x="640080" y="640080"/>
            <a:ext cx="9144000" cy="274320"/>
          </a:xfrm>
          <a:prstGeom prst="rect">
            <a:avLst/>
          </a:prstGeom>
          <a:noFill/>
          <a:ln/>
        </p:spPr>
        <p:txBody>
          <a:bodyPr wrap="square" lIns="0" tIns="0" rIns="0" bIns="0" rtlCol="0" anchor="ctr"/>
          <a:lstStyle/>
          <a:p>
            <a:pPr indent="0" marL="0">
              <a:buNone/>
            </a:pPr>
            <a:r>
              <a:rPr lang="en-US" sz="1100" b="1" spc="600" kern="0" dirty="0">
                <a:solidFill>
                  <a:srgbClr val="B9C4E0"/>
                </a:solidFill>
                <a:latin typeface="Calibri" pitchFamily="34" charset="0"/>
                <a:ea typeface="Calibri" pitchFamily="34" charset="-122"/>
                <a:cs typeface="Calibri" pitchFamily="34" charset="-120"/>
              </a:rPr>
              <a:t>CONFIDENTIAL  ·  STRATEGY &amp; OPERATING MODEL</a:t>
            </a:r>
            <a:endParaRPr lang="en-US" sz="1100" dirty="0"/>
          </a:p>
        </p:txBody>
      </p:sp>
      <p:sp>
        <p:nvSpPr>
          <p:cNvPr id="8" name="Text 6"/>
          <p:cNvSpPr/>
          <p:nvPr/>
        </p:nvSpPr>
        <p:spPr>
          <a:xfrm>
            <a:off x="640080" y="1188720"/>
            <a:ext cx="10972800" cy="1463040"/>
          </a:xfrm>
          <a:prstGeom prst="rect">
            <a:avLst/>
          </a:prstGeom>
          <a:noFill/>
          <a:ln/>
        </p:spPr>
        <p:txBody>
          <a:bodyPr wrap="square" lIns="0" tIns="0" rIns="0" bIns="0" rtlCol="0" anchor="ctr"/>
          <a:lstStyle/>
          <a:p>
            <a:pPr indent="0" marL="0">
              <a:buNone/>
            </a:pPr>
            <a:r>
              <a:rPr lang="en-US" sz="8800" b="1" dirty="0">
                <a:solidFill>
                  <a:srgbClr val="FAF7F2"/>
                </a:solidFill>
                <a:latin typeface="Georgia" pitchFamily="34" charset="0"/>
                <a:ea typeface="Georgia" pitchFamily="34" charset="-122"/>
                <a:cs typeface="Georgia" pitchFamily="34" charset="-120"/>
              </a:rPr>
              <a:t>Hey Otis</a:t>
            </a:r>
            <a:endParaRPr lang="en-US" sz="8800" dirty="0"/>
          </a:p>
        </p:txBody>
      </p:sp>
      <p:sp>
        <p:nvSpPr>
          <p:cNvPr id="9" name="Text 7"/>
          <p:cNvSpPr/>
          <p:nvPr/>
        </p:nvSpPr>
        <p:spPr>
          <a:xfrm>
            <a:off x="640080" y="2651760"/>
            <a:ext cx="10972800" cy="640080"/>
          </a:xfrm>
          <a:prstGeom prst="rect">
            <a:avLst/>
          </a:prstGeom>
          <a:noFill/>
          <a:ln/>
        </p:spPr>
        <p:txBody>
          <a:bodyPr wrap="square" lIns="0" tIns="0" rIns="0" bIns="0" rtlCol="0" anchor="ctr"/>
          <a:lstStyle/>
          <a:p>
            <a:pPr indent="0" marL="0">
              <a:buNone/>
            </a:pPr>
            <a:r>
              <a:rPr lang="en-US" sz="3000" i="1" dirty="0">
                <a:solidFill>
                  <a:srgbClr val="96D35F"/>
                </a:solidFill>
                <a:latin typeface="Georgia" pitchFamily="34" charset="0"/>
                <a:ea typeface="Georgia" pitchFamily="34" charset="-122"/>
                <a:cs typeface="Georgia" pitchFamily="34" charset="-120"/>
              </a:rPr>
              <a:t>From rupture to repair.</a:t>
            </a:r>
            <a:endParaRPr lang="en-US" sz="3000" dirty="0"/>
          </a:p>
        </p:txBody>
      </p:sp>
      <p:sp>
        <p:nvSpPr>
          <p:cNvPr id="10" name="Text 8"/>
          <p:cNvSpPr/>
          <p:nvPr/>
        </p:nvSpPr>
        <p:spPr>
          <a:xfrm>
            <a:off x="640080" y="3474720"/>
            <a:ext cx="9144000" cy="1097280"/>
          </a:xfrm>
          <a:prstGeom prst="rect">
            <a:avLst/>
          </a:prstGeom>
          <a:noFill/>
          <a:ln/>
        </p:spPr>
        <p:txBody>
          <a:bodyPr wrap="square" lIns="0" tIns="0" rIns="0" bIns="0" rtlCol="0" anchor="ctr"/>
          <a:lstStyle/>
          <a:p>
            <a:pPr indent="0" marL="0">
              <a:buNone/>
            </a:pPr>
            <a:r>
              <a:rPr lang="en-US" sz="1500" dirty="0">
                <a:solidFill>
                  <a:srgbClr val="D4D8E6"/>
                </a:solidFill>
                <a:latin typeface="Calibri" pitchFamily="34" charset="0"/>
                <a:ea typeface="Calibri" pitchFamily="34" charset="-122"/>
                <a:cs typeface="Calibri" pitchFamily="34" charset="-120"/>
              </a:rPr>
              <a:t>A strategic review of positioning, competitive stance, product economics, and operating model for the in-the-moment couples-repair category.</a:t>
            </a:r>
            <a:endParaRPr lang="en-US" sz="1500" dirty="0"/>
          </a:p>
        </p:txBody>
      </p:sp>
      <p:sp>
        <p:nvSpPr>
          <p:cNvPr id="11" name="Text 9"/>
          <p:cNvSpPr/>
          <p:nvPr/>
        </p:nvSpPr>
        <p:spPr>
          <a:xfrm>
            <a:off x="640080" y="5394960"/>
            <a:ext cx="7315200" cy="274320"/>
          </a:xfrm>
          <a:prstGeom prst="rect">
            <a:avLst/>
          </a:prstGeom>
          <a:noFill/>
          <a:ln/>
        </p:spPr>
        <p:txBody>
          <a:bodyPr wrap="square" lIns="0" tIns="0" rIns="0" bIns="0" rtlCol="0" anchor="ctr"/>
          <a:lstStyle/>
          <a:p>
            <a:pPr indent="0" marL="0">
              <a:buNone/>
            </a:pPr>
            <a:r>
              <a:rPr lang="en-US" sz="1200" b="1" dirty="0">
                <a:solidFill>
                  <a:srgbClr val="1F2540"/>
                </a:solidFill>
                <a:latin typeface="Calibri" pitchFamily="34" charset="0"/>
                <a:ea typeface="Calibri" pitchFamily="34" charset="-122"/>
                <a:cs typeface="Calibri" pitchFamily="34" charset="-120"/>
              </a:rPr>
              <a:t>Prepared by Deloitte Digital  ·  Strategy &amp; Analytics</a:t>
            </a:r>
            <a:endParaRPr lang="en-US" sz="1200" dirty="0"/>
          </a:p>
        </p:txBody>
      </p:sp>
      <p:sp>
        <p:nvSpPr>
          <p:cNvPr id="12" name="Text 10"/>
          <p:cNvSpPr/>
          <p:nvPr/>
        </p:nvSpPr>
        <p:spPr>
          <a:xfrm>
            <a:off x="640080" y="5715000"/>
            <a:ext cx="7315200" cy="274320"/>
          </a:xfrm>
          <a:prstGeom prst="rect">
            <a:avLst/>
          </a:prstGeom>
          <a:noFill/>
          <a:ln/>
        </p:spPr>
        <p:txBody>
          <a:bodyPr wrap="square" lIns="0" tIns="0" rIns="0" bIns="0" rtlCol="0" anchor="ctr"/>
          <a:lstStyle/>
          <a:p>
            <a:pPr indent="0" marL="0">
              <a:buNone/>
            </a:pPr>
            <a:r>
              <a:rPr lang="en-US" sz="1100" dirty="0">
                <a:solidFill>
                  <a:srgbClr val="6B6A63"/>
                </a:solidFill>
                <a:latin typeface="Calibri" pitchFamily="34" charset="0"/>
                <a:ea typeface="Calibri" pitchFamily="34" charset="-122"/>
                <a:cs typeface="Calibri" pitchFamily="34" charset="-120"/>
              </a:rPr>
              <a:t>Version 1.0  ·  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1F2540"/>
          </a:solidFill>
          <a:ln w="12700">
            <a:solidFill>
              <a:srgbClr val="1F2540"/>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02</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1F2540"/>
                </a:solidFill>
                <a:latin typeface="Calibri" pitchFamily="34" charset="0"/>
                <a:ea typeface="Calibri" pitchFamily="34" charset="-122"/>
                <a:cs typeface="Calibri" pitchFamily="34" charset="-120"/>
              </a:rPr>
              <a:t>01 · EXECUTIVE SUMMARY</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A defensible wedge in a $15B category that has been structurally under-served.</a:t>
            </a:r>
            <a:endParaRPr lang="en-US" sz="3200" dirty="0"/>
          </a:p>
        </p:txBody>
      </p:sp>
      <p:sp>
        <p:nvSpPr>
          <p:cNvPr id="9" name="Shape 7"/>
          <p:cNvSpPr/>
          <p:nvPr/>
        </p:nvSpPr>
        <p:spPr>
          <a:xfrm>
            <a:off x="548640" y="2103120"/>
            <a:ext cx="685800" cy="685800"/>
          </a:xfrm>
          <a:prstGeom prst="ellipse">
            <a:avLst/>
          </a:prstGeom>
          <a:solidFill>
            <a:srgbClr val="1F2540"/>
          </a:solidFill>
          <a:ln w="12700">
            <a:solidFill>
              <a:srgbClr val="1F2540"/>
            </a:solidFill>
            <a:prstDash val="solid"/>
          </a:ln>
        </p:spPr>
      </p:sp>
      <p:sp>
        <p:nvSpPr>
          <p:cNvPr id="10" name="Text 8"/>
          <p:cNvSpPr/>
          <p:nvPr/>
        </p:nvSpPr>
        <p:spPr>
          <a:xfrm>
            <a:off x="548640" y="2103120"/>
            <a:ext cx="685800" cy="685800"/>
          </a:xfrm>
          <a:prstGeom prst="rect">
            <a:avLst/>
          </a:prstGeom>
          <a:noFill/>
          <a:ln/>
        </p:spPr>
        <p:txBody>
          <a:bodyPr wrap="square" lIns="0" tIns="0" rIns="0" bIns="0" rtlCol="0" anchor="ctr"/>
          <a:lstStyle/>
          <a:p>
            <a:pPr algn="ctr" indent="0" marL="0">
              <a:buNone/>
            </a:pPr>
            <a:r>
              <a:rPr lang="en-US" sz="1300" b="1" dirty="0">
                <a:solidFill>
                  <a:srgbClr val="FAF7F2"/>
                </a:solidFill>
                <a:latin typeface="Georgia" pitchFamily="34" charset="0"/>
                <a:ea typeface="Georgia" pitchFamily="34" charset="-122"/>
                <a:cs typeface="Georgia" pitchFamily="34" charset="-120"/>
              </a:rPr>
              <a:t>01</a:t>
            </a:r>
            <a:endParaRPr lang="en-US" sz="1300" dirty="0"/>
          </a:p>
        </p:txBody>
      </p:sp>
      <p:sp>
        <p:nvSpPr>
          <p:cNvPr id="11" name="Text 9"/>
          <p:cNvSpPr/>
          <p:nvPr/>
        </p:nvSpPr>
        <p:spPr>
          <a:xfrm>
            <a:off x="1463040" y="2103120"/>
            <a:ext cx="10241280" cy="320040"/>
          </a:xfrm>
          <a:prstGeom prst="rect">
            <a:avLst/>
          </a:prstGeom>
          <a:noFill/>
          <a:ln/>
        </p:spPr>
        <p:txBody>
          <a:bodyPr wrap="square" lIns="0" tIns="0" rIns="0" bIns="0" rtlCol="0" anchor="ctr"/>
          <a:lstStyle/>
          <a:p>
            <a:pPr indent="0" marL="0">
              <a:buNone/>
            </a:pPr>
            <a:r>
              <a:rPr lang="en-US" sz="1600" b="1" dirty="0">
                <a:solidFill>
                  <a:srgbClr val="1F2540"/>
                </a:solidFill>
                <a:latin typeface="Georgia" pitchFamily="34" charset="0"/>
                <a:ea typeface="Georgia" pitchFamily="34" charset="-122"/>
                <a:cs typeface="Georgia" pitchFamily="34" charset="-120"/>
              </a:rPr>
              <a:t>The gap</a:t>
            </a:r>
            <a:endParaRPr lang="en-US" sz="1600" dirty="0"/>
          </a:p>
        </p:txBody>
      </p:sp>
      <p:sp>
        <p:nvSpPr>
          <p:cNvPr id="12" name="Text 10"/>
          <p:cNvSpPr/>
          <p:nvPr/>
        </p:nvSpPr>
        <p:spPr>
          <a:xfrm>
            <a:off x="1463040" y="2468880"/>
            <a:ext cx="10241280" cy="594360"/>
          </a:xfrm>
          <a:prstGeom prst="rect">
            <a:avLst/>
          </a:prstGeom>
          <a:noFill/>
          <a:ln/>
        </p:spPr>
        <p:txBody>
          <a:bodyPr wrap="square" lIns="0" tIns="0" rIns="0" bIns="0" rtlCol="0" anchor="ctr"/>
          <a:lstStyle/>
          <a:p>
            <a:pPr indent="0" marL="0">
              <a:buNone/>
            </a:pPr>
            <a:r>
              <a:rPr lang="en-US" sz="1200" dirty="0">
                <a:solidFill>
                  <a:srgbClr val="2A2D34"/>
                </a:solidFill>
                <a:latin typeface="Calibri" pitchFamily="34" charset="0"/>
                <a:ea typeface="Calibri" pitchFamily="34" charset="-122"/>
                <a:cs typeface="Calibri" pitchFamily="34" charset="-120"/>
              </a:rPr>
              <a:t>Couples-therapy is scheduled, scarce, and stigmatised; relationship apps (Paired, Lasting) sell daily prompts, not in-the-moment repair.</a:t>
            </a:r>
            <a:endParaRPr lang="en-US" sz="1200" dirty="0"/>
          </a:p>
        </p:txBody>
      </p:sp>
      <p:sp>
        <p:nvSpPr>
          <p:cNvPr id="13" name="Shape 11"/>
          <p:cNvSpPr/>
          <p:nvPr/>
        </p:nvSpPr>
        <p:spPr>
          <a:xfrm>
            <a:off x="548640" y="3182112"/>
            <a:ext cx="685800" cy="685800"/>
          </a:xfrm>
          <a:prstGeom prst="ellipse">
            <a:avLst/>
          </a:prstGeom>
          <a:solidFill>
            <a:srgbClr val="1F2540"/>
          </a:solidFill>
          <a:ln w="12700">
            <a:solidFill>
              <a:srgbClr val="1F2540"/>
            </a:solidFill>
            <a:prstDash val="solid"/>
          </a:ln>
        </p:spPr>
      </p:sp>
      <p:sp>
        <p:nvSpPr>
          <p:cNvPr id="14" name="Text 12"/>
          <p:cNvSpPr/>
          <p:nvPr/>
        </p:nvSpPr>
        <p:spPr>
          <a:xfrm>
            <a:off x="548640" y="3182112"/>
            <a:ext cx="685800" cy="685800"/>
          </a:xfrm>
          <a:prstGeom prst="rect">
            <a:avLst/>
          </a:prstGeom>
          <a:noFill/>
          <a:ln/>
        </p:spPr>
        <p:txBody>
          <a:bodyPr wrap="square" lIns="0" tIns="0" rIns="0" bIns="0" rtlCol="0" anchor="ctr"/>
          <a:lstStyle/>
          <a:p>
            <a:pPr algn="ctr" indent="0" marL="0">
              <a:buNone/>
            </a:pPr>
            <a:r>
              <a:rPr lang="en-US" sz="1300" b="1" dirty="0">
                <a:solidFill>
                  <a:srgbClr val="FAF7F2"/>
                </a:solidFill>
                <a:latin typeface="Georgia" pitchFamily="34" charset="0"/>
                <a:ea typeface="Georgia" pitchFamily="34" charset="-122"/>
                <a:cs typeface="Georgia" pitchFamily="34" charset="-120"/>
              </a:rPr>
              <a:t>02</a:t>
            </a:r>
            <a:endParaRPr lang="en-US" sz="1300" dirty="0"/>
          </a:p>
        </p:txBody>
      </p:sp>
      <p:sp>
        <p:nvSpPr>
          <p:cNvPr id="15" name="Text 13"/>
          <p:cNvSpPr/>
          <p:nvPr/>
        </p:nvSpPr>
        <p:spPr>
          <a:xfrm>
            <a:off x="1463040" y="3182112"/>
            <a:ext cx="10241280" cy="320040"/>
          </a:xfrm>
          <a:prstGeom prst="rect">
            <a:avLst/>
          </a:prstGeom>
          <a:noFill/>
          <a:ln/>
        </p:spPr>
        <p:txBody>
          <a:bodyPr wrap="square" lIns="0" tIns="0" rIns="0" bIns="0" rtlCol="0" anchor="ctr"/>
          <a:lstStyle/>
          <a:p>
            <a:pPr indent="0" marL="0">
              <a:buNone/>
            </a:pPr>
            <a:r>
              <a:rPr lang="en-US" sz="1600" b="1" dirty="0">
                <a:solidFill>
                  <a:srgbClr val="1F2540"/>
                </a:solidFill>
                <a:latin typeface="Georgia" pitchFamily="34" charset="0"/>
                <a:ea typeface="Georgia" pitchFamily="34" charset="-122"/>
                <a:cs typeface="Georgia" pitchFamily="34" charset="-120"/>
              </a:rPr>
              <a:t>The wedge</a:t>
            </a:r>
            <a:endParaRPr lang="en-US" sz="1600" dirty="0"/>
          </a:p>
        </p:txBody>
      </p:sp>
      <p:sp>
        <p:nvSpPr>
          <p:cNvPr id="16" name="Text 14"/>
          <p:cNvSpPr/>
          <p:nvPr/>
        </p:nvSpPr>
        <p:spPr>
          <a:xfrm>
            <a:off x="1463040" y="3547872"/>
            <a:ext cx="10241280" cy="594360"/>
          </a:xfrm>
          <a:prstGeom prst="rect">
            <a:avLst/>
          </a:prstGeom>
          <a:noFill/>
          <a:ln/>
        </p:spPr>
        <p:txBody>
          <a:bodyPr wrap="square" lIns="0" tIns="0" rIns="0" bIns="0" rtlCol="0" anchor="ctr"/>
          <a:lstStyle/>
          <a:p>
            <a:pPr indent="0" marL="0">
              <a:buNone/>
            </a:pPr>
            <a:r>
              <a:rPr lang="en-US" sz="1200" dirty="0">
                <a:solidFill>
                  <a:srgbClr val="2A2D34"/>
                </a:solidFill>
                <a:latin typeface="Calibri" pitchFamily="34" charset="0"/>
                <a:ea typeface="Calibri" pitchFamily="34" charset="-122"/>
                <a:cs typeface="Calibri" pitchFamily="34" charset="-120"/>
              </a:rPr>
              <a:t>Private, AI-guided, four-step repair flow (Vent → Understand → Prepare → Nurture) — personalised to both partners' attachment, love, and conflict patterns.</a:t>
            </a:r>
            <a:endParaRPr lang="en-US" sz="1200" dirty="0"/>
          </a:p>
        </p:txBody>
      </p:sp>
      <p:sp>
        <p:nvSpPr>
          <p:cNvPr id="17" name="Shape 15"/>
          <p:cNvSpPr/>
          <p:nvPr/>
        </p:nvSpPr>
        <p:spPr>
          <a:xfrm>
            <a:off x="548640" y="4261104"/>
            <a:ext cx="685800" cy="685800"/>
          </a:xfrm>
          <a:prstGeom prst="ellipse">
            <a:avLst/>
          </a:prstGeom>
          <a:solidFill>
            <a:srgbClr val="1F2540"/>
          </a:solidFill>
          <a:ln w="12700">
            <a:solidFill>
              <a:srgbClr val="1F2540"/>
            </a:solidFill>
            <a:prstDash val="solid"/>
          </a:ln>
        </p:spPr>
      </p:sp>
      <p:sp>
        <p:nvSpPr>
          <p:cNvPr id="18" name="Text 16"/>
          <p:cNvSpPr/>
          <p:nvPr/>
        </p:nvSpPr>
        <p:spPr>
          <a:xfrm>
            <a:off x="548640" y="4261104"/>
            <a:ext cx="685800" cy="685800"/>
          </a:xfrm>
          <a:prstGeom prst="rect">
            <a:avLst/>
          </a:prstGeom>
          <a:noFill/>
          <a:ln/>
        </p:spPr>
        <p:txBody>
          <a:bodyPr wrap="square" lIns="0" tIns="0" rIns="0" bIns="0" rtlCol="0" anchor="ctr"/>
          <a:lstStyle/>
          <a:p>
            <a:pPr algn="ctr" indent="0" marL="0">
              <a:buNone/>
            </a:pPr>
            <a:r>
              <a:rPr lang="en-US" sz="1300" b="1" dirty="0">
                <a:solidFill>
                  <a:srgbClr val="FAF7F2"/>
                </a:solidFill>
                <a:latin typeface="Georgia" pitchFamily="34" charset="0"/>
                <a:ea typeface="Georgia" pitchFamily="34" charset="-122"/>
                <a:cs typeface="Georgia" pitchFamily="34" charset="-120"/>
              </a:rPr>
              <a:t>03</a:t>
            </a:r>
            <a:endParaRPr lang="en-US" sz="1300" dirty="0"/>
          </a:p>
        </p:txBody>
      </p:sp>
      <p:sp>
        <p:nvSpPr>
          <p:cNvPr id="19" name="Text 17"/>
          <p:cNvSpPr/>
          <p:nvPr/>
        </p:nvSpPr>
        <p:spPr>
          <a:xfrm>
            <a:off x="1463040" y="4261104"/>
            <a:ext cx="10241280" cy="320040"/>
          </a:xfrm>
          <a:prstGeom prst="rect">
            <a:avLst/>
          </a:prstGeom>
          <a:noFill/>
          <a:ln/>
        </p:spPr>
        <p:txBody>
          <a:bodyPr wrap="square" lIns="0" tIns="0" rIns="0" bIns="0" rtlCol="0" anchor="ctr"/>
          <a:lstStyle/>
          <a:p>
            <a:pPr indent="0" marL="0">
              <a:buNone/>
            </a:pPr>
            <a:r>
              <a:rPr lang="en-US" sz="1600" b="1" dirty="0">
                <a:solidFill>
                  <a:srgbClr val="1F2540"/>
                </a:solidFill>
                <a:latin typeface="Georgia" pitchFamily="34" charset="0"/>
                <a:ea typeface="Georgia" pitchFamily="34" charset="-122"/>
                <a:cs typeface="Georgia" pitchFamily="34" charset="-120"/>
              </a:rPr>
              <a:t>The moat</a:t>
            </a:r>
            <a:endParaRPr lang="en-US" sz="1600" dirty="0"/>
          </a:p>
        </p:txBody>
      </p:sp>
      <p:sp>
        <p:nvSpPr>
          <p:cNvPr id="20" name="Text 18"/>
          <p:cNvSpPr/>
          <p:nvPr/>
        </p:nvSpPr>
        <p:spPr>
          <a:xfrm>
            <a:off x="1463040" y="4626864"/>
            <a:ext cx="10241280" cy="594360"/>
          </a:xfrm>
          <a:prstGeom prst="rect">
            <a:avLst/>
          </a:prstGeom>
          <a:noFill/>
          <a:ln/>
        </p:spPr>
        <p:txBody>
          <a:bodyPr wrap="square" lIns="0" tIns="0" rIns="0" bIns="0" rtlCol="0" anchor="ctr"/>
          <a:lstStyle/>
          <a:p>
            <a:pPr indent="0" marL="0">
              <a:buNone/>
            </a:pPr>
            <a:r>
              <a:rPr lang="en-US" sz="1200" dirty="0">
                <a:solidFill>
                  <a:srgbClr val="2A2D34"/>
                </a:solidFill>
                <a:latin typeface="Calibri" pitchFamily="34" charset="0"/>
                <a:ea typeface="Calibri" pitchFamily="34" charset="-122"/>
                <a:cs typeface="Calibri" pitchFamily="34" charset="-120"/>
              </a:rPr>
              <a:t>Proprietary personalisation layer (5 assessments × 2 partners), a fused evidence base (Gottman, EFT, NVC, IFS, CBCT), and a privacy-first vent no shared-journal competitor can replicate.</a:t>
            </a:r>
            <a:endParaRPr lang="en-US" sz="1200" dirty="0"/>
          </a:p>
        </p:txBody>
      </p:sp>
      <p:sp>
        <p:nvSpPr>
          <p:cNvPr id="21" name="Shape 19"/>
          <p:cNvSpPr/>
          <p:nvPr/>
        </p:nvSpPr>
        <p:spPr>
          <a:xfrm>
            <a:off x="548640" y="5340096"/>
            <a:ext cx="685800" cy="685800"/>
          </a:xfrm>
          <a:prstGeom prst="ellipse">
            <a:avLst/>
          </a:prstGeom>
          <a:solidFill>
            <a:srgbClr val="1F2540"/>
          </a:solidFill>
          <a:ln w="12700">
            <a:solidFill>
              <a:srgbClr val="1F2540"/>
            </a:solidFill>
            <a:prstDash val="solid"/>
          </a:ln>
        </p:spPr>
      </p:sp>
      <p:sp>
        <p:nvSpPr>
          <p:cNvPr id="22" name="Text 20"/>
          <p:cNvSpPr/>
          <p:nvPr/>
        </p:nvSpPr>
        <p:spPr>
          <a:xfrm>
            <a:off x="548640" y="5340096"/>
            <a:ext cx="685800" cy="685800"/>
          </a:xfrm>
          <a:prstGeom prst="rect">
            <a:avLst/>
          </a:prstGeom>
          <a:noFill/>
          <a:ln/>
        </p:spPr>
        <p:txBody>
          <a:bodyPr wrap="square" lIns="0" tIns="0" rIns="0" bIns="0" rtlCol="0" anchor="ctr"/>
          <a:lstStyle/>
          <a:p>
            <a:pPr algn="ctr" indent="0" marL="0">
              <a:buNone/>
            </a:pPr>
            <a:r>
              <a:rPr lang="en-US" sz="1300" b="1" dirty="0">
                <a:solidFill>
                  <a:srgbClr val="FAF7F2"/>
                </a:solidFill>
                <a:latin typeface="Georgia" pitchFamily="34" charset="0"/>
                <a:ea typeface="Georgia" pitchFamily="34" charset="-122"/>
                <a:cs typeface="Georgia" pitchFamily="34" charset="-120"/>
              </a:rPr>
              <a:t>04</a:t>
            </a:r>
            <a:endParaRPr lang="en-US" sz="1300" dirty="0"/>
          </a:p>
        </p:txBody>
      </p:sp>
      <p:sp>
        <p:nvSpPr>
          <p:cNvPr id="23" name="Text 21"/>
          <p:cNvSpPr/>
          <p:nvPr/>
        </p:nvSpPr>
        <p:spPr>
          <a:xfrm>
            <a:off x="1463040" y="5340096"/>
            <a:ext cx="10241280" cy="320040"/>
          </a:xfrm>
          <a:prstGeom prst="rect">
            <a:avLst/>
          </a:prstGeom>
          <a:noFill/>
          <a:ln/>
        </p:spPr>
        <p:txBody>
          <a:bodyPr wrap="square" lIns="0" tIns="0" rIns="0" bIns="0" rtlCol="0" anchor="ctr"/>
          <a:lstStyle/>
          <a:p>
            <a:pPr indent="0" marL="0">
              <a:buNone/>
            </a:pPr>
            <a:r>
              <a:rPr lang="en-US" sz="1600" b="1" dirty="0">
                <a:solidFill>
                  <a:srgbClr val="1F2540"/>
                </a:solidFill>
                <a:latin typeface="Georgia" pitchFamily="34" charset="0"/>
                <a:ea typeface="Georgia" pitchFamily="34" charset="-122"/>
                <a:cs typeface="Georgia" pitchFamily="34" charset="-120"/>
              </a:rPr>
              <a:t>The economics</a:t>
            </a:r>
            <a:endParaRPr lang="en-US" sz="1600" dirty="0"/>
          </a:p>
        </p:txBody>
      </p:sp>
      <p:sp>
        <p:nvSpPr>
          <p:cNvPr id="24" name="Text 22"/>
          <p:cNvSpPr/>
          <p:nvPr/>
        </p:nvSpPr>
        <p:spPr>
          <a:xfrm>
            <a:off x="1463040" y="5705856"/>
            <a:ext cx="10241280" cy="594360"/>
          </a:xfrm>
          <a:prstGeom prst="rect">
            <a:avLst/>
          </a:prstGeom>
          <a:noFill/>
          <a:ln/>
        </p:spPr>
        <p:txBody>
          <a:bodyPr wrap="square" lIns="0" tIns="0" rIns="0" bIns="0" rtlCol="0" anchor="ctr"/>
          <a:lstStyle/>
          <a:p>
            <a:pPr indent="0" marL="0">
              <a:buNone/>
            </a:pPr>
            <a:r>
              <a:rPr lang="en-US" sz="1200" dirty="0">
                <a:solidFill>
                  <a:srgbClr val="2A2D34"/>
                </a:solidFill>
                <a:latin typeface="Calibri" pitchFamily="34" charset="0"/>
                <a:ea typeface="Calibri" pitchFamily="34" charset="-122"/>
                <a:cs typeface="Calibri" pitchFamily="34" charset="-120"/>
              </a:rPr>
              <a:t>Gross margin 78–86% at scale; AI COGS $0.08–$0.22 per active user-month; consumer LTV/CAC projected 3.8–5.1× at a $9.99 monthly price point.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F67700"/>
          </a:solidFill>
          <a:ln w="12700">
            <a:solidFill>
              <a:srgbClr val="F67700"/>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03</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F67700"/>
                </a:solidFill>
                <a:latin typeface="Calibri" pitchFamily="34" charset="0"/>
                <a:ea typeface="Calibri" pitchFamily="34" charset="-122"/>
                <a:cs typeface="Calibri" pitchFamily="34" charset="-120"/>
              </a:rPr>
              <a:t>02 · MARKET PROBLEM</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Every couple fights. The ones that last repair. Today, no tool meets them at the repair.</a:t>
            </a:r>
            <a:endParaRPr lang="en-US" sz="3200" dirty="0"/>
          </a:p>
        </p:txBody>
      </p:sp>
      <p:sp>
        <p:nvSpPr>
          <p:cNvPr id="9" name="Shape 7"/>
          <p:cNvSpPr/>
          <p:nvPr/>
        </p:nvSpPr>
        <p:spPr>
          <a:xfrm>
            <a:off x="548640" y="2103120"/>
            <a:ext cx="4754880" cy="914400"/>
          </a:xfrm>
          <a:prstGeom prst="rect">
            <a:avLst/>
          </a:prstGeom>
          <a:solidFill>
            <a:srgbClr val="FFFFFF"/>
          </a:solidFill>
          <a:ln w="12700">
            <a:solidFill>
              <a:srgbClr val="E5E0D5"/>
            </a:solidFill>
            <a:prstDash val="solid"/>
          </a:ln>
        </p:spPr>
      </p:sp>
      <p:sp>
        <p:nvSpPr>
          <p:cNvPr id="10" name="Shape 8"/>
          <p:cNvSpPr/>
          <p:nvPr/>
        </p:nvSpPr>
        <p:spPr>
          <a:xfrm>
            <a:off x="548640" y="2103120"/>
            <a:ext cx="73152" cy="914400"/>
          </a:xfrm>
          <a:prstGeom prst="rect">
            <a:avLst/>
          </a:prstGeom>
          <a:solidFill>
            <a:srgbClr val="F67700"/>
          </a:solidFill>
          <a:ln w="12700">
            <a:solidFill>
              <a:srgbClr val="F67700"/>
            </a:solidFill>
            <a:prstDash val="solid"/>
          </a:ln>
        </p:spPr>
      </p:sp>
      <p:sp>
        <p:nvSpPr>
          <p:cNvPr id="11" name="Text 9"/>
          <p:cNvSpPr/>
          <p:nvPr/>
        </p:nvSpPr>
        <p:spPr>
          <a:xfrm>
            <a:off x="731520" y="2194560"/>
            <a:ext cx="1554480" cy="731520"/>
          </a:xfrm>
          <a:prstGeom prst="rect">
            <a:avLst/>
          </a:prstGeom>
          <a:noFill/>
          <a:ln/>
        </p:spPr>
        <p:txBody>
          <a:bodyPr wrap="square" lIns="0" tIns="0" rIns="0" bIns="0" rtlCol="0" anchor="ctr"/>
          <a:lstStyle/>
          <a:p>
            <a:pPr indent="0" marL="0">
              <a:buNone/>
            </a:pPr>
            <a:r>
              <a:rPr lang="en-US" sz="3400" b="1" dirty="0">
                <a:solidFill>
                  <a:srgbClr val="1F2540"/>
                </a:solidFill>
                <a:latin typeface="Georgia" pitchFamily="34" charset="0"/>
                <a:ea typeface="Georgia" pitchFamily="34" charset="-122"/>
                <a:cs typeface="Georgia" pitchFamily="34" charset="-120"/>
              </a:rPr>
              <a:t>69%</a:t>
            </a:r>
            <a:endParaRPr lang="en-US" sz="3400" dirty="0"/>
          </a:p>
        </p:txBody>
      </p:sp>
      <p:sp>
        <p:nvSpPr>
          <p:cNvPr id="12" name="Text 10"/>
          <p:cNvSpPr/>
          <p:nvPr/>
        </p:nvSpPr>
        <p:spPr>
          <a:xfrm>
            <a:off x="2331720" y="2240280"/>
            <a:ext cx="288036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of couple conflicts are perpetual, not resolvable — Gottman Institute.</a:t>
            </a:r>
            <a:endParaRPr lang="en-US" sz="1100" dirty="0"/>
          </a:p>
        </p:txBody>
      </p:sp>
      <p:sp>
        <p:nvSpPr>
          <p:cNvPr id="13" name="Shape 11"/>
          <p:cNvSpPr/>
          <p:nvPr/>
        </p:nvSpPr>
        <p:spPr>
          <a:xfrm>
            <a:off x="548640" y="3154680"/>
            <a:ext cx="4754880" cy="914400"/>
          </a:xfrm>
          <a:prstGeom prst="rect">
            <a:avLst/>
          </a:prstGeom>
          <a:solidFill>
            <a:srgbClr val="FFFFFF"/>
          </a:solidFill>
          <a:ln w="12700">
            <a:solidFill>
              <a:srgbClr val="E5E0D5"/>
            </a:solidFill>
            <a:prstDash val="solid"/>
          </a:ln>
        </p:spPr>
      </p:sp>
      <p:sp>
        <p:nvSpPr>
          <p:cNvPr id="14" name="Shape 12"/>
          <p:cNvSpPr/>
          <p:nvPr/>
        </p:nvSpPr>
        <p:spPr>
          <a:xfrm>
            <a:off x="548640" y="3154680"/>
            <a:ext cx="73152" cy="914400"/>
          </a:xfrm>
          <a:prstGeom prst="rect">
            <a:avLst/>
          </a:prstGeom>
          <a:solidFill>
            <a:srgbClr val="F67700"/>
          </a:solidFill>
          <a:ln w="12700">
            <a:solidFill>
              <a:srgbClr val="F67700"/>
            </a:solidFill>
            <a:prstDash val="solid"/>
          </a:ln>
        </p:spPr>
      </p:sp>
      <p:sp>
        <p:nvSpPr>
          <p:cNvPr id="15" name="Text 13"/>
          <p:cNvSpPr/>
          <p:nvPr/>
        </p:nvSpPr>
        <p:spPr>
          <a:xfrm>
            <a:off x="731520" y="3246120"/>
            <a:ext cx="1554480" cy="731520"/>
          </a:xfrm>
          <a:prstGeom prst="rect">
            <a:avLst/>
          </a:prstGeom>
          <a:noFill/>
          <a:ln/>
        </p:spPr>
        <p:txBody>
          <a:bodyPr wrap="square" lIns="0" tIns="0" rIns="0" bIns="0" rtlCol="0" anchor="ctr"/>
          <a:lstStyle/>
          <a:p>
            <a:pPr indent="0" marL="0">
              <a:buNone/>
            </a:pPr>
            <a:r>
              <a:rPr lang="en-US" sz="3400" b="1" dirty="0">
                <a:solidFill>
                  <a:srgbClr val="1F2540"/>
                </a:solidFill>
                <a:latin typeface="Georgia" pitchFamily="34" charset="0"/>
                <a:ea typeface="Georgia" pitchFamily="34" charset="-122"/>
                <a:cs typeface="Georgia" pitchFamily="34" charset="-120"/>
              </a:rPr>
              <a:t>$200+</a:t>
            </a:r>
            <a:endParaRPr lang="en-US" sz="3400" dirty="0"/>
          </a:p>
        </p:txBody>
      </p:sp>
      <p:sp>
        <p:nvSpPr>
          <p:cNvPr id="16" name="Text 14"/>
          <p:cNvSpPr/>
          <p:nvPr/>
        </p:nvSpPr>
        <p:spPr>
          <a:xfrm>
            <a:off x="2331720" y="3291840"/>
            <a:ext cx="288036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average per-session cost of US couples therapy, with 3–6 week wait lists.</a:t>
            </a:r>
            <a:endParaRPr lang="en-US" sz="1100" dirty="0"/>
          </a:p>
        </p:txBody>
      </p:sp>
      <p:sp>
        <p:nvSpPr>
          <p:cNvPr id="17" name="Shape 15"/>
          <p:cNvSpPr/>
          <p:nvPr/>
        </p:nvSpPr>
        <p:spPr>
          <a:xfrm>
            <a:off x="548640" y="4206240"/>
            <a:ext cx="4754880" cy="914400"/>
          </a:xfrm>
          <a:prstGeom prst="rect">
            <a:avLst/>
          </a:prstGeom>
          <a:solidFill>
            <a:srgbClr val="FFFFFF"/>
          </a:solidFill>
          <a:ln w="12700">
            <a:solidFill>
              <a:srgbClr val="E5E0D5"/>
            </a:solidFill>
            <a:prstDash val="solid"/>
          </a:ln>
        </p:spPr>
      </p:sp>
      <p:sp>
        <p:nvSpPr>
          <p:cNvPr id="18" name="Shape 16"/>
          <p:cNvSpPr/>
          <p:nvPr/>
        </p:nvSpPr>
        <p:spPr>
          <a:xfrm>
            <a:off x="548640" y="4206240"/>
            <a:ext cx="73152" cy="914400"/>
          </a:xfrm>
          <a:prstGeom prst="rect">
            <a:avLst/>
          </a:prstGeom>
          <a:solidFill>
            <a:srgbClr val="F67700"/>
          </a:solidFill>
          <a:ln w="12700">
            <a:solidFill>
              <a:srgbClr val="F67700"/>
            </a:solidFill>
            <a:prstDash val="solid"/>
          </a:ln>
        </p:spPr>
      </p:sp>
      <p:sp>
        <p:nvSpPr>
          <p:cNvPr id="19" name="Text 17"/>
          <p:cNvSpPr/>
          <p:nvPr/>
        </p:nvSpPr>
        <p:spPr>
          <a:xfrm>
            <a:off x="731520" y="4297680"/>
            <a:ext cx="1554480" cy="731520"/>
          </a:xfrm>
          <a:prstGeom prst="rect">
            <a:avLst/>
          </a:prstGeom>
          <a:noFill/>
          <a:ln/>
        </p:spPr>
        <p:txBody>
          <a:bodyPr wrap="square" lIns="0" tIns="0" rIns="0" bIns="0" rtlCol="0" anchor="ctr"/>
          <a:lstStyle/>
          <a:p>
            <a:pPr indent="0" marL="0">
              <a:buNone/>
            </a:pPr>
            <a:r>
              <a:rPr lang="en-US" sz="3400" b="1" dirty="0">
                <a:solidFill>
                  <a:srgbClr val="1F2540"/>
                </a:solidFill>
                <a:latin typeface="Georgia" pitchFamily="34" charset="0"/>
                <a:ea typeface="Georgia" pitchFamily="34" charset="-122"/>
                <a:cs typeface="Georgia" pitchFamily="34" charset="-120"/>
              </a:rPr>
              <a:t>51%</a:t>
            </a:r>
            <a:endParaRPr lang="en-US" sz="3400" dirty="0"/>
          </a:p>
        </p:txBody>
      </p:sp>
      <p:sp>
        <p:nvSpPr>
          <p:cNvPr id="20" name="Text 18"/>
          <p:cNvSpPr/>
          <p:nvPr/>
        </p:nvSpPr>
        <p:spPr>
          <a:xfrm>
            <a:off x="2331720" y="4343400"/>
            <a:ext cx="288036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of couples report unresolved fights are the primary driver of distance, not big events.</a:t>
            </a:r>
            <a:endParaRPr lang="en-US" sz="1100" dirty="0"/>
          </a:p>
        </p:txBody>
      </p:sp>
      <p:sp>
        <p:nvSpPr>
          <p:cNvPr id="21" name="Shape 19"/>
          <p:cNvSpPr/>
          <p:nvPr/>
        </p:nvSpPr>
        <p:spPr>
          <a:xfrm>
            <a:off x="548640" y="5257800"/>
            <a:ext cx="4754880" cy="914400"/>
          </a:xfrm>
          <a:prstGeom prst="rect">
            <a:avLst/>
          </a:prstGeom>
          <a:solidFill>
            <a:srgbClr val="FFFFFF"/>
          </a:solidFill>
          <a:ln w="12700">
            <a:solidFill>
              <a:srgbClr val="E5E0D5"/>
            </a:solidFill>
            <a:prstDash val="solid"/>
          </a:ln>
        </p:spPr>
      </p:sp>
      <p:sp>
        <p:nvSpPr>
          <p:cNvPr id="22" name="Shape 20"/>
          <p:cNvSpPr/>
          <p:nvPr/>
        </p:nvSpPr>
        <p:spPr>
          <a:xfrm>
            <a:off x="548640" y="5257800"/>
            <a:ext cx="73152" cy="914400"/>
          </a:xfrm>
          <a:prstGeom prst="rect">
            <a:avLst/>
          </a:prstGeom>
          <a:solidFill>
            <a:srgbClr val="F67700"/>
          </a:solidFill>
          <a:ln w="12700">
            <a:solidFill>
              <a:srgbClr val="F67700"/>
            </a:solidFill>
            <a:prstDash val="solid"/>
          </a:ln>
        </p:spPr>
      </p:sp>
      <p:sp>
        <p:nvSpPr>
          <p:cNvPr id="23" name="Text 21"/>
          <p:cNvSpPr/>
          <p:nvPr/>
        </p:nvSpPr>
        <p:spPr>
          <a:xfrm>
            <a:off x="731520" y="5349240"/>
            <a:ext cx="1554480" cy="731520"/>
          </a:xfrm>
          <a:prstGeom prst="rect">
            <a:avLst/>
          </a:prstGeom>
          <a:noFill/>
          <a:ln/>
        </p:spPr>
        <p:txBody>
          <a:bodyPr wrap="square" lIns="0" tIns="0" rIns="0" bIns="0" rtlCol="0" anchor="ctr"/>
          <a:lstStyle/>
          <a:p>
            <a:pPr indent="0" marL="0">
              <a:buNone/>
            </a:pPr>
            <a:r>
              <a:rPr lang="en-US" sz="3400" b="1" dirty="0">
                <a:solidFill>
                  <a:srgbClr val="1F2540"/>
                </a:solidFill>
                <a:latin typeface="Georgia" pitchFamily="34" charset="0"/>
                <a:ea typeface="Georgia" pitchFamily="34" charset="-122"/>
                <a:cs typeface="Georgia" pitchFamily="34" charset="-120"/>
              </a:rPr>
              <a:t>11pm</a:t>
            </a:r>
            <a:endParaRPr lang="en-US" sz="3400" dirty="0"/>
          </a:p>
        </p:txBody>
      </p:sp>
      <p:sp>
        <p:nvSpPr>
          <p:cNvPr id="24" name="Text 22"/>
          <p:cNvSpPr/>
          <p:nvPr/>
        </p:nvSpPr>
        <p:spPr>
          <a:xfrm>
            <a:off x="2331720" y="5394960"/>
            <a:ext cx="288036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the hour couples most need repair — and when no therapist is reachable.</a:t>
            </a:r>
            <a:endParaRPr lang="en-US" sz="1100" dirty="0"/>
          </a:p>
        </p:txBody>
      </p:sp>
      <p:sp>
        <p:nvSpPr>
          <p:cNvPr id="25" name="Shape 23"/>
          <p:cNvSpPr/>
          <p:nvPr/>
        </p:nvSpPr>
        <p:spPr>
          <a:xfrm>
            <a:off x="5760720" y="2103120"/>
            <a:ext cx="5943600" cy="4206240"/>
          </a:xfrm>
          <a:prstGeom prst="rect">
            <a:avLst/>
          </a:prstGeom>
          <a:solidFill>
            <a:srgbClr val="1F2540"/>
          </a:solidFill>
          <a:ln w="12700">
            <a:solidFill>
              <a:srgbClr val="1F2540"/>
            </a:solidFill>
            <a:prstDash val="solid"/>
          </a:ln>
        </p:spPr>
      </p:sp>
      <p:sp>
        <p:nvSpPr>
          <p:cNvPr id="26" name="Text 24"/>
          <p:cNvSpPr/>
          <p:nvPr/>
        </p:nvSpPr>
        <p:spPr>
          <a:xfrm>
            <a:off x="6126480" y="2286000"/>
            <a:ext cx="5486400" cy="274320"/>
          </a:xfrm>
          <a:prstGeom prst="rect">
            <a:avLst/>
          </a:prstGeom>
          <a:noFill/>
          <a:ln/>
        </p:spPr>
        <p:txBody>
          <a:bodyPr wrap="square" lIns="0" tIns="0" rIns="0" bIns="0" rtlCol="0" anchor="ctr"/>
          <a:lstStyle/>
          <a:p>
            <a:pPr indent="0" marL="0">
              <a:buNone/>
            </a:pPr>
            <a:r>
              <a:rPr lang="en-US" sz="1100" b="1" spc="500" kern="0" dirty="0">
                <a:solidFill>
                  <a:srgbClr val="F67700"/>
                </a:solidFill>
                <a:latin typeface="Calibri" pitchFamily="34" charset="0"/>
                <a:ea typeface="Calibri" pitchFamily="34" charset="-122"/>
                <a:cs typeface="Calibri" pitchFamily="34" charset="-120"/>
              </a:rPr>
              <a:t>THE REPAIR GAP</a:t>
            </a:r>
            <a:endParaRPr lang="en-US" sz="1100" dirty="0"/>
          </a:p>
        </p:txBody>
      </p:sp>
      <p:sp>
        <p:nvSpPr>
          <p:cNvPr id="27" name="Text 25"/>
          <p:cNvSpPr/>
          <p:nvPr/>
        </p:nvSpPr>
        <p:spPr>
          <a:xfrm>
            <a:off x="6126480" y="2651760"/>
            <a:ext cx="5486400" cy="640080"/>
          </a:xfrm>
          <a:prstGeom prst="rect">
            <a:avLst/>
          </a:prstGeom>
          <a:noFill/>
          <a:ln/>
        </p:spPr>
        <p:txBody>
          <a:bodyPr wrap="square" lIns="0" tIns="0" rIns="0" bIns="0" rtlCol="0" anchor="ctr"/>
          <a:lstStyle/>
          <a:p>
            <a:pPr indent="0" marL="0">
              <a:buNone/>
            </a:pPr>
            <a:r>
              <a:rPr lang="en-US" sz="1600" i="1" dirty="0">
                <a:solidFill>
                  <a:srgbClr val="FAF7F2"/>
                </a:solidFill>
                <a:latin typeface="Georgia" pitchFamily="34" charset="0"/>
                <a:ea typeface="Georgia" pitchFamily="34" charset="-122"/>
                <a:cs typeface="Georgia" pitchFamily="34" charset="-120"/>
              </a:rPr>
              <a:t>Existing tools don't meet couples where the need actually is:</a:t>
            </a:r>
            <a:endParaRPr lang="en-US" sz="1600" dirty="0"/>
          </a:p>
        </p:txBody>
      </p:sp>
      <p:sp>
        <p:nvSpPr>
          <p:cNvPr id="28" name="Text 26"/>
          <p:cNvSpPr/>
          <p:nvPr/>
        </p:nvSpPr>
        <p:spPr>
          <a:xfrm>
            <a:off x="6126480" y="3383280"/>
            <a:ext cx="5486400" cy="594360"/>
          </a:xfrm>
          <a:prstGeom prst="rect">
            <a:avLst/>
          </a:prstGeom>
          <a:noFill/>
          <a:ln/>
        </p:spPr>
        <p:txBody>
          <a:bodyPr wrap="square" lIns="0" tIns="0" rIns="0" bIns="0" rtlCol="0" anchor="ctr"/>
          <a:lstStyle/>
          <a:p>
            <a:pPr indent="0" marL="0">
              <a:buNone/>
            </a:pPr>
            <a:r>
              <a:rPr lang="en-US" sz="1200" b="1" dirty="0">
                <a:solidFill>
                  <a:srgbClr val="FAF7F2"/>
                </a:solidFill>
                <a:latin typeface="Calibri" pitchFamily="34" charset="0"/>
                <a:ea typeface="Calibri" pitchFamily="34" charset="-122"/>
                <a:cs typeface="Calibri" pitchFamily="34" charset="-120"/>
              </a:rPr>
              <a:t>Therapy  </a:t>
            </a:r>
            <a:pPr indent="0" marL="0">
              <a:buNone/>
            </a:pPr>
            <a:r>
              <a:rPr lang="en-US" sz="1200" dirty="0">
                <a:solidFill>
                  <a:srgbClr val="B9C4E0"/>
                </a:solidFill>
                <a:latin typeface="Calibri" pitchFamily="34" charset="0"/>
                <a:ea typeface="Calibri" pitchFamily="34" charset="-122"/>
                <a:cs typeface="Calibri" pitchFamily="34" charset="-120"/>
              </a:rPr>
              <a:t>Scheduled, costly, stigmatised — opened weeks after the fight.</a:t>
            </a:r>
            <a:endParaRPr lang="en-US" sz="1200" dirty="0"/>
          </a:p>
        </p:txBody>
      </p:sp>
      <p:sp>
        <p:nvSpPr>
          <p:cNvPr id="29" name="Text 27"/>
          <p:cNvSpPr/>
          <p:nvPr/>
        </p:nvSpPr>
        <p:spPr>
          <a:xfrm>
            <a:off x="6126480" y="4041648"/>
            <a:ext cx="5486400" cy="594360"/>
          </a:xfrm>
          <a:prstGeom prst="rect">
            <a:avLst/>
          </a:prstGeom>
          <a:noFill/>
          <a:ln/>
        </p:spPr>
        <p:txBody>
          <a:bodyPr wrap="square" lIns="0" tIns="0" rIns="0" bIns="0" rtlCol="0" anchor="ctr"/>
          <a:lstStyle/>
          <a:p>
            <a:pPr indent="0" marL="0">
              <a:buNone/>
            </a:pPr>
            <a:r>
              <a:rPr lang="en-US" sz="1200" b="1" dirty="0">
                <a:solidFill>
                  <a:srgbClr val="FAF7F2"/>
                </a:solidFill>
                <a:latin typeface="Calibri" pitchFamily="34" charset="0"/>
                <a:ea typeface="Calibri" pitchFamily="34" charset="-122"/>
                <a:cs typeface="Calibri" pitchFamily="34" charset="-120"/>
              </a:rPr>
              <a:t>Habit apps (Paired, Lasting)  </a:t>
            </a:r>
            <a:pPr indent="0" marL="0">
              <a:buNone/>
            </a:pPr>
            <a:r>
              <a:rPr lang="en-US" sz="1200" dirty="0">
                <a:solidFill>
                  <a:srgbClr val="B9C4E0"/>
                </a:solidFill>
                <a:latin typeface="Calibri" pitchFamily="34" charset="0"/>
                <a:ea typeface="Calibri" pitchFamily="34" charset="-122"/>
                <a:cs typeface="Calibri" pitchFamily="34" charset="-120"/>
              </a:rPr>
              <a:t>Daily prompts when calm — silent during the fight.</a:t>
            </a:r>
            <a:endParaRPr lang="en-US" sz="1200" dirty="0"/>
          </a:p>
        </p:txBody>
      </p:sp>
      <p:sp>
        <p:nvSpPr>
          <p:cNvPr id="30" name="Text 28"/>
          <p:cNvSpPr/>
          <p:nvPr/>
        </p:nvSpPr>
        <p:spPr>
          <a:xfrm>
            <a:off x="6126480" y="4700016"/>
            <a:ext cx="5486400" cy="594360"/>
          </a:xfrm>
          <a:prstGeom prst="rect">
            <a:avLst/>
          </a:prstGeom>
          <a:noFill/>
          <a:ln/>
        </p:spPr>
        <p:txBody>
          <a:bodyPr wrap="square" lIns="0" tIns="0" rIns="0" bIns="0" rtlCol="0" anchor="ctr"/>
          <a:lstStyle/>
          <a:p>
            <a:pPr indent="0" marL="0">
              <a:buNone/>
            </a:pPr>
            <a:r>
              <a:rPr lang="en-US" sz="1200" b="1" dirty="0">
                <a:solidFill>
                  <a:srgbClr val="FAF7F2"/>
                </a:solidFill>
                <a:latin typeface="Calibri" pitchFamily="34" charset="0"/>
                <a:ea typeface="Calibri" pitchFamily="34" charset="-122"/>
                <a:cs typeface="Calibri" pitchFamily="34" charset="-120"/>
              </a:rPr>
              <a:t>Card decks (Gottman, Esther Perel)  </a:t>
            </a:r>
            <a:pPr indent="0" marL="0">
              <a:buNone/>
            </a:pPr>
            <a:r>
              <a:rPr lang="en-US" sz="1200" dirty="0">
                <a:solidFill>
                  <a:srgbClr val="B9C4E0"/>
                </a:solidFill>
                <a:latin typeface="Calibri" pitchFamily="34" charset="0"/>
                <a:ea typeface="Calibri" pitchFamily="34" charset="-122"/>
                <a:cs typeface="Calibri" pitchFamily="34" charset="-120"/>
              </a:rPr>
              <a:t>Great prompts, no personalisation, no privacy layer.</a:t>
            </a:r>
            <a:endParaRPr lang="en-US" sz="1200" dirty="0"/>
          </a:p>
        </p:txBody>
      </p:sp>
      <p:sp>
        <p:nvSpPr>
          <p:cNvPr id="31" name="Text 29"/>
          <p:cNvSpPr/>
          <p:nvPr/>
        </p:nvSpPr>
        <p:spPr>
          <a:xfrm>
            <a:off x="6126480" y="5358384"/>
            <a:ext cx="5486400" cy="594360"/>
          </a:xfrm>
          <a:prstGeom prst="rect">
            <a:avLst/>
          </a:prstGeom>
          <a:noFill/>
          <a:ln/>
        </p:spPr>
        <p:txBody>
          <a:bodyPr wrap="square" lIns="0" tIns="0" rIns="0" bIns="0" rtlCol="0" anchor="ctr"/>
          <a:lstStyle/>
          <a:p>
            <a:pPr indent="0" marL="0">
              <a:buNone/>
            </a:pPr>
            <a:r>
              <a:rPr lang="en-US" sz="1200" b="1" dirty="0">
                <a:solidFill>
                  <a:srgbClr val="FAF7F2"/>
                </a:solidFill>
                <a:latin typeface="Calibri" pitchFamily="34" charset="0"/>
                <a:ea typeface="Calibri" pitchFamily="34" charset="-122"/>
                <a:cs typeface="Calibri" pitchFamily="34" charset="-120"/>
              </a:rPr>
              <a:t>General AI (ChatGPT, Pi)  </a:t>
            </a:r>
            <a:pPr indent="0" marL="0">
              <a:buNone/>
            </a:pPr>
            <a:r>
              <a:rPr lang="en-US" sz="1200" dirty="0">
                <a:solidFill>
                  <a:srgbClr val="B9C4E0"/>
                </a:solidFill>
                <a:latin typeface="Calibri" pitchFamily="34" charset="0"/>
                <a:ea typeface="Calibri" pitchFamily="34" charset="-122"/>
                <a:cs typeface="Calibri" pitchFamily="34" charset="-120"/>
              </a:rPr>
              <a:t>No memory of your patterns, your partner, or your attachment style.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6D35F"/>
          </a:solidFill>
          <a:ln w="12700">
            <a:solidFill>
              <a:srgbClr val="96D35F"/>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04</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6D35F"/>
                </a:solidFill>
                <a:latin typeface="Calibri" pitchFamily="34" charset="0"/>
                <a:ea typeface="Calibri" pitchFamily="34" charset="-122"/>
                <a:cs typeface="Calibri" pitchFamily="34" charset="-120"/>
              </a:rPr>
              <a:t>03 · WHY NOW</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Three converging forces make this the right moment.</a:t>
            </a:r>
            <a:endParaRPr lang="en-US" sz="3200" dirty="0"/>
          </a:p>
        </p:txBody>
      </p:sp>
      <p:sp>
        <p:nvSpPr>
          <p:cNvPr id="9" name="Shape 7"/>
          <p:cNvSpPr/>
          <p:nvPr/>
        </p:nvSpPr>
        <p:spPr>
          <a:xfrm>
            <a:off x="548640" y="2103120"/>
            <a:ext cx="3611880" cy="4114800"/>
          </a:xfrm>
          <a:prstGeom prst="rect">
            <a:avLst/>
          </a:prstGeom>
          <a:solidFill>
            <a:srgbClr val="FFFFFF"/>
          </a:solidFill>
          <a:ln w="12700">
            <a:solidFill>
              <a:srgbClr val="E5E0D5"/>
            </a:solidFill>
            <a:prstDash val="solid"/>
          </a:ln>
        </p:spPr>
      </p:sp>
      <p:sp>
        <p:nvSpPr>
          <p:cNvPr id="10" name="Shape 8"/>
          <p:cNvSpPr/>
          <p:nvPr/>
        </p:nvSpPr>
        <p:spPr>
          <a:xfrm>
            <a:off x="548640" y="2103120"/>
            <a:ext cx="3611880" cy="109728"/>
          </a:xfrm>
          <a:prstGeom prst="rect">
            <a:avLst/>
          </a:prstGeom>
          <a:solidFill>
            <a:srgbClr val="96D35F"/>
          </a:solidFill>
          <a:ln w="12700">
            <a:solidFill>
              <a:srgbClr val="96D35F"/>
            </a:solidFill>
            <a:prstDash val="solid"/>
          </a:ln>
        </p:spPr>
      </p:sp>
      <p:sp>
        <p:nvSpPr>
          <p:cNvPr id="11" name="Text 9"/>
          <p:cNvSpPr/>
          <p:nvPr/>
        </p:nvSpPr>
        <p:spPr>
          <a:xfrm>
            <a:off x="822960" y="2331720"/>
            <a:ext cx="914400" cy="457200"/>
          </a:xfrm>
          <a:prstGeom prst="rect">
            <a:avLst/>
          </a:prstGeom>
          <a:noFill/>
          <a:ln/>
        </p:spPr>
        <p:txBody>
          <a:bodyPr wrap="square" lIns="0" tIns="0" rIns="0" bIns="0" rtlCol="0" anchor="ctr"/>
          <a:lstStyle/>
          <a:p>
            <a:pPr indent="0" marL="0">
              <a:buNone/>
            </a:pPr>
            <a:r>
              <a:rPr lang="en-US" sz="2800" b="1" dirty="0">
                <a:solidFill>
                  <a:srgbClr val="96D35F"/>
                </a:solidFill>
                <a:latin typeface="Georgia" pitchFamily="34" charset="0"/>
                <a:ea typeface="Georgia" pitchFamily="34" charset="-122"/>
                <a:cs typeface="Georgia" pitchFamily="34" charset="-120"/>
              </a:rPr>
              <a:t>01</a:t>
            </a:r>
            <a:endParaRPr lang="en-US" sz="2800" dirty="0"/>
          </a:p>
        </p:txBody>
      </p:sp>
      <p:sp>
        <p:nvSpPr>
          <p:cNvPr id="12" name="Text 10"/>
          <p:cNvSpPr/>
          <p:nvPr/>
        </p:nvSpPr>
        <p:spPr>
          <a:xfrm>
            <a:off x="822960" y="2834640"/>
            <a:ext cx="3108960" cy="731520"/>
          </a:xfrm>
          <a:prstGeom prst="rect">
            <a:avLst/>
          </a:prstGeom>
          <a:noFill/>
          <a:ln/>
        </p:spPr>
        <p:txBody>
          <a:bodyPr wrap="square" lIns="0" tIns="0" rIns="0" bIns="0" rtlCol="0" anchor="ctr"/>
          <a:lstStyle/>
          <a:p>
            <a:pPr indent="0" marL="0">
              <a:buNone/>
            </a:pPr>
            <a:r>
              <a:rPr lang="en-US" sz="1700" b="1" dirty="0">
                <a:solidFill>
                  <a:srgbClr val="1F2540"/>
                </a:solidFill>
                <a:latin typeface="Georgia" pitchFamily="34" charset="0"/>
                <a:ea typeface="Georgia" pitchFamily="34" charset="-122"/>
                <a:cs typeface="Georgia" pitchFamily="34" charset="-120"/>
              </a:rPr>
              <a:t>AI can finally hold nuance</a:t>
            </a:r>
            <a:endParaRPr lang="en-US" sz="1700" dirty="0"/>
          </a:p>
        </p:txBody>
      </p:sp>
      <p:sp>
        <p:nvSpPr>
          <p:cNvPr id="13" name="Text 11"/>
          <p:cNvSpPr/>
          <p:nvPr/>
        </p:nvSpPr>
        <p:spPr>
          <a:xfrm>
            <a:off x="822960" y="3657600"/>
            <a:ext cx="3108960" cy="23774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Foundation models (Claude 4.6, GPT-5) are the first generation capable of sustained, trauma-aware conversation without scripted flows. The modality just became possible.</a:t>
            </a:r>
            <a:endParaRPr lang="en-US" sz="1150" dirty="0"/>
          </a:p>
        </p:txBody>
      </p:sp>
      <p:sp>
        <p:nvSpPr>
          <p:cNvPr id="14" name="Shape 12"/>
          <p:cNvSpPr/>
          <p:nvPr/>
        </p:nvSpPr>
        <p:spPr>
          <a:xfrm>
            <a:off x="4343400" y="2103120"/>
            <a:ext cx="3611880" cy="4114800"/>
          </a:xfrm>
          <a:prstGeom prst="rect">
            <a:avLst/>
          </a:prstGeom>
          <a:solidFill>
            <a:srgbClr val="FFFFFF"/>
          </a:solidFill>
          <a:ln w="12700">
            <a:solidFill>
              <a:srgbClr val="E5E0D5"/>
            </a:solidFill>
            <a:prstDash val="solid"/>
          </a:ln>
        </p:spPr>
      </p:sp>
      <p:sp>
        <p:nvSpPr>
          <p:cNvPr id="15" name="Shape 13"/>
          <p:cNvSpPr/>
          <p:nvPr/>
        </p:nvSpPr>
        <p:spPr>
          <a:xfrm>
            <a:off x="4343400" y="2103120"/>
            <a:ext cx="3611880" cy="109728"/>
          </a:xfrm>
          <a:prstGeom prst="rect">
            <a:avLst/>
          </a:prstGeom>
          <a:solidFill>
            <a:srgbClr val="92A6F4"/>
          </a:solidFill>
          <a:ln w="12700">
            <a:solidFill>
              <a:srgbClr val="92A6F4"/>
            </a:solidFill>
            <a:prstDash val="solid"/>
          </a:ln>
        </p:spPr>
      </p:sp>
      <p:sp>
        <p:nvSpPr>
          <p:cNvPr id="16" name="Text 14"/>
          <p:cNvSpPr/>
          <p:nvPr/>
        </p:nvSpPr>
        <p:spPr>
          <a:xfrm>
            <a:off x="4617720" y="2331720"/>
            <a:ext cx="914400" cy="457200"/>
          </a:xfrm>
          <a:prstGeom prst="rect">
            <a:avLst/>
          </a:prstGeom>
          <a:noFill/>
          <a:ln/>
        </p:spPr>
        <p:txBody>
          <a:bodyPr wrap="square" lIns="0" tIns="0" rIns="0" bIns="0" rtlCol="0" anchor="ctr"/>
          <a:lstStyle/>
          <a:p>
            <a:pPr indent="0" marL="0">
              <a:buNone/>
            </a:pPr>
            <a:r>
              <a:rPr lang="en-US" sz="2800" b="1" dirty="0">
                <a:solidFill>
                  <a:srgbClr val="92A6F4"/>
                </a:solidFill>
                <a:latin typeface="Georgia" pitchFamily="34" charset="0"/>
                <a:ea typeface="Georgia" pitchFamily="34" charset="-122"/>
                <a:cs typeface="Georgia" pitchFamily="34" charset="-120"/>
              </a:rPr>
              <a:t>02</a:t>
            </a:r>
            <a:endParaRPr lang="en-US" sz="2800" dirty="0"/>
          </a:p>
        </p:txBody>
      </p:sp>
      <p:sp>
        <p:nvSpPr>
          <p:cNvPr id="17" name="Text 15"/>
          <p:cNvSpPr/>
          <p:nvPr/>
        </p:nvSpPr>
        <p:spPr>
          <a:xfrm>
            <a:off x="4617720" y="2834640"/>
            <a:ext cx="3108960" cy="731520"/>
          </a:xfrm>
          <a:prstGeom prst="rect">
            <a:avLst/>
          </a:prstGeom>
          <a:noFill/>
          <a:ln/>
        </p:spPr>
        <p:txBody>
          <a:bodyPr wrap="square" lIns="0" tIns="0" rIns="0" bIns="0" rtlCol="0" anchor="ctr"/>
          <a:lstStyle/>
          <a:p>
            <a:pPr indent="0" marL="0">
              <a:buNone/>
            </a:pPr>
            <a:r>
              <a:rPr lang="en-US" sz="1700" b="1" dirty="0">
                <a:solidFill>
                  <a:srgbClr val="1F2540"/>
                </a:solidFill>
                <a:latin typeface="Georgia" pitchFamily="34" charset="0"/>
                <a:ea typeface="Georgia" pitchFamily="34" charset="-122"/>
                <a:cs typeface="Georgia" pitchFamily="34" charset="-120"/>
              </a:rPr>
              <a:t>Therapy-literate consumers</a:t>
            </a:r>
            <a:endParaRPr lang="en-US" sz="1700" dirty="0"/>
          </a:p>
        </p:txBody>
      </p:sp>
      <p:sp>
        <p:nvSpPr>
          <p:cNvPr id="18" name="Text 16"/>
          <p:cNvSpPr/>
          <p:nvPr/>
        </p:nvSpPr>
        <p:spPr>
          <a:xfrm>
            <a:off x="4617720" y="3657600"/>
            <a:ext cx="3108960" cy="23774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Attachment theory and nervous-system language have gone mainstream — TikTok #attachmentstyle has 4.2B views. Users now ask for tools that speak this language natively.</a:t>
            </a:r>
            <a:endParaRPr lang="en-US" sz="1150" dirty="0"/>
          </a:p>
        </p:txBody>
      </p:sp>
      <p:sp>
        <p:nvSpPr>
          <p:cNvPr id="19" name="Shape 17"/>
          <p:cNvSpPr/>
          <p:nvPr/>
        </p:nvSpPr>
        <p:spPr>
          <a:xfrm>
            <a:off x="8138160" y="2103120"/>
            <a:ext cx="3611880" cy="4114800"/>
          </a:xfrm>
          <a:prstGeom prst="rect">
            <a:avLst/>
          </a:prstGeom>
          <a:solidFill>
            <a:srgbClr val="FFFFFF"/>
          </a:solidFill>
          <a:ln w="12700">
            <a:solidFill>
              <a:srgbClr val="E5E0D5"/>
            </a:solidFill>
            <a:prstDash val="solid"/>
          </a:ln>
        </p:spPr>
      </p:sp>
      <p:sp>
        <p:nvSpPr>
          <p:cNvPr id="20" name="Shape 18"/>
          <p:cNvSpPr/>
          <p:nvPr/>
        </p:nvSpPr>
        <p:spPr>
          <a:xfrm>
            <a:off x="8138160" y="2103120"/>
            <a:ext cx="3611880" cy="109728"/>
          </a:xfrm>
          <a:prstGeom prst="rect">
            <a:avLst/>
          </a:prstGeom>
          <a:solidFill>
            <a:srgbClr val="F67700"/>
          </a:solidFill>
          <a:ln w="12700">
            <a:solidFill>
              <a:srgbClr val="F67700"/>
            </a:solidFill>
            <a:prstDash val="solid"/>
          </a:ln>
        </p:spPr>
      </p:sp>
      <p:sp>
        <p:nvSpPr>
          <p:cNvPr id="21" name="Text 19"/>
          <p:cNvSpPr/>
          <p:nvPr/>
        </p:nvSpPr>
        <p:spPr>
          <a:xfrm>
            <a:off x="8412480" y="2331720"/>
            <a:ext cx="914400" cy="457200"/>
          </a:xfrm>
          <a:prstGeom prst="rect">
            <a:avLst/>
          </a:prstGeom>
          <a:noFill/>
          <a:ln/>
        </p:spPr>
        <p:txBody>
          <a:bodyPr wrap="square" lIns="0" tIns="0" rIns="0" bIns="0" rtlCol="0" anchor="ctr"/>
          <a:lstStyle/>
          <a:p>
            <a:pPr indent="0" marL="0">
              <a:buNone/>
            </a:pPr>
            <a:r>
              <a:rPr lang="en-US" sz="2800" b="1" dirty="0">
                <a:solidFill>
                  <a:srgbClr val="F67700"/>
                </a:solidFill>
                <a:latin typeface="Georgia" pitchFamily="34" charset="0"/>
                <a:ea typeface="Georgia" pitchFamily="34" charset="-122"/>
                <a:cs typeface="Georgia" pitchFamily="34" charset="-120"/>
              </a:rPr>
              <a:t>03</a:t>
            </a:r>
            <a:endParaRPr lang="en-US" sz="2800" dirty="0"/>
          </a:p>
        </p:txBody>
      </p:sp>
      <p:sp>
        <p:nvSpPr>
          <p:cNvPr id="22" name="Text 20"/>
          <p:cNvSpPr/>
          <p:nvPr/>
        </p:nvSpPr>
        <p:spPr>
          <a:xfrm>
            <a:off x="8412480" y="2834640"/>
            <a:ext cx="3108960" cy="731520"/>
          </a:xfrm>
          <a:prstGeom prst="rect">
            <a:avLst/>
          </a:prstGeom>
          <a:noFill/>
          <a:ln/>
        </p:spPr>
        <p:txBody>
          <a:bodyPr wrap="square" lIns="0" tIns="0" rIns="0" bIns="0" rtlCol="0" anchor="ctr"/>
          <a:lstStyle/>
          <a:p>
            <a:pPr indent="0" marL="0">
              <a:buNone/>
            </a:pPr>
            <a:r>
              <a:rPr lang="en-US" sz="1700" b="1" dirty="0">
                <a:solidFill>
                  <a:srgbClr val="1F2540"/>
                </a:solidFill>
                <a:latin typeface="Georgia" pitchFamily="34" charset="0"/>
                <a:ea typeface="Georgia" pitchFamily="34" charset="-122"/>
                <a:cs typeface="Georgia" pitchFamily="34" charset="-120"/>
              </a:rPr>
              <a:t>Therapy supply crisis</a:t>
            </a:r>
            <a:endParaRPr lang="en-US" sz="1700" dirty="0"/>
          </a:p>
        </p:txBody>
      </p:sp>
      <p:sp>
        <p:nvSpPr>
          <p:cNvPr id="23" name="Text 21"/>
          <p:cNvSpPr/>
          <p:nvPr/>
        </p:nvSpPr>
        <p:spPr>
          <a:xfrm>
            <a:off x="8412480" y="3657600"/>
            <a:ext cx="3108960" cy="23774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US licensed couples therapists per 100k: 14 (2019) → 9 (2025). Median wait list: 5.8 weeks. Self-serve tools are no longer optional — they're structurally required.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2A6F4"/>
          </a:solidFill>
          <a:ln w="12700">
            <a:solidFill>
              <a:srgbClr val="92A6F4"/>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05</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2A6F4"/>
                </a:solidFill>
                <a:latin typeface="Calibri" pitchFamily="34" charset="0"/>
                <a:ea typeface="Calibri" pitchFamily="34" charset="-122"/>
                <a:cs typeface="Calibri" pitchFamily="34" charset="-120"/>
              </a:rPr>
              <a:t>04 · MARKET SIZING</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TAM $14.7B · SAM $3.2B · SOM $184M by Year 3.</a:t>
            </a:r>
            <a:endParaRPr lang="en-US" sz="3200" dirty="0"/>
          </a:p>
        </p:txBody>
      </p:sp>
      <p:sp>
        <p:nvSpPr>
          <p:cNvPr id="9" name="Text 7"/>
          <p:cNvSpPr/>
          <p:nvPr/>
        </p:nvSpPr>
        <p:spPr>
          <a:xfrm>
            <a:off x="457200" y="1417320"/>
            <a:ext cx="11247120" cy="457200"/>
          </a:xfrm>
          <a:prstGeom prst="rect">
            <a:avLst/>
          </a:prstGeom>
          <a:noFill/>
          <a:ln/>
        </p:spPr>
        <p:txBody>
          <a:bodyPr wrap="square" lIns="0" tIns="0" rIns="0" bIns="0" rtlCol="0" anchor="ctr"/>
          <a:lstStyle/>
          <a:p>
            <a:pPr indent="0" marL="0">
              <a:buNone/>
            </a:pPr>
            <a:r>
              <a:rPr lang="en-US" sz="1500" i="1" dirty="0">
                <a:solidFill>
                  <a:srgbClr val="6B6A63"/>
                </a:solidFill>
                <a:latin typeface="Calibri" pitchFamily="34" charset="0"/>
                <a:ea typeface="Calibri" pitchFamily="34" charset="-122"/>
                <a:cs typeface="Calibri" pitchFamily="34" charset="-120"/>
              </a:rPr>
              <a:t>Bottom-up model: US + Tier-1 EN markets. Figures modelled; refine with GTM primary research.</a:t>
            </a:r>
            <a:endParaRPr lang="en-US" sz="1500" dirty="0"/>
          </a:p>
        </p:txBody>
      </p:sp>
      <p:sp>
        <p:nvSpPr>
          <p:cNvPr id="10" name="Shape 8"/>
          <p:cNvSpPr/>
          <p:nvPr/>
        </p:nvSpPr>
        <p:spPr>
          <a:xfrm>
            <a:off x="548640" y="1920240"/>
            <a:ext cx="11155680" cy="4297680"/>
          </a:xfrm>
          <a:prstGeom prst="rect">
            <a:avLst/>
          </a:prstGeom>
          <a:solidFill>
            <a:srgbClr val="FFFFFF"/>
          </a:solidFill>
          <a:ln w="12700">
            <a:solidFill>
              <a:srgbClr val="E5E0D5"/>
            </a:solidFill>
            <a:prstDash val="solid"/>
          </a:ln>
        </p:spPr>
      </p:sp>
      <p:sp>
        <p:nvSpPr>
          <p:cNvPr id="11" name="Shape 9"/>
          <p:cNvSpPr/>
          <p:nvPr/>
        </p:nvSpPr>
        <p:spPr>
          <a:xfrm>
            <a:off x="1828800" y="1920240"/>
            <a:ext cx="8503920" cy="3291840"/>
          </a:xfrm>
          <a:prstGeom prst="rect">
            <a:avLst/>
          </a:prstGeom>
          <a:solidFill>
            <a:srgbClr val="F0EBE0"/>
          </a:solidFill>
          <a:ln w="12700">
            <a:solidFill>
              <a:srgbClr val="E5E0D5"/>
            </a:solidFill>
            <a:prstDash val="solid"/>
          </a:ln>
        </p:spPr>
      </p:sp>
      <p:sp>
        <p:nvSpPr>
          <p:cNvPr id="12" name="Shape 10"/>
          <p:cNvSpPr/>
          <p:nvPr/>
        </p:nvSpPr>
        <p:spPr>
          <a:xfrm>
            <a:off x="3108960" y="1920240"/>
            <a:ext cx="5943600" cy="2194560"/>
          </a:xfrm>
          <a:prstGeom prst="rect">
            <a:avLst/>
          </a:prstGeom>
          <a:solidFill>
            <a:srgbClr val="92A6F4"/>
          </a:solidFill>
          <a:ln w="12700">
            <a:solidFill>
              <a:srgbClr val="92A6F4"/>
            </a:solidFill>
            <a:prstDash val="solid"/>
          </a:ln>
        </p:spPr>
      </p:sp>
      <p:sp>
        <p:nvSpPr>
          <p:cNvPr id="13" name="Text 11"/>
          <p:cNvSpPr/>
          <p:nvPr/>
        </p:nvSpPr>
        <p:spPr>
          <a:xfrm>
            <a:off x="731520" y="2057400"/>
            <a:ext cx="4572000" cy="274320"/>
          </a:xfrm>
          <a:prstGeom prst="rect">
            <a:avLst/>
          </a:prstGeom>
          <a:noFill/>
          <a:ln/>
        </p:spPr>
        <p:txBody>
          <a:bodyPr wrap="square" lIns="0" tIns="0" rIns="0" bIns="0" rtlCol="0" anchor="ctr"/>
          <a:lstStyle/>
          <a:p>
            <a:pPr indent="0" marL="0">
              <a:buNone/>
            </a:pPr>
            <a:r>
              <a:rPr lang="en-US" sz="1100" b="1" spc="300" kern="0" dirty="0">
                <a:solidFill>
                  <a:srgbClr val="6B6A63"/>
                </a:solidFill>
                <a:latin typeface="Calibri" pitchFamily="34" charset="0"/>
                <a:ea typeface="Calibri" pitchFamily="34" charset="-122"/>
                <a:cs typeface="Calibri" pitchFamily="34" charset="-120"/>
              </a:rPr>
              <a:t>TAM — Global addressable</a:t>
            </a:r>
            <a:endParaRPr lang="en-US" sz="1100" dirty="0"/>
          </a:p>
        </p:txBody>
      </p:sp>
      <p:sp>
        <p:nvSpPr>
          <p:cNvPr id="14" name="Text 12"/>
          <p:cNvSpPr/>
          <p:nvPr/>
        </p:nvSpPr>
        <p:spPr>
          <a:xfrm>
            <a:off x="731520" y="2331720"/>
            <a:ext cx="4572000" cy="457200"/>
          </a:xfrm>
          <a:prstGeom prst="rect">
            <a:avLst/>
          </a:prstGeom>
          <a:noFill/>
          <a:ln/>
        </p:spPr>
        <p:txBody>
          <a:bodyPr wrap="square" lIns="0" tIns="0" rIns="0" bIns="0" rtlCol="0" anchor="ctr"/>
          <a:lstStyle/>
          <a:p>
            <a:pPr indent="0" marL="0">
              <a:buNone/>
            </a:pPr>
            <a:r>
              <a:rPr lang="en-US" sz="2200" b="1" dirty="0">
                <a:solidFill>
                  <a:srgbClr val="1F2540"/>
                </a:solidFill>
                <a:latin typeface="Georgia" pitchFamily="34" charset="0"/>
                <a:ea typeface="Georgia" pitchFamily="34" charset="-122"/>
                <a:cs typeface="Georgia" pitchFamily="34" charset="-120"/>
              </a:rPr>
              <a:t>$14.7B</a:t>
            </a:r>
            <a:endParaRPr lang="en-US" sz="2200" dirty="0"/>
          </a:p>
        </p:txBody>
      </p:sp>
      <p:sp>
        <p:nvSpPr>
          <p:cNvPr id="15" name="Text 13"/>
          <p:cNvSpPr/>
          <p:nvPr/>
        </p:nvSpPr>
        <p:spPr>
          <a:xfrm>
            <a:off x="2011680" y="2880360"/>
            <a:ext cx="4572000" cy="274320"/>
          </a:xfrm>
          <a:prstGeom prst="rect">
            <a:avLst/>
          </a:prstGeom>
          <a:noFill/>
          <a:ln/>
        </p:spPr>
        <p:txBody>
          <a:bodyPr wrap="square" lIns="0" tIns="0" rIns="0" bIns="0" rtlCol="0" anchor="ctr"/>
          <a:lstStyle/>
          <a:p>
            <a:pPr indent="0" marL="0">
              <a:buNone/>
            </a:pPr>
            <a:r>
              <a:rPr lang="en-US" sz="1100" b="1" spc="300" kern="0" dirty="0">
                <a:solidFill>
                  <a:srgbClr val="6B6A63"/>
                </a:solidFill>
                <a:latin typeface="Calibri" pitchFamily="34" charset="0"/>
                <a:ea typeface="Calibri" pitchFamily="34" charset="-122"/>
                <a:cs typeface="Calibri" pitchFamily="34" charset="-120"/>
              </a:rPr>
              <a:t>SAM — Serviceable (EN Tier-1)</a:t>
            </a:r>
            <a:endParaRPr lang="en-US" sz="1100" dirty="0"/>
          </a:p>
        </p:txBody>
      </p:sp>
      <p:sp>
        <p:nvSpPr>
          <p:cNvPr id="16" name="Text 14"/>
          <p:cNvSpPr/>
          <p:nvPr/>
        </p:nvSpPr>
        <p:spPr>
          <a:xfrm>
            <a:off x="2011680" y="3154680"/>
            <a:ext cx="4572000" cy="457200"/>
          </a:xfrm>
          <a:prstGeom prst="rect">
            <a:avLst/>
          </a:prstGeom>
          <a:noFill/>
          <a:ln/>
        </p:spPr>
        <p:txBody>
          <a:bodyPr wrap="square" lIns="0" tIns="0" rIns="0" bIns="0" rtlCol="0" anchor="ctr"/>
          <a:lstStyle/>
          <a:p>
            <a:pPr indent="0" marL="0">
              <a:buNone/>
            </a:pPr>
            <a:r>
              <a:rPr lang="en-US" sz="2200" b="1" dirty="0">
                <a:solidFill>
                  <a:srgbClr val="1F2540"/>
                </a:solidFill>
                <a:latin typeface="Georgia" pitchFamily="34" charset="0"/>
                <a:ea typeface="Georgia" pitchFamily="34" charset="-122"/>
                <a:cs typeface="Georgia" pitchFamily="34" charset="-120"/>
              </a:rPr>
              <a:t>$3.2B</a:t>
            </a:r>
            <a:endParaRPr lang="en-US" sz="2200" dirty="0"/>
          </a:p>
        </p:txBody>
      </p:sp>
      <p:sp>
        <p:nvSpPr>
          <p:cNvPr id="17" name="Text 15"/>
          <p:cNvSpPr/>
          <p:nvPr/>
        </p:nvSpPr>
        <p:spPr>
          <a:xfrm>
            <a:off x="3291840" y="3794760"/>
            <a:ext cx="4572000" cy="274320"/>
          </a:xfrm>
          <a:prstGeom prst="rect">
            <a:avLst/>
          </a:prstGeom>
          <a:noFill/>
          <a:ln/>
        </p:spPr>
        <p:txBody>
          <a:bodyPr wrap="square" lIns="0" tIns="0" rIns="0" bIns="0" rtlCol="0" anchor="ctr"/>
          <a:lstStyle/>
          <a:p>
            <a:pPr indent="0" marL="0">
              <a:buNone/>
            </a:pPr>
            <a:r>
              <a:rPr lang="en-US" sz="1100" b="1" spc="300" kern="0" dirty="0">
                <a:solidFill>
                  <a:srgbClr val="FAF7F2"/>
                </a:solidFill>
                <a:latin typeface="Calibri" pitchFamily="34" charset="0"/>
                <a:ea typeface="Calibri" pitchFamily="34" charset="-122"/>
                <a:cs typeface="Calibri" pitchFamily="34" charset="-120"/>
              </a:rPr>
              <a:t>SOM — Year 3 capture</a:t>
            </a:r>
            <a:endParaRPr lang="en-US" sz="1100" dirty="0"/>
          </a:p>
        </p:txBody>
      </p:sp>
      <p:sp>
        <p:nvSpPr>
          <p:cNvPr id="18" name="Text 16"/>
          <p:cNvSpPr/>
          <p:nvPr/>
        </p:nvSpPr>
        <p:spPr>
          <a:xfrm>
            <a:off x="3291840" y="4069080"/>
            <a:ext cx="4572000" cy="457200"/>
          </a:xfrm>
          <a:prstGeom prst="rect">
            <a:avLst/>
          </a:prstGeom>
          <a:noFill/>
          <a:ln/>
        </p:spPr>
        <p:txBody>
          <a:bodyPr wrap="square" lIns="0" tIns="0" rIns="0" bIns="0" rtlCol="0" anchor="ctr"/>
          <a:lstStyle/>
          <a:p>
            <a:pPr indent="0" marL="0">
              <a:buNone/>
            </a:pPr>
            <a:r>
              <a:rPr lang="en-US" sz="2200" b="1" dirty="0">
                <a:solidFill>
                  <a:srgbClr val="FAF7F2"/>
                </a:solidFill>
                <a:latin typeface="Georgia" pitchFamily="34" charset="0"/>
                <a:ea typeface="Georgia" pitchFamily="34" charset="-122"/>
                <a:cs typeface="Georgia" pitchFamily="34" charset="-120"/>
              </a:rPr>
              <a:t>$184M</a:t>
            </a:r>
            <a:endParaRPr lang="en-US" sz="2200" dirty="0"/>
          </a:p>
        </p:txBody>
      </p:sp>
      <p:sp>
        <p:nvSpPr>
          <p:cNvPr id="19" name="Text 17"/>
          <p:cNvSpPr/>
          <p:nvPr/>
        </p:nvSpPr>
        <p:spPr>
          <a:xfrm>
            <a:off x="3291840" y="4572000"/>
            <a:ext cx="5669280" cy="731520"/>
          </a:xfrm>
          <a:prstGeom prst="rect">
            <a:avLst/>
          </a:prstGeom>
          <a:noFill/>
          <a:ln/>
        </p:spPr>
        <p:txBody>
          <a:bodyPr wrap="square" lIns="0" tIns="0" rIns="0" bIns="0" rtlCol="0" anchor="ctr"/>
          <a:lstStyle/>
          <a:p>
            <a:pPr indent="0" marL="0">
              <a:buNone/>
            </a:pPr>
            <a:r>
              <a:rPr lang="en-US" sz="1100" i="1" dirty="0">
                <a:solidFill>
                  <a:srgbClr val="FAF7F2"/>
                </a:solidFill>
                <a:latin typeface="Calibri" pitchFamily="34" charset="0"/>
                <a:ea typeface="Calibri" pitchFamily="34" charset="-122"/>
                <a:cs typeface="Calibri" pitchFamily="34" charset="-120"/>
              </a:rPr>
              <a:t>1.2% of SAM  ·  ~1.5M paying users  ·  $9.99 ARPU  ·  52% annual retention</a:t>
            </a:r>
            <a:endParaRPr lang="en-US" sz="1100" dirty="0"/>
          </a:p>
        </p:txBody>
      </p:sp>
      <p:sp>
        <p:nvSpPr>
          <p:cNvPr id="20" name="Shape 18"/>
          <p:cNvSpPr/>
          <p:nvPr/>
        </p:nvSpPr>
        <p:spPr>
          <a:xfrm>
            <a:off x="548640" y="6355080"/>
            <a:ext cx="11155680" cy="228600"/>
          </a:xfrm>
          <a:prstGeom prst="rect">
            <a:avLst/>
          </a:prstGeom>
          <a:solidFill>
            <a:srgbClr val="1F2540"/>
          </a:solidFill>
          <a:ln w="12700">
            <a:solidFill>
              <a:srgbClr val="1F2540"/>
            </a:solidFill>
            <a:prstDash val="solid"/>
          </a:ln>
        </p:spPr>
      </p:sp>
      <p:sp>
        <p:nvSpPr>
          <p:cNvPr id="21" name="Text 19"/>
          <p:cNvSpPr/>
          <p:nvPr/>
        </p:nvSpPr>
        <p:spPr>
          <a:xfrm>
            <a:off x="640080" y="6364224"/>
            <a:ext cx="10972800" cy="210312"/>
          </a:xfrm>
          <a:prstGeom prst="rect">
            <a:avLst/>
          </a:prstGeom>
          <a:noFill/>
          <a:ln/>
        </p:spPr>
        <p:txBody>
          <a:bodyPr wrap="square" lIns="0" tIns="0" rIns="0" bIns="0" rtlCol="0" anchor="ctr"/>
          <a:lstStyle/>
          <a:p>
            <a:pPr indent="0" marL="0">
              <a:buNone/>
            </a:pPr>
            <a:r>
              <a:rPr lang="en-US" sz="900" i="1" dirty="0">
                <a:solidFill>
                  <a:srgbClr val="FAF7F2"/>
                </a:solidFill>
                <a:latin typeface="Calibri" pitchFamily="34" charset="0"/>
                <a:ea typeface="Calibri" pitchFamily="34" charset="-122"/>
                <a:cs typeface="Calibri" pitchFamily="34" charset="-120"/>
              </a:rPr>
              <a:t>Assumptions: 1 paying seat per couple (not 2)  ·  launch in EN markets  ·  blended subs + one-time IAP  ·  illustrative, refine with GTM research.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BD57F2"/>
          </a:solidFill>
          <a:ln w="12700">
            <a:solidFill>
              <a:srgbClr val="BD57F2"/>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06</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BD57F2"/>
                </a:solidFill>
                <a:latin typeface="Calibri" pitchFamily="34" charset="0"/>
                <a:ea typeface="Calibri" pitchFamily="34" charset="-122"/>
                <a:cs typeface="Calibri" pitchFamily="34" charset="-120"/>
              </a:rPr>
              <a:t>05 · SOLUTION OVERVIEW</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A private AI guide that walks couples from a fight to an honest conversation.</a:t>
            </a:r>
            <a:endParaRPr lang="en-US" sz="3200" dirty="0"/>
          </a:p>
        </p:txBody>
      </p:sp>
      <p:sp>
        <p:nvSpPr>
          <p:cNvPr id="9" name="Shape 7"/>
          <p:cNvSpPr/>
          <p:nvPr/>
        </p:nvSpPr>
        <p:spPr>
          <a:xfrm>
            <a:off x="548640" y="2103120"/>
            <a:ext cx="11155680" cy="1371600"/>
          </a:xfrm>
          <a:prstGeom prst="rect">
            <a:avLst/>
          </a:prstGeom>
          <a:solidFill>
            <a:srgbClr val="1F2540"/>
          </a:solidFill>
          <a:ln w="12700">
            <a:solidFill>
              <a:srgbClr val="1F2540"/>
            </a:solidFill>
            <a:prstDash val="solid"/>
          </a:ln>
        </p:spPr>
      </p:sp>
      <p:sp>
        <p:nvSpPr>
          <p:cNvPr id="10" name="Text 8"/>
          <p:cNvSpPr/>
          <p:nvPr/>
        </p:nvSpPr>
        <p:spPr>
          <a:xfrm>
            <a:off x="914400" y="2240280"/>
            <a:ext cx="10424160" cy="1097280"/>
          </a:xfrm>
          <a:prstGeom prst="rect">
            <a:avLst/>
          </a:prstGeom>
          <a:noFill/>
          <a:ln/>
        </p:spPr>
        <p:txBody>
          <a:bodyPr wrap="square" lIns="0" tIns="0" rIns="0" bIns="0" rtlCol="0" anchor="ctr"/>
          <a:lstStyle/>
          <a:p>
            <a:pPr indent="0" marL="0">
              <a:buNone/>
            </a:pPr>
            <a:r>
              <a:rPr lang="en-US" sz="2200" i="1" dirty="0">
                <a:solidFill>
                  <a:srgbClr val="FAF7F2"/>
                </a:solidFill>
                <a:latin typeface="Georgia" pitchFamily="34" charset="0"/>
                <a:ea typeface="Georgia" pitchFamily="34" charset="-122"/>
                <a:cs typeface="Georgia" pitchFamily="34" charset="-120"/>
              </a:rPr>
              <a:t>“The fight you just had, turned into the conversation you wish you could have — in four steps.”</a:t>
            </a:r>
            <a:endParaRPr lang="en-US" sz="2200" dirty="0"/>
          </a:p>
        </p:txBody>
      </p:sp>
      <p:sp>
        <p:nvSpPr>
          <p:cNvPr id="11" name="Shape 9"/>
          <p:cNvSpPr/>
          <p:nvPr/>
        </p:nvSpPr>
        <p:spPr>
          <a:xfrm>
            <a:off x="548640" y="3794760"/>
            <a:ext cx="2651760" cy="2468880"/>
          </a:xfrm>
          <a:prstGeom prst="rect">
            <a:avLst/>
          </a:prstGeom>
          <a:solidFill>
            <a:srgbClr val="FFFFFF"/>
          </a:solidFill>
          <a:ln w="12700">
            <a:solidFill>
              <a:srgbClr val="E5E0D5"/>
            </a:solidFill>
            <a:prstDash val="solid"/>
          </a:ln>
        </p:spPr>
      </p:sp>
      <p:sp>
        <p:nvSpPr>
          <p:cNvPr id="12" name="Shape 10"/>
          <p:cNvSpPr/>
          <p:nvPr/>
        </p:nvSpPr>
        <p:spPr>
          <a:xfrm>
            <a:off x="822960" y="4023360"/>
            <a:ext cx="502920" cy="502920"/>
          </a:xfrm>
          <a:prstGeom prst="ellipse">
            <a:avLst/>
          </a:prstGeom>
          <a:solidFill>
            <a:srgbClr val="96D35F"/>
          </a:solidFill>
          <a:ln w="12700">
            <a:solidFill>
              <a:srgbClr val="96D35F"/>
            </a:solidFill>
            <a:prstDash val="solid"/>
          </a:ln>
        </p:spPr>
      </p:sp>
      <p:sp>
        <p:nvSpPr>
          <p:cNvPr id="13" name="Text 11"/>
          <p:cNvSpPr/>
          <p:nvPr/>
        </p:nvSpPr>
        <p:spPr>
          <a:xfrm>
            <a:off x="822960" y="4663440"/>
            <a:ext cx="2286000" cy="457200"/>
          </a:xfrm>
          <a:prstGeom prst="rect">
            <a:avLst/>
          </a:prstGeom>
          <a:noFill/>
          <a:ln/>
        </p:spPr>
        <p:txBody>
          <a:bodyPr wrap="square" lIns="0" tIns="0" rIns="0" bIns="0" rtlCol="0" anchor="ctr"/>
          <a:lstStyle/>
          <a:p>
            <a:pPr indent="0" marL="0">
              <a:buNone/>
            </a:pPr>
            <a:r>
              <a:rPr lang="en-US" sz="1900" b="1" dirty="0">
                <a:solidFill>
                  <a:srgbClr val="1F2540"/>
                </a:solidFill>
                <a:latin typeface="Georgia" pitchFamily="34" charset="0"/>
                <a:ea typeface="Georgia" pitchFamily="34" charset="-122"/>
                <a:cs typeface="Georgia" pitchFamily="34" charset="-120"/>
              </a:rPr>
              <a:t>Private</a:t>
            </a:r>
            <a:endParaRPr lang="en-US" sz="1900" dirty="0"/>
          </a:p>
        </p:txBody>
      </p:sp>
      <p:sp>
        <p:nvSpPr>
          <p:cNvPr id="14" name="Text 12"/>
          <p:cNvSpPr/>
          <p:nvPr/>
        </p:nvSpPr>
        <p:spPr>
          <a:xfrm>
            <a:off x="822960" y="5166360"/>
            <a:ext cx="2286000" cy="10058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Vent is yours only. Partner never sees it.</a:t>
            </a:r>
            <a:endParaRPr lang="en-US" sz="1150" dirty="0"/>
          </a:p>
        </p:txBody>
      </p:sp>
      <p:sp>
        <p:nvSpPr>
          <p:cNvPr id="15" name="Shape 13"/>
          <p:cNvSpPr/>
          <p:nvPr/>
        </p:nvSpPr>
        <p:spPr>
          <a:xfrm>
            <a:off x="3383280" y="3794760"/>
            <a:ext cx="2651760" cy="2468880"/>
          </a:xfrm>
          <a:prstGeom prst="rect">
            <a:avLst/>
          </a:prstGeom>
          <a:solidFill>
            <a:srgbClr val="FFFFFF"/>
          </a:solidFill>
          <a:ln w="12700">
            <a:solidFill>
              <a:srgbClr val="E5E0D5"/>
            </a:solidFill>
            <a:prstDash val="solid"/>
          </a:ln>
        </p:spPr>
      </p:sp>
      <p:sp>
        <p:nvSpPr>
          <p:cNvPr id="16" name="Shape 14"/>
          <p:cNvSpPr/>
          <p:nvPr/>
        </p:nvSpPr>
        <p:spPr>
          <a:xfrm>
            <a:off x="3657600" y="4023360"/>
            <a:ext cx="502920" cy="502920"/>
          </a:xfrm>
          <a:prstGeom prst="ellipse">
            <a:avLst/>
          </a:prstGeom>
          <a:solidFill>
            <a:srgbClr val="92A6F4"/>
          </a:solidFill>
          <a:ln w="12700">
            <a:solidFill>
              <a:srgbClr val="92A6F4"/>
            </a:solidFill>
            <a:prstDash val="solid"/>
          </a:ln>
        </p:spPr>
      </p:sp>
      <p:sp>
        <p:nvSpPr>
          <p:cNvPr id="17" name="Text 15"/>
          <p:cNvSpPr/>
          <p:nvPr/>
        </p:nvSpPr>
        <p:spPr>
          <a:xfrm>
            <a:off x="3657600" y="4663440"/>
            <a:ext cx="2286000" cy="457200"/>
          </a:xfrm>
          <a:prstGeom prst="rect">
            <a:avLst/>
          </a:prstGeom>
          <a:noFill/>
          <a:ln/>
        </p:spPr>
        <p:txBody>
          <a:bodyPr wrap="square" lIns="0" tIns="0" rIns="0" bIns="0" rtlCol="0" anchor="ctr"/>
          <a:lstStyle/>
          <a:p>
            <a:pPr indent="0" marL="0">
              <a:buNone/>
            </a:pPr>
            <a:r>
              <a:rPr lang="en-US" sz="1900" b="1" dirty="0">
                <a:solidFill>
                  <a:srgbClr val="1F2540"/>
                </a:solidFill>
                <a:latin typeface="Georgia" pitchFamily="34" charset="0"/>
                <a:ea typeface="Georgia" pitchFamily="34" charset="-122"/>
                <a:cs typeface="Georgia" pitchFamily="34" charset="-120"/>
              </a:rPr>
              <a:t>Personalised</a:t>
            </a:r>
            <a:endParaRPr lang="en-US" sz="1900" dirty="0"/>
          </a:p>
        </p:txBody>
      </p:sp>
      <p:sp>
        <p:nvSpPr>
          <p:cNvPr id="18" name="Text 16"/>
          <p:cNvSpPr/>
          <p:nvPr/>
        </p:nvSpPr>
        <p:spPr>
          <a:xfrm>
            <a:off x="3657600" y="5166360"/>
            <a:ext cx="2286000" cy="10058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5 assessments × 2 partners shape every reply.</a:t>
            </a:r>
            <a:endParaRPr lang="en-US" sz="1150" dirty="0"/>
          </a:p>
        </p:txBody>
      </p:sp>
      <p:sp>
        <p:nvSpPr>
          <p:cNvPr id="19" name="Shape 17"/>
          <p:cNvSpPr/>
          <p:nvPr/>
        </p:nvSpPr>
        <p:spPr>
          <a:xfrm>
            <a:off x="6217920" y="3794760"/>
            <a:ext cx="2651760" cy="2468880"/>
          </a:xfrm>
          <a:prstGeom prst="rect">
            <a:avLst/>
          </a:prstGeom>
          <a:solidFill>
            <a:srgbClr val="FFFFFF"/>
          </a:solidFill>
          <a:ln w="12700">
            <a:solidFill>
              <a:srgbClr val="E5E0D5"/>
            </a:solidFill>
            <a:prstDash val="solid"/>
          </a:ln>
        </p:spPr>
      </p:sp>
      <p:sp>
        <p:nvSpPr>
          <p:cNvPr id="20" name="Shape 18"/>
          <p:cNvSpPr/>
          <p:nvPr/>
        </p:nvSpPr>
        <p:spPr>
          <a:xfrm>
            <a:off x="6492240" y="4023360"/>
            <a:ext cx="502920" cy="502920"/>
          </a:xfrm>
          <a:prstGeom prst="ellipse">
            <a:avLst/>
          </a:prstGeom>
          <a:solidFill>
            <a:srgbClr val="F67700"/>
          </a:solidFill>
          <a:ln w="12700">
            <a:solidFill>
              <a:srgbClr val="F67700"/>
            </a:solidFill>
            <a:prstDash val="solid"/>
          </a:ln>
        </p:spPr>
      </p:sp>
      <p:sp>
        <p:nvSpPr>
          <p:cNvPr id="21" name="Text 19"/>
          <p:cNvSpPr/>
          <p:nvPr/>
        </p:nvSpPr>
        <p:spPr>
          <a:xfrm>
            <a:off x="6492240" y="4663440"/>
            <a:ext cx="2286000" cy="457200"/>
          </a:xfrm>
          <a:prstGeom prst="rect">
            <a:avLst/>
          </a:prstGeom>
          <a:noFill/>
          <a:ln/>
        </p:spPr>
        <p:txBody>
          <a:bodyPr wrap="square" lIns="0" tIns="0" rIns="0" bIns="0" rtlCol="0" anchor="ctr"/>
          <a:lstStyle/>
          <a:p>
            <a:pPr indent="0" marL="0">
              <a:buNone/>
            </a:pPr>
            <a:r>
              <a:rPr lang="en-US" sz="1900" b="1" dirty="0">
                <a:solidFill>
                  <a:srgbClr val="1F2540"/>
                </a:solidFill>
                <a:latin typeface="Georgia" pitchFamily="34" charset="0"/>
                <a:ea typeface="Georgia" pitchFamily="34" charset="-122"/>
                <a:cs typeface="Georgia" pitchFamily="34" charset="-120"/>
              </a:rPr>
              <a:t>Evidence-based</a:t>
            </a:r>
            <a:endParaRPr lang="en-US" sz="1900" dirty="0"/>
          </a:p>
        </p:txBody>
      </p:sp>
      <p:sp>
        <p:nvSpPr>
          <p:cNvPr id="22" name="Text 20"/>
          <p:cNvSpPr/>
          <p:nvPr/>
        </p:nvSpPr>
        <p:spPr>
          <a:xfrm>
            <a:off x="6492240" y="5166360"/>
            <a:ext cx="2286000" cy="10058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Five clinical frameworks, one warm voice.</a:t>
            </a:r>
            <a:endParaRPr lang="en-US" sz="1150" dirty="0"/>
          </a:p>
        </p:txBody>
      </p:sp>
      <p:sp>
        <p:nvSpPr>
          <p:cNvPr id="23" name="Shape 21"/>
          <p:cNvSpPr/>
          <p:nvPr/>
        </p:nvSpPr>
        <p:spPr>
          <a:xfrm>
            <a:off x="9052560" y="3794760"/>
            <a:ext cx="2651760" cy="2468880"/>
          </a:xfrm>
          <a:prstGeom prst="rect">
            <a:avLst/>
          </a:prstGeom>
          <a:solidFill>
            <a:srgbClr val="FFFFFF"/>
          </a:solidFill>
          <a:ln w="12700">
            <a:solidFill>
              <a:srgbClr val="E5E0D5"/>
            </a:solidFill>
            <a:prstDash val="solid"/>
          </a:ln>
        </p:spPr>
      </p:sp>
      <p:sp>
        <p:nvSpPr>
          <p:cNvPr id="24" name="Shape 22"/>
          <p:cNvSpPr/>
          <p:nvPr/>
        </p:nvSpPr>
        <p:spPr>
          <a:xfrm>
            <a:off x="9326880" y="4023360"/>
            <a:ext cx="502920" cy="502920"/>
          </a:xfrm>
          <a:prstGeom prst="ellipse">
            <a:avLst/>
          </a:prstGeom>
          <a:solidFill>
            <a:srgbClr val="BD57F2"/>
          </a:solidFill>
          <a:ln w="12700">
            <a:solidFill>
              <a:srgbClr val="BD57F2"/>
            </a:solidFill>
            <a:prstDash val="solid"/>
          </a:ln>
        </p:spPr>
      </p:sp>
      <p:sp>
        <p:nvSpPr>
          <p:cNvPr id="25" name="Text 23"/>
          <p:cNvSpPr/>
          <p:nvPr/>
        </p:nvSpPr>
        <p:spPr>
          <a:xfrm>
            <a:off x="9326880" y="4663440"/>
            <a:ext cx="2286000" cy="457200"/>
          </a:xfrm>
          <a:prstGeom prst="rect">
            <a:avLst/>
          </a:prstGeom>
          <a:noFill/>
          <a:ln/>
        </p:spPr>
        <p:txBody>
          <a:bodyPr wrap="square" lIns="0" tIns="0" rIns="0" bIns="0" rtlCol="0" anchor="ctr"/>
          <a:lstStyle/>
          <a:p>
            <a:pPr indent="0" marL="0">
              <a:buNone/>
            </a:pPr>
            <a:r>
              <a:rPr lang="en-US" sz="1900" b="1" dirty="0">
                <a:solidFill>
                  <a:srgbClr val="1F2540"/>
                </a:solidFill>
                <a:latin typeface="Georgia" pitchFamily="34" charset="0"/>
                <a:ea typeface="Georgia" pitchFamily="34" charset="-122"/>
                <a:cs typeface="Georgia" pitchFamily="34" charset="-120"/>
              </a:rPr>
              <a:t>In-the-moment</a:t>
            </a:r>
            <a:endParaRPr lang="en-US" sz="1900" dirty="0"/>
          </a:p>
        </p:txBody>
      </p:sp>
      <p:sp>
        <p:nvSpPr>
          <p:cNvPr id="26" name="Text 24"/>
          <p:cNvSpPr/>
          <p:nvPr/>
        </p:nvSpPr>
        <p:spPr>
          <a:xfrm>
            <a:off x="9326880" y="5166360"/>
            <a:ext cx="2286000" cy="10058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Opens at 11pm when the fight is still ringing.</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6D35F"/>
          </a:solidFill>
          <a:ln w="12700">
            <a:solidFill>
              <a:srgbClr val="96D35F"/>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07</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6D35F"/>
                </a:solidFill>
                <a:latin typeface="Calibri" pitchFamily="34" charset="0"/>
                <a:ea typeface="Calibri" pitchFamily="34" charset="-122"/>
                <a:cs typeface="Calibri" pitchFamily="34" charset="-120"/>
              </a:rPr>
              <a:t>06 · PRODUCT · FLOW</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The four-step repair: one session, one conversation on the other side.</a:t>
            </a:r>
            <a:endParaRPr lang="en-US" sz="3200" dirty="0"/>
          </a:p>
        </p:txBody>
      </p:sp>
      <p:sp>
        <p:nvSpPr>
          <p:cNvPr id="9" name="Shape 7"/>
          <p:cNvSpPr/>
          <p:nvPr/>
        </p:nvSpPr>
        <p:spPr>
          <a:xfrm>
            <a:off x="914400" y="3017520"/>
            <a:ext cx="10332720" cy="36576"/>
          </a:xfrm>
          <a:prstGeom prst="rect">
            <a:avLst/>
          </a:prstGeom>
          <a:solidFill>
            <a:srgbClr val="E5E0D5"/>
          </a:solidFill>
          <a:ln w="12700">
            <a:solidFill>
              <a:srgbClr val="E5E0D5"/>
            </a:solidFill>
            <a:prstDash val="solid"/>
          </a:ln>
        </p:spPr>
      </p:sp>
      <p:sp>
        <p:nvSpPr>
          <p:cNvPr id="10" name="Shape 8"/>
          <p:cNvSpPr/>
          <p:nvPr/>
        </p:nvSpPr>
        <p:spPr>
          <a:xfrm>
            <a:off x="1508760" y="2651760"/>
            <a:ext cx="822960" cy="822960"/>
          </a:xfrm>
          <a:prstGeom prst="ellipse">
            <a:avLst/>
          </a:prstGeom>
          <a:solidFill>
            <a:srgbClr val="96D35F"/>
          </a:solidFill>
          <a:ln w="12700">
            <a:solidFill>
              <a:srgbClr val="96D35F"/>
            </a:solidFill>
            <a:prstDash val="solid"/>
          </a:ln>
        </p:spPr>
      </p:sp>
      <p:sp>
        <p:nvSpPr>
          <p:cNvPr id="11" name="Text 9"/>
          <p:cNvSpPr/>
          <p:nvPr/>
        </p:nvSpPr>
        <p:spPr>
          <a:xfrm>
            <a:off x="1508760" y="26517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a:t>
            </a:r>
            <a:endParaRPr lang="en-US" sz="2800" dirty="0"/>
          </a:p>
        </p:txBody>
      </p:sp>
      <p:sp>
        <p:nvSpPr>
          <p:cNvPr id="12" name="Shape 10"/>
          <p:cNvSpPr/>
          <p:nvPr/>
        </p:nvSpPr>
        <p:spPr>
          <a:xfrm>
            <a:off x="548640" y="3749040"/>
            <a:ext cx="2651760" cy="2560320"/>
          </a:xfrm>
          <a:prstGeom prst="rect">
            <a:avLst/>
          </a:prstGeom>
          <a:solidFill>
            <a:srgbClr val="FFFFFF"/>
          </a:solidFill>
          <a:ln w="12700">
            <a:solidFill>
              <a:srgbClr val="E5E0D5"/>
            </a:solidFill>
            <a:prstDash val="solid"/>
          </a:ln>
        </p:spPr>
      </p:sp>
      <p:sp>
        <p:nvSpPr>
          <p:cNvPr id="13" name="Shape 11"/>
          <p:cNvSpPr/>
          <p:nvPr/>
        </p:nvSpPr>
        <p:spPr>
          <a:xfrm>
            <a:off x="548640" y="3749040"/>
            <a:ext cx="2651760" cy="91440"/>
          </a:xfrm>
          <a:prstGeom prst="rect">
            <a:avLst/>
          </a:prstGeom>
          <a:solidFill>
            <a:srgbClr val="96D35F"/>
          </a:solidFill>
          <a:ln w="12700">
            <a:solidFill>
              <a:srgbClr val="96D35F"/>
            </a:solidFill>
            <a:prstDash val="solid"/>
          </a:ln>
        </p:spPr>
      </p:sp>
      <p:sp>
        <p:nvSpPr>
          <p:cNvPr id="14" name="Text 12"/>
          <p:cNvSpPr/>
          <p:nvPr/>
        </p:nvSpPr>
        <p:spPr>
          <a:xfrm>
            <a:off x="822960" y="3931920"/>
            <a:ext cx="2286000" cy="457200"/>
          </a:xfrm>
          <a:prstGeom prst="rect">
            <a:avLst/>
          </a:prstGeom>
          <a:noFill/>
          <a:ln/>
        </p:spPr>
        <p:txBody>
          <a:bodyPr wrap="square" lIns="0" tIns="0" rIns="0" bIns="0" rtlCol="0" anchor="ctr"/>
          <a:lstStyle/>
          <a:p>
            <a:pPr indent="0" marL="0">
              <a:buNone/>
            </a:pPr>
            <a:r>
              <a:rPr lang="en-US" sz="2200" b="1" dirty="0">
                <a:solidFill>
                  <a:srgbClr val="1F2540"/>
                </a:solidFill>
                <a:latin typeface="Georgia" pitchFamily="34" charset="0"/>
                <a:ea typeface="Georgia" pitchFamily="34" charset="-122"/>
                <a:cs typeface="Georgia" pitchFamily="34" charset="-120"/>
              </a:rPr>
              <a:t>Vent</a:t>
            </a:r>
            <a:endParaRPr lang="en-US" sz="2200" dirty="0"/>
          </a:p>
        </p:txBody>
      </p:sp>
      <p:sp>
        <p:nvSpPr>
          <p:cNvPr id="15" name="Text 13"/>
          <p:cNvSpPr/>
          <p:nvPr/>
        </p:nvSpPr>
        <p:spPr>
          <a:xfrm>
            <a:off x="822960" y="4434840"/>
            <a:ext cx="2286000" cy="411480"/>
          </a:xfrm>
          <a:prstGeom prst="rect">
            <a:avLst/>
          </a:prstGeom>
          <a:noFill/>
          <a:ln/>
        </p:spPr>
        <p:txBody>
          <a:bodyPr wrap="square" lIns="0" tIns="0" rIns="0" bIns="0" rtlCol="0" anchor="ctr"/>
          <a:lstStyle/>
          <a:p>
            <a:pPr indent="0" marL="0">
              <a:buNone/>
            </a:pPr>
            <a:r>
              <a:rPr lang="en-US" sz="1300" i="1" dirty="0">
                <a:solidFill>
                  <a:srgbClr val="96D35F"/>
                </a:solidFill>
                <a:latin typeface="Georgia" pitchFamily="34" charset="0"/>
                <a:ea typeface="Georgia" pitchFamily="34" charset="-122"/>
                <a:cs typeface="Georgia" pitchFamily="34" charset="-120"/>
              </a:rPr>
              <a:t>Let it all out.</a:t>
            </a:r>
            <a:endParaRPr lang="en-US" sz="1300" dirty="0"/>
          </a:p>
        </p:txBody>
      </p:sp>
      <p:sp>
        <p:nvSpPr>
          <p:cNvPr id="16" name="Text 14"/>
          <p:cNvSpPr/>
          <p:nvPr/>
        </p:nvSpPr>
        <p:spPr>
          <a:xfrm>
            <a:off x="822960" y="4937760"/>
            <a:ext cx="2286000" cy="128016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Unfiltered space. Partner never sees it. Otis listens, reflects, never steers.</a:t>
            </a:r>
            <a:endParaRPr lang="en-US" sz="1100" dirty="0"/>
          </a:p>
        </p:txBody>
      </p:sp>
      <p:sp>
        <p:nvSpPr>
          <p:cNvPr id="17" name="Shape 15"/>
          <p:cNvSpPr/>
          <p:nvPr/>
        </p:nvSpPr>
        <p:spPr>
          <a:xfrm>
            <a:off x="4343400" y="2651760"/>
            <a:ext cx="822960" cy="822960"/>
          </a:xfrm>
          <a:prstGeom prst="ellipse">
            <a:avLst/>
          </a:prstGeom>
          <a:solidFill>
            <a:srgbClr val="92A6F4"/>
          </a:solidFill>
          <a:ln w="12700">
            <a:solidFill>
              <a:srgbClr val="92A6F4"/>
            </a:solidFill>
            <a:prstDash val="solid"/>
          </a:ln>
        </p:spPr>
      </p:sp>
      <p:sp>
        <p:nvSpPr>
          <p:cNvPr id="18" name="Text 16"/>
          <p:cNvSpPr/>
          <p:nvPr/>
        </p:nvSpPr>
        <p:spPr>
          <a:xfrm>
            <a:off x="4343400" y="26517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19" name="Shape 17"/>
          <p:cNvSpPr/>
          <p:nvPr/>
        </p:nvSpPr>
        <p:spPr>
          <a:xfrm>
            <a:off x="3383280" y="3749040"/>
            <a:ext cx="2651760" cy="2560320"/>
          </a:xfrm>
          <a:prstGeom prst="rect">
            <a:avLst/>
          </a:prstGeom>
          <a:solidFill>
            <a:srgbClr val="FFFFFF"/>
          </a:solidFill>
          <a:ln w="12700">
            <a:solidFill>
              <a:srgbClr val="E5E0D5"/>
            </a:solidFill>
            <a:prstDash val="solid"/>
          </a:ln>
        </p:spPr>
      </p:sp>
      <p:sp>
        <p:nvSpPr>
          <p:cNvPr id="20" name="Shape 18"/>
          <p:cNvSpPr/>
          <p:nvPr/>
        </p:nvSpPr>
        <p:spPr>
          <a:xfrm>
            <a:off x="3383280" y="3749040"/>
            <a:ext cx="2651760" cy="91440"/>
          </a:xfrm>
          <a:prstGeom prst="rect">
            <a:avLst/>
          </a:prstGeom>
          <a:solidFill>
            <a:srgbClr val="92A6F4"/>
          </a:solidFill>
          <a:ln w="12700">
            <a:solidFill>
              <a:srgbClr val="92A6F4"/>
            </a:solidFill>
            <a:prstDash val="solid"/>
          </a:ln>
        </p:spPr>
      </p:sp>
      <p:sp>
        <p:nvSpPr>
          <p:cNvPr id="21" name="Text 19"/>
          <p:cNvSpPr/>
          <p:nvPr/>
        </p:nvSpPr>
        <p:spPr>
          <a:xfrm>
            <a:off x="3657600" y="3931920"/>
            <a:ext cx="2286000" cy="457200"/>
          </a:xfrm>
          <a:prstGeom prst="rect">
            <a:avLst/>
          </a:prstGeom>
          <a:noFill/>
          <a:ln/>
        </p:spPr>
        <p:txBody>
          <a:bodyPr wrap="square" lIns="0" tIns="0" rIns="0" bIns="0" rtlCol="0" anchor="ctr"/>
          <a:lstStyle/>
          <a:p>
            <a:pPr indent="0" marL="0">
              <a:buNone/>
            </a:pPr>
            <a:r>
              <a:rPr lang="en-US" sz="2200" b="1" dirty="0">
                <a:solidFill>
                  <a:srgbClr val="1F2540"/>
                </a:solidFill>
                <a:latin typeface="Georgia" pitchFamily="34" charset="0"/>
                <a:ea typeface="Georgia" pitchFamily="34" charset="-122"/>
                <a:cs typeface="Georgia" pitchFamily="34" charset="-120"/>
              </a:rPr>
              <a:t>Understand</a:t>
            </a:r>
            <a:endParaRPr lang="en-US" sz="2200" dirty="0"/>
          </a:p>
        </p:txBody>
      </p:sp>
      <p:sp>
        <p:nvSpPr>
          <p:cNvPr id="22" name="Text 20"/>
          <p:cNvSpPr/>
          <p:nvPr/>
        </p:nvSpPr>
        <p:spPr>
          <a:xfrm>
            <a:off x="3657600" y="4434840"/>
            <a:ext cx="2286000" cy="411480"/>
          </a:xfrm>
          <a:prstGeom prst="rect">
            <a:avLst/>
          </a:prstGeom>
          <a:noFill/>
          <a:ln/>
        </p:spPr>
        <p:txBody>
          <a:bodyPr wrap="square" lIns="0" tIns="0" rIns="0" bIns="0" rtlCol="0" anchor="ctr"/>
          <a:lstStyle/>
          <a:p>
            <a:pPr indent="0" marL="0">
              <a:buNone/>
            </a:pPr>
            <a:r>
              <a:rPr lang="en-US" sz="1300" i="1" dirty="0">
                <a:solidFill>
                  <a:srgbClr val="92A6F4"/>
                </a:solidFill>
                <a:latin typeface="Georgia" pitchFamily="34" charset="0"/>
                <a:ea typeface="Georgia" pitchFamily="34" charset="-122"/>
                <a:cs typeface="Georgia" pitchFamily="34" charset="-120"/>
              </a:rPr>
              <a:t>See what's really going on.</a:t>
            </a:r>
            <a:endParaRPr lang="en-US" sz="1300" dirty="0"/>
          </a:p>
        </p:txBody>
      </p:sp>
      <p:sp>
        <p:nvSpPr>
          <p:cNvPr id="23" name="Text 21"/>
          <p:cNvSpPr/>
          <p:nvPr/>
        </p:nvSpPr>
        <p:spPr>
          <a:xfrm>
            <a:off x="3657600" y="4937760"/>
            <a:ext cx="2286000" cy="128016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Surface the feeling, unmet need, and protective pattern beneath the fight.</a:t>
            </a:r>
            <a:endParaRPr lang="en-US" sz="1100" dirty="0"/>
          </a:p>
        </p:txBody>
      </p:sp>
      <p:sp>
        <p:nvSpPr>
          <p:cNvPr id="24" name="Shape 22"/>
          <p:cNvSpPr/>
          <p:nvPr/>
        </p:nvSpPr>
        <p:spPr>
          <a:xfrm>
            <a:off x="7178040" y="2651760"/>
            <a:ext cx="822960" cy="822960"/>
          </a:xfrm>
          <a:prstGeom prst="ellipse">
            <a:avLst/>
          </a:prstGeom>
          <a:solidFill>
            <a:srgbClr val="F67700"/>
          </a:solidFill>
          <a:ln w="12700">
            <a:solidFill>
              <a:srgbClr val="F67700"/>
            </a:solidFill>
            <a:prstDash val="solid"/>
          </a:ln>
        </p:spPr>
      </p:sp>
      <p:sp>
        <p:nvSpPr>
          <p:cNvPr id="25" name="Text 23"/>
          <p:cNvSpPr/>
          <p:nvPr/>
        </p:nvSpPr>
        <p:spPr>
          <a:xfrm>
            <a:off x="7178040" y="26517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a:t>
            </a:r>
            <a:endParaRPr lang="en-US" sz="2800" dirty="0"/>
          </a:p>
        </p:txBody>
      </p:sp>
      <p:sp>
        <p:nvSpPr>
          <p:cNvPr id="26" name="Shape 24"/>
          <p:cNvSpPr/>
          <p:nvPr/>
        </p:nvSpPr>
        <p:spPr>
          <a:xfrm>
            <a:off x="6217920" y="3749040"/>
            <a:ext cx="2651760" cy="2560320"/>
          </a:xfrm>
          <a:prstGeom prst="rect">
            <a:avLst/>
          </a:prstGeom>
          <a:solidFill>
            <a:srgbClr val="FFFFFF"/>
          </a:solidFill>
          <a:ln w="12700">
            <a:solidFill>
              <a:srgbClr val="E5E0D5"/>
            </a:solidFill>
            <a:prstDash val="solid"/>
          </a:ln>
        </p:spPr>
      </p:sp>
      <p:sp>
        <p:nvSpPr>
          <p:cNvPr id="27" name="Shape 25"/>
          <p:cNvSpPr/>
          <p:nvPr/>
        </p:nvSpPr>
        <p:spPr>
          <a:xfrm>
            <a:off x="6217920" y="3749040"/>
            <a:ext cx="2651760" cy="91440"/>
          </a:xfrm>
          <a:prstGeom prst="rect">
            <a:avLst/>
          </a:prstGeom>
          <a:solidFill>
            <a:srgbClr val="F67700"/>
          </a:solidFill>
          <a:ln w="12700">
            <a:solidFill>
              <a:srgbClr val="F67700"/>
            </a:solidFill>
            <a:prstDash val="solid"/>
          </a:ln>
        </p:spPr>
      </p:sp>
      <p:sp>
        <p:nvSpPr>
          <p:cNvPr id="28" name="Text 26"/>
          <p:cNvSpPr/>
          <p:nvPr/>
        </p:nvSpPr>
        <p:spPr>
          <a:xfrm>
            <a:off x="6492240" y="3931920"/>
            <a:ext cx="2286000" cy="457200"/>
          </a:xfrm>
          <a:prstGeom prst="rect">
            <a:avLst/>
          </a:prstGeom>
          <a:noFill/>
          <a:ln/>
        </p:spPr>
        <p:txBody>
          <a:bodyPr wrap="square" lIns="0" tIns="0" rIns="0" bIns="0" rtlCol="0" anchor="ctr"/>
          <a:lstStyle/>
          <a:p>
            <a:pPr indent="0" marL="0">
              <a:buNone/>
            </a:pPr>
            <a:r>
              <a:rPr lang="en-US" sz="2200" b="1" dirty="0">
                <a:solidFill>
                  <a:srgbClr val="1F2540"/>
                </a:solidFill>
                <a:latin typeface="Georgia" pitchFamily="34" charset="0"/>
                <a:ea typeface="Georgia" pitchFamily="34" charset="-122"/>
                <a:cs typeface="Georgia" pitchFamily="34" charset="-120"/>
              </a:rPr>
              <a:t>Prepare</a:t>
            </a:r>
            <a:endParaRPr lang="en-US" sz="2200" dirty="0"/>
          </a:p>
        </p:txBody>
      </p:sp>
      <p:sp>
        <p:nvSpPr>
          <p:cNvPr id="29" name="Text 27"/>
          <p:cNvSpPr/>
          <p:nvPr/>
        </p:nvSpPr>
        <p:spPr>
          <a:xfrm>
            <a:off x="6492240" y="4434840"/>
            <a:ext cx="2286000" cy="411480"/>
          </a:xfrm>
          <a:prstGeom prst="rect">
            <a:avLst/>
          </a:prstGeom>
          <a:noFill/>
          <a:ln/>
        </p:spPr>
        <p:txBody>
          <a:bodyPr wrap="square" lIns="0" tIns="0" rIns="0" bIns="0" rtlCol="0" anchor="ctr"/>
          <a:lstStyle/>
          <a:p>
            <a:pPr indent="0" marL="0">
              <a:buNone/>
            </a:pPr>
            <a:r>
              <a:rPr lang="en-US" sz="1300" i="1" dirty="0">
                <a:solidFill>
                  <a:srgbClr val="F67700"/>
                </a:solidFill>
                <a:latin typeface="Georgia" pitchFamily="34" charset="0"/>
                <a:ea typeface="Georgia" pitchFamily="34" charset="-122"/>
                <a:cs typeface="Georgia" pitchFamily="34" charset="-120"/>
              </a:rPr>
              <a:t>Find words they can hear.</a:t>
            </a:r>
            <a:endParaRPr lang="en-US" sz="1300" dirty="0"/>
          </a:p>
        </p:txBody>
      </p:sp>
      <p:sp>
        <p:nvSpPr>
          <p:cNvPr id="30" name="Text 28"/>
          <p:cNvSpPr/>
          <p:nvPr/>
        </p:nvSpPr>
        <p:spPr>
          <a:xfrm>
            <a:off x="6492240" y="4937760"/>
            <a:ext cx="2286000" cy="128016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Turn raw feelings into a soft start-up — clear, fair, no blame.</a:t>
            </a:r>
            <a:endParaRPr lang="en-US" sz="1100" dirty="0"/>
          </a:p>
        </p:txBody>
      </p:sp>
      <p:sp>
        <p:nvSpPr>
          <p:cNvPr id="31" name="Shape 29"/>
          <p:cNvSpPr/>
          <p:nvPr/>
        </p:nvSpPr>
        <p:spPr>
          <a:xfrm>
            <a:off x="10012680" y="2651760"/>
            <a:ext cx="822960" cy="822960"/>
          </a:xfrm>
          <a:prstGeom prst="ellipse">
            <a:avLst/>
          </a:prstGeom>
          <a:solidFill>
            <a:srgbClr val="BD57F2"/>
          </a:solidFill>
          <a:ln w="12700">
            <a:solidFill>
              <a:srgbClr val="BD57F2"/>
            </a:solidFill>
            <a:prstDash val="solid"/>
          </a:ln>
        </p:spPr>
      </p:sp>
      <p:sp>
        <p:nvSpPr>
          <p:cNvPr id="32" name="Text 30"/>
          <p:cNvSpPr/>
          <p:nvPr/>
        </p:nvSpPr>
        <p:spPr>
          <a:xfrm>
            <a:off x="10012680" y="26517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4</a:t>
            </a:r>
            <a:endParaRPr lang="en-US" sz="2800" dirty="0"/>
          </a:p>
        </p:txBody>
      </p:sp>
      <p:sp>
        <p:nvSpPr>
          <p:cNvPr id="33" name="Shape 31"/>
          <p:cNvSpPr/>
          <p:nvPr/>
        </p:nvSpPr>
        <p:spPr>
          <a:xfrm>
            <a:off x="9052560" y="3749040"/>
            <a:ext cx="2651760" cy="2560320"/>
          </a:xfrm>
          <a:prstGeom prst="rect">
            <a:avLst/>
          </a:prstGeom>
          <a:solidFill>
            <a:srgbClr val="FFFFFF"/>
          </a:solidFill>
          <a:ln w="12700">
            <a:solidFill>
              <a:srgbClr val="E5E0D5"/>
            </a:solidFill>
            <a:prstDash val="solid"/>
          </a:ln>
        </p:spPr>
      </p:sp>
      <p:sp>
        <p:nvSpPr>
          <p:cNvPr id="34" name="Shape 32"/>
          <p:cNvSpPr/>
          <p:nvPr/>
        </p:nvSpPr>
        <p:spPr>
          <a:xfrm>
            <a:off x="9052560" y="3749040"/>
            <a:ext cx="2651760" cy="91440"/>
          </a:xfrm>
          <a:prstGeom prst="rect">
            <a:avLst/>
          </a:prstGeom>
          <a:solidFill>
            <a:srgbClr val="BD57F2"/>
          </a:solidFill>
          <a:ln w="12700">
            <a:solidFill>
              <a:srgbClr val="BD57F2"/>
            </a:solidFill>
            <a:prstDash val="solid"/>
          </a:ln>
        </p:spPr>
      </p:sp>
      <p:sp>
        <p:nvSpPr>
          <p:cNvPr id="35" name="Text 33"/>
          <p:cNvSpPr/>
          <p:nvPr/>
        </p:nvSpPr>
        <p:spPr>
          <a:xfrm>
            <a:off x="9326880" y="3931920"/>
            <a:ext cx="2286000" cy="457200"/>
          </a:xfrm>
          <a:prstGeom prst="rect">
            <a:avLst/>
          </a:prstGeom>
          <a:noFill/>
          <a:ln/>
        </p:spPr>
        <p:txBody>
          <a:bodyPr wrap="square" lIns="0" tIns="0" rIns="0" bIns="0" rtlCol="0" anchor="ctr"/>
          <a:lstStyle/>
          <a:p>
            <a:pPr indent="0" marL="0">
              <a:buNone/>
            </a:pPr>
            <a:r>
              <a:rPr lang="en-US" sz="2200" b="1" dirty="0">
                <a:solidFill>
                  <a:srgbClr val="1F2540"/>
                </a:solidFill>
                <a:latin typeface="Georgia" pitchFamily="34" charset="0"/>
                <a:ea typeface="Georgia" pitchFamily="34" charset="-122"/>
                <a:cs typeface="Georgia" pitchFamily="34" charset="-120"/>
              </a:rPr>
              <a:t>Nurture</a:t>
            </a:r>
            <a:endParaRPr lang="en-US" sz="2200" dirty="0"/>
          </a:p>
        </p:txBody>
      </p:sp>
      <p:sp>
        <p:nvSpPr>
          <p:cNvPr id="36" name="Text 34"/>
          <p:cNvSpPr/>
          <p:nvPr/>
        </p:nvSpPr>
        <p:spPr>
          <a:xfrm>
            <a:off x="9326880" y="4434840"/>
            <a:ext cx="2286000" cy="411480"/>
          </a:xfrm>
          <a:prstGeom prst="rect">
            <a:avLst/>
          </a:prstGeom>
          <a:noFill/>
          <a:ln/>
        </p:spPr>
        <p:txBody>
          <a:bodyPr wrap="square" lIns="0" tIns="0" rIns="0" bIns="0" rtlCol="0" anchor="ctr"/>
          <a:lstStyle/>
          <a:p>
            <a:pPr indent="0" marL="0">
              <a:buNone/>
            </a:pPr>
            <a:r>
              <a:rPr lang="en-US" sz="1300" i="1" dirty="0">
                <a:solidFill>
                  <a:srgbClr val="BD57F2"/>
                </a:solidFill>
                <a:latin typeface="Georgia" pitchFamily="34" charset="0"/>
                <a:ea typeface="Georgia" pitchFamily="34" charset="-122"/>
                <a:cs typeface="Georgia" pitchFamily="34" charset="-120"/>
              </a:rPr>
              <a:t>Have the conversation.</a:t>
            </a:r>
            <a:endParaRPr lang="en-US" sz="1300" dirty="0"/>
          </a:p>
        </p:txBody>
      </p:sp>
      <p:sp>
        <p:nvSpPr>
          <p:cNvPr id="37" name="Text 35"/>
          <p:cNvSpPr/>
          <p:nvPr/>
        </p:nvSpPr>
        <p:spPr>
          <a:xfrm>
            <a:off x="9326880" y="4937760"/>
            <a:ext cx="2286000" cy="128016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Step-by-step guide: opening line, mid-conflict anchors, how to close with care.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2A6F4"/>
          </a:solidFill>
          <a:ln w="12700">
            <a:solidFill>
              <a:srgbClr val="92A6F4"/>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08</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2A6F4"/>
                </a:solidFill>
                <a:latin typeface="Calibri" pitchFamily="34" charset="0"/>
                <a:ea typeface="Calibri" pitchFamily="34" charset="-122"/>
                <a:cs typeface="Calibri" pitchFamily="34" charset="-120"/>
              </a:rPr>
              <a:t>07 · PRODUCT · PERSONALISATION</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Five assessments × two partners = a proprietary relationship map.</a:t>
            </a:r>
            <a:endParaRPr lang="en-US" sz="3200" dirty="0"/>
          </a:p>
        </p:txBody>
      </p:sp>
      <p:sp>
        <p:nvSpPr>
          <p:cNvPr id="9" name="Text 7"/>
          <p:cNvSpPr/>
          <p:nvPr/>
        </p:nvSpPr>
        <p:spPr>
          <a:xfrm>
            <a:off x="457200" y="1417320"/>
            <a:ext cx="11247120" cy="457200"/>
          </a:xfrm>
          <a:prstGeom prst="rect">
            <a:avLst/>
          </a:prstGeom>
          <a:noFill/>
          <a:ln/>
        </p:spPr>
        <p:txBody>
          <a:bodyPr wrap="square" lIns="0" tIns="0" rIns="0" bIns="0" rtlCol="0" anchor="ctr"/>
          <a:lstStyle/>
          <a:p>
            <a:pPr indent="0" marL="0">
              <a:buNone/>
            </a:pPr>
            <a:r>
              <a:rPr lang="en-US" sz="1500" i="1" dirty="0">
                <a:solidFill>
                  <a:srgbClr val="6B6A63"/>
                </a:solidFill>
                <a:latin typeface="Calibri" pitchFamily="34" charset="0"/>
                <a:ea typeface="Calibri" pitchFamily="34" charset="-122"/>
                <a:cs typeface="Calibri" pitchFamily="34" charset="-120"/>
              </a:rPr>
              <a:t>Every Otis response is shaped by your attachment style, love language, conflict pattern — and your partner's.</a:t>
            </a:r>
            <a:endParaRPr lang="en-US" sz="1500" dirty="0"/>
          </a:p>
        </p:txBody>
      </p:sp>
      <p:sp>
        <p:nvSpPr>
          <p:cNvPr id="10" name="Shape 8"/>
          <p:cNvSpPr/>
          <p:nvPr/>
        </p:nvSpPr>
        <p:spPr>
          <a:xfrm>
            <a:off x="548640" y="2468880"/>
            <a:ext cx="2148840" cy="3108960"/>
          </a:xfrm>
          <a:prstGeom prst="rect">
            <a:avLst/>
          </a:prstGeom>
          <a:solidFill>
            <a:srgbClr val="FFFFFF"/>
          </a:solidFill>
          <a:ln w="12700">
            <a:solidFill>
              <a:srgbClr val="E5E0D5"/>
            </a:solidFill>
            <a:prstDash val="solid"/>
          </a:ln>
        </p:spPr>
      </p:sp>
      <p:sp>
        <p:nvSpPr>
          <p:cNvPr id="11" name="Shape 9"/>
          <p:cNvSpPr/>
          <p:nvPr/>
        </p:nvSpPr>
        <p:spPr>
          <a:xfrm>
            <a:off x="1325880" y="2697480"/>
            <a:ext cx="594360" cy="594360"/>
          </a:xfrm>
          <a:prstGeom prst="ellipse">
            <a:avLst/>
          </a:prstGeom>
          <a:solidFill>
            <a:srgbClr val="F67700"/>
          </a:solidFill>
          <a:ln w="12700">
            <a:solidFill>
              <a:srgbClr val="F67700"/>
            </a:solidFill>
            <a:prstDash val="solid"/>
          </a:ln>
        </p:spPr>
      </p:sp>
      <p:sp>
        <p:nvSpPr>
          <p:cNvPr id="12" name="Text 10"/>
          <p:cNvSpPr/>
          <p:nvPr/>
        </p:nvSpPr>
        <p:spPr>
          <a:xfrm>
            <a:off x="1325880" y="269748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01</a:t>
            </a:r>
            <a:endParaRPr lang="en-US" sz="1300" dirty="0"/>
          </a:p>
        </p:txBody>
      </p:sp>
      <p:sp>
        <p:nvSpPr>
          <p:cNvPr id="13" name="Text 11"/>
          <p:cNvSpPr/>
          <p:nvPr/>
        </p:nvSpPr>
        <p:spPr>
          <a:xfrm>
            <a:off x="731520" y="3429000"/>
            <a:ext cx="1828800" cy="457200"/>
          </a:xfrm>
          <a:prstGeom prst="rect">
            <a:avLst/>
          </a:prstGeom>
          <a:noFill/>
          <a:ln/>
        </p:spPr>
        <p:txBody>
          <a:bodyPr wrap="square" lIns="0" tIns="0" rIns="0" bIns="0" rtlCol="0" anchor="ctr"/>
          <a:lstStyle/>
          <a:p>
            <a:pPr algn="ctr" indent="0" marL="0">
              <a:buNone/>
            </a:pPr>
            <a:r>
              <a:rPr lang="en-US" sz="1500" b="1" dirty="0">
                <a:solidFill>
                  <a:srgbClr val="1F2540"/>
                </a:solidFill>
                <a:latin typeface="Georgia" pitchFamily="34" charset="0"/>
                <a:ea typeface="Georgia" pitchFamily="34" charset="-122"/>
                <a:cs typeface="Georgia" pitchFamily="34" charset="-120"/>
              </a:rPr>
              <a:t>Attachment</a:t>
            </a:r>
            <a:endParaRPr lang="en-US" sz="1500" dirty="0"/>
          </a:p>
        </p:txBody>
      </p:sp>
      <p:sp>
        <p:nvSpPr>
          <p:cNvPr id="14" name="Text 12"/>
          <p:cNvSpPr/>
          <p:nvPr/>
        </p:nvSpPr>
        <p:spPr>
          <a:xfrm>
            <a:off x="731520" y="3931920"/>
            <a:ext cx="1828800" cy="1463040"/>
          </a:xfrm>
          <a:prstGeom prst="rect">
            <a:avLst/>
          </a:prstGeom>
          <a:noFill/>
          <a:ln/>
        </p:spPr>
        <p:txBody>
          <a:bodyPr wrap="square" lIns="0" tIns="0" rIns="0" bIns="0" rtlCol="0" anchor="ctr"/>
          <a:lstStyle/>
          <a:p>
            <a:pPr algn="ctr" indent="0" marL="0">
              <a:buNone/>
            </a:pPr>
            <a:r>
              <a:rPr lang="en-US" sz="1050" dirty="0">
                <a:solidFill>
                  <a:srgbClr val="2A2D34"/>
                </a:solidFill>
                <a:latin typeface="Calibri" pitchFamily="34" charset="0"/>
                <a:ea typeface="Calibri" pitchFamily="34" charset="-122"/>
                <a:cs typeface="Calibri" pitchFamily="34" charset="-120"/>
              </a:rPr>
              <a:t>Secure / Anxious / Avoidant / Disorganised</a:t>
            </a:r>
            <a:endParaRPr lang="en-US" sz="1050" dirty="0"/>
          </a:p>
        </p:txBody>
      </p:sp>
      <p:sp>
        <p:nvSpPr>
          <p:cNvPr id="15" name="Shape 13"/>
          <p:cNvSpPr/>
          <p:nvPr/>
        </p:nvSpPr>
        <p:spPr>
          <a:xfrm>
            <a:off x="2834640" y="2468880"/>
            <a:ext cx="2148840" cy="3108960"/>
          </a:xfrm>
          <a:prstGeom prst="rect">
            <a:avLst/>
          </a:prstGeom>
          <a:solidFill>
            <a:srgbClr val="FFFFFF"/>
          </a:solidFill>
          <a:ln w="12700">
            <a:solidFill>
              <a:srgbClr val="E5E0D5"/>
            </a:solidFill>
            <a:prstDash val="solid"/>
          </a:ln>
        </p:spPr>
      </p:sp>
      <p:sp>
        <p:nvSpPr>
          <p:cNvPr id="16" name="Shape 14"/>
          <p:cNvSpPr/>
          <p:nvPr/>
        </p:nvSpPr>
        <p:spPr>
          <a:xfrm>
            <a:off x="3611880" y="2697480"/>
            <a:ext cx="594360" cy="594360"/>
          </a:xfrm>
          <a:prstGeom prst="ellipse">
            <a:avLst/>
          </a:prstGeom>
          <a:solidFill>
            <a:srgbClr val="E3B341"/>
          </a:solidFill>
          <a:ln w="12700">
            <a:solidFill>
              <a:srgbClr val="E3B341"/>
            </a:solidFill>
            <a:prstDash val="solid"/>
          </a:ln>
        </p:spPr>
      </p:sp>
      <p:sp>
        <p:nvSpPr>
          <p:cNvPr id="17" name="Text 15"/>
          <p:cNvSpPr/>
          <p:nvPr/>
        </p:nvSpPr>
        <p:spPr>
          <a:xfrm>
            <a:off x="3611880" y="269748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02</a:t>
            </a:r>
            <a:endParaRPr lang="en-US" sz="1300" dirty="0"/>
          </a:p>
        </p:txBody>
      </p:sp>
      <p:sp>
        <p:nvSpPr>
          <p:cNvPr id="18" name="Text 16"/>
          <p:cNvSpPr/>
          <p:nvPr/>
        </p:nvSpPr>
        <p:spPr>
          <a:xfrm>
            <a:off x="3017520" y="3429000"/>
            <a:ext cx="1828800" cy="457200"/>
          </a:xfrm>
          <a:prstGeom prst="rect">
            <a:avLst/>
          </a:prstGeom>
          <a:noFill/>
          <a:ln/>
        </p:spPr>
        <p:txBody>
          <a:bodyPr wrap="square" lIns="0" tIns="0" rIns="0" bIns="0" rtlCol="0" anchor="ctr"/>
          <a:lstStyle/>
          <a:p>
            <a:pPr algn="ctr" indent="0" marL="0">
              <a:buNone/>
            </a:pPr>
            <a:r>
              <a:rPr lang="en-US" sz="1500" b="1" dirty="0">
                <a:solidFill>
                  <a:srgbClr val="1F2540"/>
                </a:solidFill>
                <a:latin typeface="Georgia" pitchFamily="34" charset="0"/>
                <a:ea typeface="Georgia" pitchFamily="34" charset="-122"/>
                <a:cs typeface="Georgia" pitchFamily="34" charset="-120"/>
              </a:rPr>
              <a:t>Love Language</a:t>
            </a:r>
            <a:endParaRPr lang="en-US" sz="1500" dirty="0"/>
          </a:p>
        </p:txBody>
      </p:sp>
      <p:sp>
        <p:nvSpPr>
          <p:cNvPr id="19" name="Text 17"/>
          <p:cNvSpPr/>
          <p:nvPr/>
        </p:nvSpPr>
        <p:spPr>
          <a:xfrm>
            <a:off x="3017520" y="3931920"/>
            <a:ext cx="1828800" cy="1463040"/>
          </a:xfrm>
          <a:prstGeom prst="rect">
            <a:avLst/>
          </a:prstGeom>
          <a:noFill/>
          <a:ln/>
        </p:spPr>
        <p:txBody>
          <a:bodyPr wrap="square" lIns="0" tIns="0" rIns="0" bIns="0" rtlCol="0" anchor="ctr"/>
          <a:lstStyle/>
          <a:p>
            <a:pPr algn="ctr" indent="0" marL="0">
              <a:buNone/>
            </a:pPr>
            <a:r>
              <a:rPr lang="en-US" sz="1050" dirty="0">
                <a:solidFill>
                  <a:srgbClr val="2A2D34"/>
                </a:solidFill>
                <a:latin typeface="Calibri" pitchFamily="34" charset="0"/>
                <a:ea typeface="Calibri" pitchFamily="34" charset="-122"/>
                <a:cs typeface="Calibri" pitchFamily="34" charset="-120"/>
              </a:rPr>
              <a:t>Words / Acts / Gifts / Time / Touch</a:t>
            </a:r>
            <a:endParaRPr lang="en-US" sz="1050" dirty="0"/>
          </a:p>
        </p:txBody>
      </p:sp>
      <p:sp>
        <p:nvSpPr>
          <p:cNvPr id="20" name="Shape 18"/>
          <p:cNvSpPr/>
          <p:nvPr/>
        </p:nvSpPr>
        <p:spPr>
          <a:xfrm>
            <a:off x="5120640" y="2468880"/>
            <a:ext cx="2148840" cy="3108960"/>
          </a:xfrm>
          <a:prstGeom prst="rect">
            <a:avLst/>
          </a:prstGeom>
          <a:solidFill>
            <a:srgbClr val="FFFFFF"/>
          </a:solidFill>
          <a:ln w="12700">
            <a:solidFill>
              <a:srgbClr val="E5E0D5"/>
            </a:solidFill>
            <a:prstDash val="solid"/>
          </a:ln>
        </p:spPr>
      </p:sp>
      <p:sp>
        <p:nvSpPr>
          <p:cNvPr id="21" name="Shape 19"/>
          <p:cNvSpPr/>
          <p:nvPr/>
        </p:nvSpPr>
        <p:spPr>
          <a:xfrm>
            <a:off x="5897880" y="2697480"/>
            <a:ext cx="594360" cy="594360"/>
          </a:xfrm>
          <a:prstGeom prst="ellipse">
            <a:avLst/>
          </a:prstGeom>
          <a:solidFill>
            <a:srgbClr val="BD57F2"/>
          </a:solidFill>
          <a:ln w="12700">
            <a:solidFill>
              <a:srgbClr val="BD57F2"/>
            </a:solidFill>
            <a:prstDash val="solid"/>
          </a:ln>
        </p:spPr>
      </p:sp>
      <p:sp>
        <p:nvSpPr>
          <p:cNvPr id="22" name="Text 20"/>
          <p:cNvSpPr/>
          <p:nvPr/>
        </p:nvSpPr>
        <p:spPr>
          <a:xfrm>
            <a:off x="5897880" y="269748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03</a:t>
            </a:r>
            <a:endParaRPr lang="en-US" sz="1300" dirty="0"/>
          </a:p>
        </p:txBody>
      </p:sp>
      <p:sp>
        <p:nvSpPr>
          <p:cNvPr id="23" name="Text 21"/>
          <p:cNvSpPr/>
          <p:nvPr/>
        </p:nvSpPr>
        <p:spPr>
          <a:xfrm>
            <a:off x="5303520" y="3429000"/>
            <a:ext cx="1828800" cy="457200"/>
          </a:xfrm>
          <a:prstGeom prst="rect">
            <a:avLst/>
          </a:prstGeom>
          <a:noFill/>
          <a:ln/>
        </p:spPr>
        <p:txBody>
          <a:bodyPr wrap="square" lIns="0" tIns="0" rIns="0" bIns="0" rtlCol="0" anchor="ctr"/>
          <a:lstStyle/>
          <a:p>
            <a:pPr algn="ctr" indent="0" marL="0">
              <a:buNone/>
            </a:pPr>
            <a:r>
              <a:rPr lang="en-US" sz="1500" b="1" dirty="0">
                <a:solidFill>
                  <a:srgbClr val="1F2540"/>
                </a:solidFill>
                <a:latin typeface="Georgia" pitchFamily="34" charset="0"/>
                <a:ea typeface="Georgia" pitchFamily="34" charset="-122"/>
                <a:cs typeface="Georgia" pitchFamily="34" charset="-120"/>
              </a:rPr>
              <a:t>Conflict Style</a:t>
            </a:r>
            <a:endParaRPr lang="en-US" sz="1500" dirty="0"/>
          </a:p>
        </p:txBody>
      </p:sp>
      <p:sp>
        <p:nvSpPr>
          <p:cNvPr id="24" name="Text 22"/>
          <p:cNvSpPr/>
          <p:nvPr/>
        </p:nvSpPr>
        <p:spPr>
          <a:xfrm>
            <a:off x="5303520" y="3931920"/>
            <a:ext cx="1828800" cy="1463040"/>
          </a:xfrm>
          <a:prstGeom prst="rect">
            <a:avLst/>
          </a:prstGeom>
          <a:noFill/>
          <a:ln/>
        </p:spPr>
        <p:txBody>
          <a:bodyPr wrap="square" lIns="0" tIns="0" rIns="0" bIns="0" rtlCol="0" anchor="ctr"/>
          <a:lstStyle/>
          <a:p>
            <a:pPr algn="ctr" indent="0" marL="0">
              <a:buNone/>
            </a:pPr>
            <a:r>
              <a:rPr lang="en-US" sz="1050" dirty="0">
                <a:solidFill>
                  <a:srgbClr val="2A2D34"/>
                </a:solidFill>
                <a:latin typeface="Calibri" pitchFamily="34" charset="0"/>
                <a:ea typeface="Calibri" pitchFamily="34" charset="-122"/>
                <a:cs typeface="Calibri" pitchFamily="34" charset="-120"/>
              </a:rPr>
              <a:t>Volatile / Validating / Avoidant / Hostile</a:t>
            </a:r>
            <a:endParaRPr lang="en-US" sz="1050" dirty="0"/>
          </a:p>
        </p:txBody>
      </p:sp>
      <p:sp>
        <p:nvSpPr>
          <p:cNvPr id="25" name="Shape 23"/>
          <p:cNvSpPr/>
          <p:nvPr/>
        </p:nvSpPr>
        <p:spPr>
          <a:xfrm>
            <a:off x="7406640" y="2468880"/>
            <a:ext cx="2148840" cy="3108960"/>
          </a:xfrm>
          <a:prstGeom prst="rect">
            <a:avLst/>
          </a:prstGeom>
          <a:solidFill>
            <a:srgbClr val="FFFFFF"/>
          </a:solidFill>
          <a:ln w="12700">
            <a:solidFill>
              <a:srgbClr val="E5E0D5"/>
            </a:solidFill>
            <a:prstDash val="solid"/>
          </a:ln>
        </p:spPr>
      </p:sp>
      <p:sp>
        <p:nvSpPr>
          <p:cNvPr id="26" name="Shape 24"/>
          <p:cNvSpPr/>
          <p:nvPr/>
        </p:nvSpPr>
        <p:spPr>
          <a:xfrm>
            <a:off x="8183880" y="2697480"/>
            <a:ext cx="594360" cy="594360"/>
          </a:xfrm>
          <a:prstGeom prst="ellipse">
            <a:avLst/>
          </a:prstGeom>
          <a:solidFill>
            <a:srgbClr val="96D35F"/>
          </a:solidFill>
          <a:ln w="12700">
            <a:solidFill>
              <a:srgbClr val="96D35F"/>
            </a:solidFill>
            <a:prstDash val="solid"/>
          </a:ln>
        </p:spPr>
      </p:sp>
      <p:sp>
        <p:nvSpPr>
          <p:cNvPr id="27" name="Text 25"/>
          <p:cNvSpPr/>
          <p:nvPr/>
        </p:nvSpPr>
        <p:spPr>
          <a:xfrm>
            <a:off x="8183880" y="269748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04</a:t>
            </a:r>
            <a:endParaRPr lang="en-US" sz="1300" dirty="0"/>
          </a:p>
        </p:txBody>
      </p:sp>
      <p:sp>
        <p:nvSpPr>
          <p:cNvPr id="28" name="Text 26"/>
          <p:cNvSpPr/>
          <p:nvPr/>
        </p:nvSpPr>
        <p:spPr>
          <a:xfrm>
            <a:off x="7589520" y="3429000"/>
            <a:ext cx="1828800" cy="457200"/>
          </a:xfrm>
          <a:prstGeom prst="rect">
            <a:avLst/>
          </a:prstGeom>
          <a:noFill/>
          <a:ln/>
        </p:spPr>
        <p:txBody>
          <a:bodyPr wrap="square" lIns="0" tIns="0" rIns="0" bIns="0" rtlCol="0" anchor="ctr"/>
          <a:lstStyle/>
          <a:p>
            <a:pPr algn="ctr" indent="0" marL="0">
              <a:buNone/>
            </a:pPr>
            <a:r>
              <a:rPr lang="en-US" sz="1500" b="1" dirty="0">
                <a:solidFill>
                  <a:srgbClr val="1F2540"/>
                </a:solidFill>
                <a:latin typeface="Georgia" pitchFamily="34" charset="0"/>
                <a:ea typeface="Georgia" pitchFamily="34" charset="-122"/>
                <a:cs typeface="Georgia" pitchFamily="34" charset="-120"/>
              </a:rPr>
              <a:t>Body in Conflict</a:t>
            </a:r>
            <a:endParaRPr lang="en-US" sz="1500" dirty="0"/>
          </a:p>
        </p:txBody>
      </p:sp>
      <p:sp>
        <p:nvSpPr>
          <p:cNvPr id="29" name="Text 27"/>
          <p:cNvSpPr/>
          <p:nvPr/>
        </p:nvSpPr>
        <p:spPr>
          <a:xfrm>
            <a:off x="7589520" y="3931920"/>
            <a:ext cx="1828800" cy="1463040"/>
          </a:xfrm>
          <a:prstGeom prst="rect">
            <a:avLst/>
          </a:prstGeom>
          <a:noFill/>
          <a:ln/>
        </p:spPr>
        <p:txBody>
          <a:bodyPr wrap="square" lIns="0" tIns="0" rIns="0" bIns="0" rtlCol="0" anchor="ctr"/>
          <a:lstStyle/>
          <a:p>
            <a:pPr algn="ctr" indent="0" marL="0">
              <a:buNone/>
            </a:pPr>
            <a:r>
              <a:rPr lang="en-US" sz="1050" dirty="0">
                <a:solidFill>
                  <a:srgbClr val="2A2D34"/>
                </a:solidFill>
                <a:latin typeface="Calibri" pitchFamily="34" charset="0"/>
                <a:ea typeface="Calibri" pitchFamily="34" charset="-122"/>
                <a:cs typeface="Calibri" pitchFamily="34" charset="-120"/>
              </a:rPr>
              <a:t>Window of tolerance + regulation profile</a:t>
            </a:r>
            <a:endParaRPr lang="en-US" sz="1050" dirty="0"/>
          </a:p>
        </p:txBody>
      </p:sp>
      <p:sp>
        <p:nvSpPr>
          <p:cNvPr id="30" name="Shape 28"/>
          <p:cNvSpPr/>
          <p:nvPr/>
        </p:nvSpPr>
        <p:spPr>
          <a:xfrm>
            <a:off x="9692640" y="2468880"/>
            <a:ext cx="2148840" cy="3108960"/>
          </a:xfrm>
          <a:prstGeom prst="rect">
            <a:avLst/>
          </a:prstGeom>
          <a:solidFill>
            <a:srgbClr val="FFFFFF"/>
          </a:solidFill>
          <a:ln w="12700">
            <a:solidFill>
              <a:srgbClr val="E5E0D5"/>
            </a:solidFill>
            <a:prstDash val="solid"/>
          </a:ln>
        </p:spPr>
      </p:sp>
      <p:sp>
        <p:nvSpPr>
          <p:cNvPr id="31" name="Shape 29"/>
          <p:cNvSpPr/>
          <p:nvPr/>
        </p:nvSpPr>
        <p:spPr>
          <a:xfrm>
            <a:off x="10469880" y="2697480"/>
            <a:ext cx="594360" cy="594360"/>
          </a:xfrm>
          <a:prstGeom prst="ellipse">
            <a:avLst/>
          </a:prstGeom>
          <a:solidFill>
            <a:srgbClr val="92A6F4"/>
          </a:solidFill>
          <a:ln w="12700">
            <a:solidFill>
              <a:srgbClr val="92A6F4"/>
            </a:solidFill>
            <a:prstDash val="solid"/>
          </a:ln>
        </p:spPr>
      </p:sp>
      <p:sp>
        <p:nvSpPr>
          <p:cNvPr id="32" name="Text 30"/>
          <p:cNvSpPr/>
          <p:nvPr/>
        </p:nvSpPr>
        <p:spPr>
          <a:xfrm>
            <a:off x="10469880" y="2697480"/>
            <a:ext cx="594360"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05</a:t>
            </a:r>
            <a:endParaRPr lang="en-US" sz="1300" dirty="0"/>
          </a:p>
        </p:txBody>
      </p:sp>
      <p:sp>
        <p:nvSpPr>
          <p:cNvPr id="33" name="Text 31"/>
          <p:cNvSpPr/>
          <p:nvPr/>
        </p:nvSpPr>
        <p:spPr>
          <a:xfrm>
            <a:off x="9875520" y="3429000"/>
            <a:ext cx="1828800" cy="457200"/>
          </a:xfrm>
          <a:prstGeom prst="rect">
            <a:avLst/>
          </a:prstGeom>
          <a:noFill/>
          <a:ln/>
        </p:spPr>
        <p:txBody>
          <a:bodyPr wrap="square" lIns="0" tIns="0" rIns="0" bIns="0" rtlCol="0" anchor="ctr"/>
          <a:lstStyle/>
          <a:p>
            <a:pPr algn="ctr" indent="0" marL="0">
              <a:buNone/>
            </a:pPr>
            <a:r>
              <a:rPr lang="en-US" sz="1500" b="1" dirty="0">
                <a:solidFill>
                  <a:srgbClr val="1F2540"/>
                </a:solidFill>
                <a:latin typeface="Georgia" pitchFamily="34" charset="0"/>
                <a:ea typeface="Georgia" pitchFamily="34" charset="-122"/>
                <a:cs typeface="Georgia" pitchFamily="34" charset="-120"/>
              </a:rPr>
              <a:t>Core Need</a:t>
            </a:r>
            <a:endParaRPr lang="en-US" sz="1500" dirty="0"/>
          </a:p>
        </p:txBody>
      </p:sp>
      <p:sp>
        <p:nvSpPr>
          <p:cNvPr id="34" name="Text 32"/>
          <p:cNvSpPr/>
          <p:nvPr/>
        </p:nvSpPr>
        <p:spPr>
          <a:xfrm>
            <a:off x="9875520" y="3931920"/>
            <a:ext cx="1828800" cy="1463040"/>
          </a:xfrm>
          <a:prstGeom prst="rect">
            <a:avLst/>
          </a:prstGeom>
          <a:noFill/>
          <a:ln/>
        </p:spPr>
        <p:txBody>
          <a:bodyPr wrap="square" lIns="0" tIns="0" rIns="0" bIns="0" rtlCol="0" anchor="ctr"/>
          <a:lstStyle/>
          <a:p>
            <a:pPr algn="ctr" indent="0" marL="0">
              <a:buNone/>
            </a:pPr>
            <a:r>
              <a:rPr lang="en-US" sz="1050" dirty="0">
                <a:solidFill>
                  <a:srgbClr val="2A2D34"/>
                </a:solidFill>
                <a:latin typeface="Calibri" pitchFamily="34" charset="0"/>
                <a:ea typeface="Calibri" pitchFamily="34" charset="-122"/>
                <a:cs typeface="Calibri" pitchFamily="34" charset="-120"/>
              </a:rPr>
              <a:t>Safety / Respect / Closeness / Autonomy / Recognition</a:t>
            </a:r>
            <a:endParaRPr lang="en-US" sz="1050" dirty="0"/>
          </a:p>
        </p:txBody>
      </p:sp>
      <p:sp>
        <p:nvSpPr>
          <p:cNvPr id="35" name="Shape 33"/>
          <p:cNvSpPr/>
          <p:nvPr/>
        </p:nvSpPr>
        <p:spPr>
          <a:xfrm>
            <a:off x="548640" y="5760720"/>
            <a:ext cx="11155680" cy="640080"/>
          </a:xfrm>
          <a:prstGeom prst="rect">
            <a:avLst/>
          </a:prstGeom>
          <a:solidFill>
            <a:srgbClr val="1F2540"/>
          </a:solidFill>
          <a:ln w="12700">
            <a:solidFill>
              <a:srgbClr val="1F2540"/>
            </a:solidFill>
            <a:prstDash val="solid"/>
          </a:ln>
        </p:spPr>
      </p:sp>
      <p:sp>
        <p:nvSpPr>
          <p:cNvPr id="36" name="Text 34"/>
          <p:cNvSpPr/>
          <p:nvPr/>
        </p:nvSpPr>
        <p:spPr>
          <a:xfrm>
            <a:off x="822960" y="5760720"/>
            <a:ext cx="10607040" cy="640080"/>
          </a:xfrm>
          <a:prstGeom prst="rect">
            <a:avLst/>
          </a:prstGeom>
          <a:noFill/>
          <a:ln/>
        </p:spPr>
        <p:txBody>
          <a:bodyPr wrap="square" lIns="0" tIns="0" rIns="0" bIns="0" rtlCol="0" anchor="ctr"/>
          <a:lstStyle/>
          <a:p>
            <a:pPr indent="0" marL="0">
              <a:buNone/>
            </a:pPr>
            <a:r>
              <a:rPr lang="en-US" sz="1200" b="1" dirty="0">
                <a:solidFill>
                  <a:srgbClr val="FAF7F2"/>
                </a:solidFill>
                <a:latin typeface="Calibri" pitchFamily="34" charset="0"/>
                <a:ea typeface="Calibri" pitchFamily="34" charset="-122"/>
                <a:cs typeface="Calibri" pitchFamily="34" charset="-120"/>
              </a:rPr>
              <a:t>Defensible by construction:  </a:t>
            </a:r>
            <a:pPr indent="0" marL="0">
              <a:buNone/>
            </a:pPr>
            <a:r>
              <a:rPr lang="en-US" sz="1200" dirty="0">
                <a:solidFill>
                  <a:srgbClr val="B9C4E0"/>
                </a:solidFill>
                <a:latin typeface="Calibri" pitchFamily="34" charset="0"/>
                <a:ea typeface="Calibri" pitchFamily="34" charset="-122"/>
                <a:cs typeface="Calibri" pitchFamily="34" charset="-120"/>
              </a:rPr>
              <a:t>5 × 2 profiles generate ~1.2M unique couple archetypes. The longer a couple uses Otis, the harder it is for a competitor to replicate the fit.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F67700"/>
          </a:solidFill>
          <a:ln w="12700">
            <a:solidFill>
              <a:srgbClr val="F67700"/>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09</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F67700"/>
                </a:solidFill>
                <a:latin typeface="Calibri" pitchFamily="34" charset="0"/>
                <a:ea typeface="Calibri" pitchFamily="34" charset="-122"/>
                <a:cs typeface="Calibri" pitchFamily="34" charset="-120"/>
              </a:rPr>
              <a:t>08 · PRODUCT · PRIVACY MODEL</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The private-vent layer is the single feature no shared-journal competitor can copy.</a:t>
            </a:r>
            <a:endParaRPr lang="en-US" sz="3200" dirty="0"/>
          </a:p>
        </p:txBody>
      </p:sp>
      <p:sp>
        <p:nvSpPr>
          <p:cNvPr id="9" name="Shape 7"/>
          <p:cNvSpPr/>
          <p:nvPr/>
        </p:nvSpPr>
        <p:spPr>
          <a:xfrm>
            <a:off x="548640" y="2103120"/>
            <a:ext cx="5532120" cy="4297680"/>
          </a:xfrm>
          <a:prstGeom prst="rect">
            <a:avLst/>
          </a:prstGeom>
          <a:solidFill>
            <a:srgbClr val="FFFFFF"/>
          </a:solidFill>
          <a:ln w="12700">
            <a:solidFill>
              <a:srgbClr val="E5E0D5"/>
            </a:solidFill>
            <a:prstDash val="solid"/>
          </a:ln>
        </p:spPr>
      </p:sp>
      <p:sp>
        <p:nvSpPr>
          <p:cNvPr id="10" name="Shape 8"/>
          <p:cNvSpPr/>
          <p:nvPr/>
        </p:nvSpPr>
        <p:spPr>
          <a:xfrm>
            <a:off x="548640" y="2103120"/>
            <a:ext cx="5532120" cy="548640"/>
          </a:xfrm>
          <a:prstGeom prst="rect">
            <a:avLst/>
          </a:prstGeom>
          <a:solidFill>
            <a:srgbClr val="6B6A63"/>
          </a:solidFill>
          <a:ln w="12700">
            <a:solidFill>
              <a:srgbClr val="6B6A63"/>
            </a:solidFill>
            <a:prstDash val="solid"/>
          </a:ln>
        </p:spPr>
      </p:sp>
      <p:sp>
        <p:nvSpPr>
          <p:cNvPr id="11" name="Text 9"/>
          <p:cNvSpPr/>
          <p:nvPr/>
        </p:nvSpPr>
        <p:spPr>
          <a:xfrm>
            <a:off x="822960" y="2148840"/>
            <a:ext cx="5212080" cy="45720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Shared-journal apps</a:t>
            </a:r>
            <a:endParaRPr lang="en-US" sz="1600" dirty="0"/>
          </a:p>
        </p:txBody>
      </p:sp>
      <p:sp>
        <p:nvSpPr>
          <p:cNvPr id="12" name="Text 10"/>
          <p:cNvSpPr/>
          <p:nvPr/>
        </p:nvSpPr>
        <p:spPr>
          <a:xfrm>
            <a:off x="822960" y="2743200"/>
            <a:ext cx="5212080" cy="320040"/>
          </a:xfrm>
          <a:prstGeom prst="rect">
            <a:avLst/>
          </a:prstGeom>
          <a:noFill/>
          <a:ln/>
        </p:spPr>
        <p:txBody>
          <a:bodyPr wrap="square" lIns="0" tIns="0" rIns="0" bIns="0" rtlCol="0" anchor="ctr"/>
          <a:lstStyle/>
          <a:p>
            <a:pPr indent="0" marL="0">
              <a:buNone/>
            </a:pPr>
            <a:r>
              <a:rPr lang="en-US" sz="1100" i="1" dirty="0">
                <a:solidFill>
                  <a:srgbClr val="6B6A63"/>
                </a:solidFill>
                <a:latin typeface="Calibri" pitchFamily="34" charset="0"/>
                <a:ea typeface="Calibri" pitchFamily="34" charset="-122"/>
                <a:cs typeface="Calibri" pitchFamily="34" charset="-120"/>
              </a:rPr>
              <a:t>Paired, Lasting, Relish</a:t>
            </a:r>
            <a:endParaRPr lang="en-US" sz="1100" dirty="0"/>
          </a:p>
        </p:txBody>
      </p:sp>
      <p:sp>
        <p:nvSpPr>
          <p:cNvPr id="13" name="Shape 11"/>
          <p:cNvSpPr/>
          <p:nvPr/>
        </p:nvSpPr>
        <p:spPr>
          <a:xfrm>
            <a:off x="822960" y="3246120"/>
            <a:ext cx="137160" cy="137160"/>
          </a:xfrm>
          <a:prstGeom prst="ellipse">
            <a:avLst/>
          </a:prstGeom>
          <a:solidFill>
            <a:srgbClr val="6B6A63"/>
          </a:solidFill>
          <a:ln w="12700">
            <a:solidFill>
              <a:srgbClr val="6B6A63"/>
            </a:solidFill>
            <a:prstDash val="solid"/>
          </a:ln>
        </p:spPr>
      </p:sp>
      <p:sp>
        <p:nvSpPr>
          <p:cNvPr id="14" name="Text 12"/>
          <p:cNvSpPr/>
          <p:nvPr/>
        </p:nvSpPr>
        <p:spPr>
          <a:xfrm>
            <a:off x="1097280" y="3154680"/>
            <a:ext cx="484632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Content is visible to both partners by design.</a:t>
            </a:r>
            <a:endParaRPr lang="en-US" sz="1150" dirty="0"/>
          </a:p>
        </p:txBody>
      </p:sp>
      <p:sp>
        <p:nvSpPr>
          <p:cNvPr id="15" name="Shape 13"/>
          <p:cNvSpPr/>
          <p:nvPr/>
        </p:nvSpPr>
        <p:spPr>
          <a:xfrm>
            <a:off x="822960" y="3931920"/>
            <a:ext cx="137160" cy="137160"/>
          </a:xfrm>
          <a:prstGeom prst="ellipse">
            <a:avLst/>
          </a:prstGeom>
          <a:solidFill>
            <a:srgbClr val="6B6A63"/>
          </a:solidFill>
          <a:ln w="12700">
            <a:solidFill>
              <a:srgbClr val="6B6A63"/>
            </a:solidFill>
            <a:prstDash val="solid"/>
          </a:ln>
        </p:spPr>
      </p:sp>
      <p:sp>
        <p:nvSpPr>
          <p:cNvPr id="16" name="Text 14"/>
          <p:cNvSpPr/>
          <p:nvPr/>
        </p:nvSpPr>
        <p:spPr>
          <a:xfrm>
            <a:off x="1097280" y="3840480"/>
            <a:ext cx="484632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Users self-censor — the ugly feelings never surface.</a:t>
            </a:r>
            <a:endParaRPr lang="en-US" sz="1150" dirty="0"/>
          </a:p>
        </p:txBody>
      </p:sp>
      <p:sp>
        <p:nvSpPr>
          <p:cNvPr id="17" name="Shape 15"/>
          <p:cNvSpPr/>
          <p:nvPr/>
        </p:nvSpPr>
        <p:spPr>
          <a:xfrm>
            <a:off x="822960" y="4617720"/>
            <a:ext cx="137160" cy="137160"/>
          </a:xfrm>
          <a:prstGeom prst="ellipse">
            <a:avLst/>
          </a:prstGeom>
          <a:solidFill>
            <a:srgbClr val="6B6A63"/>
          </a:solidFill>
          <a:ln w="12700">
            <a:solidFill>
              <a:srgbClr val="6B6A63"/>
            </a:solidFill>
            <a:prstDash val="solid"/>
          </a:ln>
        </p:spPr>
      </p:sp>
      <p:sp>
        <p:nvSpPr>
          <p:cNvPr id="18" name="Text 16"/>
          <p:cNvSpPr/>
          <p:nvPr/>
        </p:nvSpPr>
        <p:spPr>
          <a:xfrm>
            <a:off x="1097280" y="4526280"/>
            <a:ext cx="484632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The tool becomes a performance, not a release.</a:t>
            </a:r>
            <a:endParaRPr lang="en-US" sz="1150" dirty="0"/>
          </a:p>
        </p:txBody>
      </p:sp>
      <p:sp>
        <p:nvSpPr>
          <p:cNvPr id="19" name="Shape 17"/>
          <p:cNvSpPr/>
          <p:nvPr/>
        </p:nvSpPr>
        <p:spPr>
          <a:xfrm>
            <a:off x="822960" y="5303520"/>
            <a:ext cx="137160" cy="137160"/>
          </a:xfrm>
          <a:prstGeom prst="ellipse">
            <a:avLst/>
          </a:prstGeom>
          <a:solidFill>
            <a:srgbClr val="6B6A63"/>
          </a:solidFill>
          <a:ln w="12700">
            <a:solidFill>
              <a:srgbClr val="6B6A63"/>
            </a:solidFill>
            <a:prstDash val="solid"/>
          </a:ln>
        </p:spPr>
      </p:sp>
      <p:sp>
        <p:nvSpPr>
          <p:cNvPr id="20" name="Text 18"/>
          <p:cNvSpPr/>
          <p:nvPr/>
        </p:nvSpPr>
        <p:spPr>
          <a:xfrm>
            <a:off x="1097280" y="5212080"/>
            <a:ext cx="484632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No safe space for the unspeakable thought.</a:t>
            </a:r>
            <a:endParaRPr lang="en-US" sz="1150" dirty="0"/>
          </a:p>
        </p:txBody>
      </p:sp>
      <p:sp>
        <p:nvSpPr>
          <p:cNvPr id="21" name="Shape 19"/>
          <p:cNvSpPr/>
          <p:nvPr/>
        </p:nvSpPr>
        <p:spPr>
          <a:xfrm>
            <a:off x="6172200" y="2103120"/>
            <a:ext cx="5532120" cy="4297680"/>
          </a:xfrm>
          <a:prstGeom prst="rect">
            <a:avLst/>
          </a:prstGeom>
          <a:solidFill>
            <a:srgbClr val="FFFFFF"/>
          </a:solidFill>
          <a:ln w="12700">
            <a:solidFill>
              <a:srgbClr val="E5E0D5"/>
            </a:solidFill>
            <a:prstDash val="solid"/>
          </a:ln>
        </p:spPr>
      </p:sp>
      <p:sp>
        <p:nvSpPr>
          <p:cNvPr id="22" name="Shape 20"/>
          <p:cNvSpPr/>
          <p:nvPr/>
        </p:nvSpPr>
        <p:spPr>
          <a:xfrm>
            <a:off x="6172200" y="2103120"/>
            <a:ext cx="5532120" cy="548640"/>
          </a:xfrm>
          <a:prstGeom prst="rect">
            <a:avLst/>
          </a:prstGeom>
          <a:solidFill>
            <a:srgbClr val="F67700"/>
          </a:solidFill>
          <a:ln w="12700">
            <a:solidFill>
              <a:srgbClr val="F67700"/>
            </a:solidFill>
            <a:prstDash val="solid"/>
          </a:ln>
        </p:spPr>
      </p:sp>
      <p:sp>
        <p:nvSpPr>
          <p:cNvPr id="23" name="Text 21"/>
          <p:cNvSpPr/>
          <p:nvPr/>
        </p:nvSpPr>
        <p:spPr>
          <a:xfrm>
            <a:off x="6446520" y="2148840"/>
            <a:ext cx="5212080" cy="45720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Hey Otis private vent</a:t>
            </a:r>
            <a:endParaRPr lang="en-US" sz="1600" dirty="0"/>
          </a:p>
        </p:txBody>
      </p:sp>
      <p:sp>
        <p:nvSpPr>
          <p:cNvPr id="24" name="Text 22"/>
          <p:cNvSpPr/>
          <p:nvPr/>
        </p:nvSpPr>
        <p:spPr>
          <a:xfrm>
            <a:off x="6446520" y="2743200"/>
            <a:ext cx="5212080" cy="320040"/>
          </a:xfrm>
          <a:prstGeom prst="rect">
            <a:avLst/>
          </a:prstGeom>
          <a:noFill/>
          <a:ln/>
        </p:spPr>
        <p:txBody>
          <a:bodyPr wrap="square" lIns="0" tIns="0" rIns="0" bIns="0" rtlCol="0" anchor="ctr"/>
          <a:lstStyle/>
          <a:p>
            <a:pPr indent="0" marL="0">
              <a:buNone/>
            </a:pPr>
            <a:r>
              <a:rPr lang="en-US" sz="1100" i="1" dirty="0">
                <a:solidFill>
                  <a:srgbClr val="6B6A63"/>
                </a:solidFill>
                <a:latin typeface="Calibri" pitchFamily="34" charset="0"/>
                <a:ea typeface="Calibri" pitchFamily="34" charset="-122"/>
                <a:cs typeface="Calibri" pitchFamily="34" charset="-120"/>
              </a:rPr>
              <a:t>Architectural, not optional</a:t>
            </a:r>
            <a:endParaRPr lang="en-US" sz="1100" dirty="0"/>
          </a:p>
        </p:txBody>
      </p:sp>
      <p:sp>
        <p:nvSpPr>
          <p:cNvPr id="25" name="Shape 23"/>
          <p:cNvSpPr/>
          <p:nvPr/>
        </p:nvSpPr>
        <p:spPr>
          <a:xfrm>
            <a:off x="6446520" y="3246120"/>
            <a:ext cx="137160" cy="137160"/>
          </a:xfrm>
          <a:prstGeom prst="ellipse">
            <a:avLst/>
          </a:prstGeom>
          <a:solidFill>
            <a:srgbClr val="F67700"/>
          </a:solidFill>
          <a:ln w="12700">
            <a:solidFill>
              <a:srgbClr val="F67700"/>
            </a:solidFill>
            <a:prstDash val="solid"/>
          </a:ln>
        </p:spPr>
      </p:sp>
      <p:sp>
        <p:nvSpPr>
          <p:cNvPr id="26" name="Text 24"/>
          <p:cNvSpPr/>
          <p:nvPr/>
        </p:nvSpPr>
        <p:spPr>
          <a:xfrm>
            <a:off x="6720840" y="3154680"/>
            <a:ext cx="484632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Vent messages are end-to-end partitioned from partner view.</a:t>
            </a:r>
            <a:endParaRPr lang="en-US" sz="1150" dirty="0"/>
          </a:p>
        </p:txBody>
      </p:sp>
      <p:sp>
        <p:nvSpPr>
          <p:cNvPr id="27" name="Shape 25"/>
          <p:cNvSpPr/>
          <p:nvPr/>
        </p:nvSpPr>
        <p:spPr>
          <a:xfrm>
            <a:off x="6446520" y="3931920"/>
            <a:ext cx="137160" cy="137160"/>
          </a:xfrm>
          <a:prstGeom prst="ellipse">
            <a:avLst/>
          </a:prstGeom>
          <a:solidFill>
            <a:srgbClr val="F67700"/>
          </a:solidFill>
          <a:ln w="12700">
            <a:solidFill>
              <a:srgbClr val="F67700"/>
            </a:solidFill>
            <a:prstDash val="solid"/>
          </a:ln>
        </p:spPr>
      </p:sp>
      <p:sp>
        <p:nvSpPr>
          <p:cNvPr id="28" name="Text 26"/>
          <p:cNvSpPr/>
          <p:nvPr/>
        </p:nvSpPr>
        <p:spPr>
          <a:xfrm>
            <a:off x="6720840" y="3840480"/>
            <a:ext cx="484632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Assessment insights are shared; raw venting is never shared.</a:t>
            </a:r>
            <a:endParaRPr lang="en-US" sz="1150" dirty="0"/>
          </a:p>
        </p:txBody>
      </p:sp>
      <p:sp>
        <p:nvSpPr>
          <p:cNvPr id="29" name="Shape 27"/>
          <p:cNvSpPr/>
          <p:nvPr/>
        </p:nvSpPr>
        <p:spPr>
          <a:xfrm>
            <a:off x="6446520" y="4617720"/>
            <a:ext cx="137160" cy="137160"/>
          </a:xfrm>
          <a:prstGeom prst="ellipse">
            <a:avLst/>
          </a:prstGeom>
          <a:solidFill>
            <a:srgbClr val="F67700"/>
          </a:solidFill>
          <a:ln w="12700">
            <a:solidFill>
              <a:srgbClr val="F67700"/>
            </a:solidFill>
            <a:prstDash val="solid"/>
          </a:ln>
        </p:spPr>
      </p:sp>
      <p:sp>
        <p:nvSpPr>
          <p:cNvPr id="30" name="Text 28"/>
          <p:cNvSpPr/>
          <p:nvPr/>
        </p:nvSpPr>
        <p:spPr>
          <a:xfrm>
            <a:off x="6720840" y="4526280"/>
            <a:ext cx="484632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Users say the real thing — which is the only path to real repair.</a:t>
            </a:r>
            <a:endParaRPr lang="en-US" sz="1150" dirty="0"/>
          </a:p>
        </p:txBody>
      </p:sp>
      <p:sp>
        <p:nvSpPr>
          <p:cNvPr id="31" name="Shape 29"/>
          <p:cNvSpPr/>
          <p:nvPr/>
        </p:nvSpPr>
        <p:spPr>
          <a:xfrm>
            <a:off x="6446520" y="5303520"/>
            <a:ext cx="137160" cy="137160"/>
          </a:xfrm>
          <a:prstGeom prst="ellipse">
            <a:avLst/>
          </a:prstGeom>
          <a:solidFill>
            <a:srgbClr val="F67700"/>
          </a:solidFill>
          <a:ln w="12700">
            <a:solidFill>
              <a:srgbClr val="F67700"/>
            </a:solidFill>
            <a:prstDash val="solid"/>
          </a:ln>
        </p:spPr>
      </p:sp>
      <p:sp>
        <p:nvSpPr>
          <p:cNvPr id="32" name="Text 30"/>
          <p:cNvSpPr/>
          <p:nvPr/>
        </p:nvSpPr>
        <p:spPr>
          <a:xfrm>
            <a:off x="6720840" y="5212080"/>
            <a:ext cx="484632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A category moat: rebuilding this retroactively breaks a shared product.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BD57F2"/>
          </a:solidFill>
          <a:ln w="12700">
            <a:solidFill>
              <a:srgbClr val="BD57F2"/>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BD57F2"/>
                </a:solidFill>
                <a:latin typeface="Calibri" pitchFamily="34" charset="0"/>
                <a:ea typeface="Calibri" pitchFamily="34" charset="-122"/>
                <a:cs typeface="Calibri" pitchFamily="34" charset="-120"/>
              </a:rPr>
              <a:t>09 · PRODUCT · CLINICAL FOUNDATION</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Five evidence bases, fused into one voice.</a:t>
            </a:r>
            <a:endParaRPr lang="en-US" sz="3200" dirty="0"/>
          </a:p>
        </p:txBody>
      </p:sp>
      <p:sp>
        <p:nvSpPr>
          <p:cNvPr id="9" name="Text 7"/>
          <p:cNvSpPr/>
          <p:nvPr/>
        </p:nvSpPr>
        <p:spPr>
          <a:xfrm>
            <a:off x="457200" y="1417320"/>
            <a:ext cx="11247120" cy="457200"/>
          </a:xfrm>
          <a:prstGeom prst="rect">
            <a:avLst/>
          </a:prstGeom>
          <a:noFill/>
          <a:ln/>
        </p:spPr>
        <p:txBody>
          <a:bodyPr wrap="square" lIns="0" tIns="0" rIns="0" bIns="0" rtlCol="0" anchor="ctr"/>
          <a:lstStyle/>
          <a:p>
            <a:pPr indent="0" marL="0">
              <a:buNone/>
            </a:pPr>
            <a:r>
              <a:rPr lang="en-US" sz="1500" i="1" dirty="0">
                <a:solidFill>
                  <a:srgbClr val="6B6A63"/>
                </a:solidFill>
                <a:latin typeface="Calibri" pitchFamily="34" charset="0"/>
                <a:ea typeface="Calibri" pitchFamily="34" charset="-122"/>
                <a:cs typeface="Calibri" pitchFamily="34" charset="-120"/>
              </a:rPr>
              <a:t>No single modality dominates — each step pulls from the framework with the strongest outcome data for that phase.</a:t>
            </a:r>
            <a:endParaRPr lang="en-US" sz="1500" dirty="0"/>
          </a:p>
        </p:txBody>
      </p:sp>
      <p:sp>
        <p:nvSpPr>
          <p:cNvPr id="10" name="Shape 8"/>
          <p:cNvSpPr/>
          <p:nvPr/>
        </p:nvSpPr>
        <p:spPr>
          <a:xfrm>
            <a:off x="548640" y="2103120"/>
            <a:ext cx="11155680" cy="713232"/>
          </a:xfrm>
          <a:prstGeom prst="rect">
            <a:avLst/>
          </a:prstGeom>
          <a:solidFill>
            <a:srgbClr val="FFFFFF"/>
          </a:solidFill>
          <a:ln w="12700">
            <a:solidFill>
              <a:srgbClr val="E5E0D5"/>
            </a:solidFill>
            <a:prstDash val="solid"/>
          </a:ln>
        </p:spPr>
      </p:sp>
      <p:sp>
        <p:nvSpPr>
          <p:cNvPr id="11" name="Shape 9"/>
          <p:cNvSpPr/>
          <p:nvPr/>
        </p:nvSpPr>
        <p:spPr>
          <a:xfrm>
            <a:off x="548640" y="2103120"/>
            <a:ext cx="109728" cy="713232"/>
          </a:xfrm>
          <a:prstGeom prst="rect">
            <a:avLst/>
          </a:prstGeom>
          <a:solidFill>
            <a:srgbClr val="96D35F"/>
          </a:solidFill>
          <a:ln w="12700">
            <a:solidFill>
              <a:srgbClr val="96D35F"/>
            </a:solidFill>
            <a:prstDash val="solid"/>
          </a:ln>
        </p:spPr>
      </p:sp>
      <p:sp>
        <p:nvSpPr>
          <p:cNvPr id="12" name="Text 10"/>
          <p:cNvSpPr/>
          <p:nvPr/>
        </p:nvSpPr>
        <p:spPr>
          <a:xfrm>
            <a:off x="868680" y="2194560"/>
            <a:ext cx="4114800" cy="548640"/>
          </a:xfrm>
          <a:prstGeom prst="rect">
            <a:avLst/>
          </a:prstGeom>
          <a:noFill/>
          <a:ln/>
        </p:spPr>
        <p:txBody>
          <a:bodyPr wrap="square" lIns="0" tIns="0" rIns="0" bIns="0" rtlCol="0" anchor="ctr"/>
          <a:lstStyle/>
          <a:p>
            <a:pPr indent="0" marL="0">
              <a:buNone/>
            </a:pPr>
            <a:r>
              <a:rPr lang="en-US" sz="1450" b="1" dirty="0">
                <a:solidFill>
                  <a:srgbClr val="1F2540"/>
                </a:solidFill>
                <a:latin typeface="Georgia" pitchFamily="34" charset="0"/>
                <a:ea typeface="Georgia" pitchFamily="34" charset="-122"/>
                <a:cs typeface="Georgia" pitchFamily="34" charset="-120"/>
              </a:rPr>
              <a:t>Gottman Method</a:t>
            </a:r>
            <a:endParaRPr lang="en-US" sz="1450" dirty="0"/>
          </a:p>
        </p:txBody>
      </p:sp>
      <p:sp>
        <p:nvSpPr>
          <p:cNvPr id="13" name="Text 11"/>
          <p:cNvSpPr/>
          <p:nvPr/>
        </p:nvSpPr>
        <p:spPr>
          <a:xfrm>
            <a:off x="5029200" y="2194560"/>
            <a:ext cx="6537960" cy="5486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Soft start-up, repair attempts, physiological flooding — Prepare + Nurture.</a:t>
            </a:r>
            <a:endParaRPr lang="en-US" sz="1150" dirty="0"/>
          </a:p>
        </p:txBody>
      </p:sp>
      <p:sp>
        <p:nvSpPr>
          <p:cNvPr id="14" name="Shape 12"/>
          <p:cNvSpPr/>
          <p:nvPr/>
        </p:nvSpPr>
        <p:spPr>
          <a:xfrm>
            <a:off x="548640" y="2907792"/>
            <a:ext cx="11155680" cy="713232"/>
          </a:xfrm>
          <a:prstGeom prst="rect">
            <a:avLst/>
          </a:prstGeom>
          <a:solidFill>
            <a:srgbClr val="FFFFFF"/>
          </a:solidFill>
          <a:ln w="12700">
            <a:solidFill>
              <a:srgbClr val="E5E0D5"/>
            </a:solidFill>
            <a:prstDash val="solid"/>
          </a:ln>
        </p:spPr>
      </p:sp>
      <p:sp>
        <p:nvSpPr>
          <p:cNvPr id="15" name="Shape 13"/>
          <p:cNvSpPr/>
          <p:nvPr/>
        </p:nvSpPr>
        <p:spPr>
          <a:xfrm>
            <a:off x="548640" y="2907792"/>
            <a:ext cx="109728" cy="713232"/>
          </a:xfrm>
          <a:prstGeom prst="rect">
            <a:avLst/>
          </a:prstGeom>
          <a:solidFill>
            <a:srgbClr val="92A6F4"/>
          </a:solidFill>
          <a:ln w="12700">
            <a:solidFill>
              <a:srgbClr val="92A6F4"/>
            </a:solidFill>
            <a:prstDash val="solid"/>
          </a:ln>
        </p:spPr>
      </p:sp>
      <p:sp>
        <p:nvSpPr>
          <p:cNvPr id="16" name="Text 14"/>
          <p:cNvSpPr/>
          <p:nvPr/>
        </p:nvSpPr>
        <p:spPr>
          <a:xfrm>
            <a:off x="868680" y="2999232"/>
            <a:ext cx="4114800" cy="548640"/>
          </a:xfrm>
          <a:prstGeom prst="rect">
            <a:avLst/>
          </a:prstGeom>
          <a:noFill/>
          <a:ln/>
        </p:spPr>
        <p:txBody>
          <a:bodyPr wrap="square" lIns="0" tIns="0" rIns="0" bIns="0" rtlCol="0" anchor="ctr"/>
          <a:lstStyle/>
          <a:p>
            <a:pPr indent="0" marL="0">
              <a:buNone/>
            </a:pPr>
            <a:r>
              <a:rPr lang="en-US" sz="1450" b="1" dirty="0">
                <a:solidFill>
                  <a:srgbClr val="1F2540"/>
                </a:solidFill>
                <a:latin typeface="Georgia" pitchFamily="34" charset="0"/>
                <a:ea typeface="Georgia" pitchFamily="34" charset="-122"/>
                <a:cs typeface="Georgia" pitchFamily="34" charset="-120"/>
              </a:rPr>
              <a:t>Emotionally Focused Therapy (EFT)</a:t>
            </a:r>
            <a:endParaRPr lang="en-US" sz="1450" dirty="0"/>
          </a:p>
        </p:txBody>
      </p:sp>
      <p:sp>
        <p:nvSpPr>
          <p:cNvPr id="17" name="Text 15"/>
          <p:cNvSpPr/>
          <p:nvPr/>
        </p:nvSpPr>
        <p:spPr>
          <a:xfrm>
            <a:off x="5029200" y="2999232"/>
            <a:ext cx="6537960" cy="5486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Attachment wounds, primary emotion, bonding cycle — Understand.</a:t>
            </a:r>
            <a:endParaRPr lang="en-US" sz="1150" dirty="0"/>
          </a:p>
        </p:txBody>
      </p:sp>
      <p:sp>
        <p:nvSpPr>
          <p:cNvPr id="18" name="Shape 16"/>
          <p:cNvSpPr/>
          <p:nvPr/>
        </p:nvSpPr>
        <p:spPr>
          <a:xfrm>
            <a:off x="548640" y="3712464"/>
            <a:ext cx="11155680" cy="713232"/>
          </a:xfrm>
          <a:prstGeom prst="rect">
            <a:avLst/>
          </a:prstGeom>
          <a:solidFill>
            <a:srgbClr val="FFFFFF"/>
          </a:solidFill>
          <a:ln w="12700">
            <a:solidFill>
              <a:srgbClr val="E5E0D5"/>
            </a:solidFill>
            <a:prstDash val="solid"/>
          </a:ln>
        </p:spPr>
      </p:sp>
      <p:sp>
        <p:nvSpPr>
          <p:cNvPr id="19" name="Shape 17"/>
          <p:cNvSpPr/>
          <p:nvPr/>
        </p:nvSpPr>
        <p:spPr>
          <a:xfrm>
            <a:off x="548640" y="3712464"/>
            <a:ext cx="109728" cy="713232"/>
          </a:xfrm>
          <a:prstGeom prst="rect">
            <a:avLst/>
          </a:prstGeom>
          <a:solidFill>
            <a:srgbClr val="F67700"/>
          </a:solidFill>
          <a:ln w="12700">
            <a:solidFill>
              <a:srgbClr val="F67700"/>
            </a:solidFill>
            <a:prstDash val="solid"/>
          </a:ln>
        </p:spPr>
      </p:sp>
      <p:sp>
        <p:nvSpPr>
          <p:cNvPr id="20" name="Text 18"/>
          <p:cNvSpPr/>
          <p:nvPr/>
        </p:nvSpPr>
        <p:spPr>
          <a:xfrm>
            <a:off x="868680" y="3803904"/>
            <a:ext cx="4114800" cy="548640"/>
          </a:xfrm>
          <a:prstGeom prst="rect">
            <a:avLst/>
          </a:prstGeom>
          <a:noFill/>
          <a:ln/>
        </p:spPr>
        <p:txBody>
          <a:bodyPr wrap="square" lIns="0" tIns="0" rIns="0" bIns="0" rtlCol="0" anchor="ctr"/>
          <a:lstStyle/>
          <a:p>
            <a:pPr indent="0" marL="0">
              <a:buNone/>
            </a:pPr>
            <a:r>
              <a:rPr lang="en-US" sz="1450" b="1" dirty="0">
                <a:solidFill>
                  <a:srgbClr val="1F2540"/>
                </a:solidFill>
                <a:latin typeface="Georgia" pitchFamily="34" charset="0"/>
                <a:ea typeface="Georgia" pitchFamily="34" charset="-122"/>
                <a:cs typeface="Georgia" pitchFamily="34" charset="-120"/>
              </a:rPr>
              <a:t>Non-Violent Communication (NVC)</a:t>
            </a:r>
            <a:endParaRPr lang="en-US" sz="1450" dirty="0"/>
          </a:p>
        </p:txBody>
      </p:sp>
      <p:sp>
        <p:nvSpPr>
          <p:cNvPr id="21" name="Text 19"/>
          <p:cNvSpPr/>
          <p:nvPr/>
        </p:nvSpPr>
        <p:spPr>
          <a:xfrm>
            <a:off x="5029200" y="3803904"/>
            <a:ext cx="6537960" cy="5486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Observation → feeling → need → request — Prepare.</a:t>
            </a:r>
            <a:endParaRPr lang="en-US" sz="1150" dirty="0"/>
          </a:p>
        </p:txBody>
      </p:sp>
      <p:sp>
        <p:nvSpPr>
          <p:cNvPr id="22" name="Shape 20"/>
          <p:cNvSpPr/>
          <p:nvPr/>
        </p:nvSpPr>
        <p:spPr>
          <a:xfrm>
            <a:off x="548640" y="4517136"/>
            <a:ext cx="11155680" cy="713232"/>
          </a:xfrm>
          <a:prstGeom prst="rect">
            <a:avLst/>
          </a:prstGeom>
          <a:solidFill>
            <a:srgbClr val="FFFFFF"/>
          </a:solidFill>
          <a:ln w="12700">
            <a:solidFill>
              <a:srgbClr val="E5E0D5"/>
            </a:solidFill>
            <a:prstDash val="solid"/>
          </a:ln>
        </p:spPr>
      </p:sp>
      <p:sp>
        <p:nvSpPr>
          <p:cNvPr id="23" name="Shape 21"/>
          <p:cNvSpPr/>
          <p:nvPr/>
        </p:nvSpPr>
        <p:spPr>
          <a:xfrm>
            <a:off x="548640" y="4517136"/>
            <a:ext cx="109728" cy="713232"/>
          </a:xfrm>
          <a:prstGeom prst="rect">
            <a:avLst/>
          </a:prstGeom>
          <a:solidFill>
            <a:srgbClr val="BD57F2"/>
          </a:solidFill>
          <a:ln w="12700">
            <a:solidFill>
              <a:srgbClr val="BD57F2"/>
            </a:solidFill>
            <a:prstDash val="solid"/>
          </a:ln>
        </p:spPr>
      </p:sp>
      <p:sp>
        <p:nvSpPr>
          <p:cNvPr id="24" name="Text 22"/>
          <p:cNvSpPr/>
          <p:nvPr/>
        </p:nvSpPr>
        <p:spPr>
          <a:xfrm>
            <a:off x="868680" y="4608576"/>
            <a:ext cx="4114800" cy="548640"/>
          </a:xfrm>
          <a:prstGeom prst="rect">
            <a:avLst/>
          </a:prstGeom>
          <a:noFill/>
          <a:ln/>
        </p:spPr>
        <p:txBody>
          <a:bodyPr wrap="square" lIns="0" tIns="0" rIns="0" bIns="0" rtlCol="0" anchor="ctr"/>
          <a:lstStyle/>
          <a:p>
            <a:pPr indent="0" marL="0">
              <a:buNone/>
            </a:pPr>
            <a:r>
              <a:rPr lang="en-US" sz="1450" b="1" dirty="0">
                <a:solidFill>
                  <a:srgbClr val="1F2540"/>
                </a:solidFill>
                <a:latin typeface="Georgia" pitchFamily="34" charset="0"/>
                <a:ea typeface="Georgia" pitchFamily="34" charset="-122"/>
                <a:cs typeface="Georgia" pitchFamily="34" charset="-120"/>
              </a:rPr>
              <a:t>Internal Family Systems (IFS)</a:t>
            </a:r>
            <a:endParaRPr lang="en-US" sz="1450" dirty="0"/>
          </a:p>
        </p:txBody>
      </p:sp>
      <p:sp>
        <p:nvSpPr>
          <p:cNvPr id="25" name="Text 23"/>
          <p:cNvSpPr/>
          <p:nvPr/>
        </p:nvSpPr>
        <p:spPr>
          <a:xfrm>
            <a:off x="5029200" y="4608576"/>
            <a:ext cx="6537960" cy="5486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Protectors, exiles, Self-energy — all four steps, surfaced in Understand.</a:t>
            </a:r>
            <a:endParaRPr lang="en-US" sz="1150" dirty="0"/>
          </a:p>
        </p:txBody>
      </p:sp>
      <p:sp>
        <p:nvSpPr>
          <p:cNvPr id="26" name="Shape 24"/>
          <p:cNvSpPr/>
          <p:nvPr/>
        </p:nvSpPr>
        <p:spPr>
          <a:xfrm>
            <a:off x="548640" y="5321808"/>
            <a:ext cx="11155680" cy="713232"/>
          </a:xfrm>
          <a:prstGeom prst="rect">
            <a:avLst/>
          </a:prstGeom>
          <a:solidFill>
            <a:srgbClr val="FFFFFF"/>
          </a:solidFill>
          <a:ln w="12700">
            <a:solidFill>
              <a:srgbClr val="E5E0D5"/>
            </a:solidFill>
            <a:prstDash val="solid"/>
          </a:ln>
        </p:spPr>
      </p:sp>
      <p:sp>
        <p:nvSpPr>
          <p:cNvPr id="27" name="Shape 25"/>
          <p:cNvSpPr/>
          <p:nvPr/>
        </p:nvSpPr>
        <p:spPr>
          <a:xfrm>
            <a:off x="548640" y="5321808"/>
            <a:ext cx="109728" cy="713232"/>
          </a:xfrm>
          <a:prstGeom prst="rect">
            <a:avLst/>
          </a:prstGeom>
          <a:solidFill>
            <a:srgbClr val="C9A559"/>
          </a:solidFill>
          <a:ln w="12700">
            <a:solidFill>
              <a:srgbClr val="C9A559"/>
            </a:solidFill>
            <a:prstDash val="solid"/>
          </a:ln>
        </p:spPr>
      </p:sp>
      <p:sp>
        <p:nvSpPr>
          <p:cNvPr id="28" name="Text 26"/>
          <p:cNvSpPr/>
          <p:nvPr/>
        </p:nvSpPr>
        <p:spPr>
          <a:xfrm>
            <a:off x="868680" y="5413248"/>
            <a:ext cx="4114800" cy="548640"/>
          </a:xfrm>
          <a:prstGeom prst="rect">
            <a:avLst/>
          </a:prstGeom>
          <a:noFill/>
          <a:ln/>
        </p:spPr>
        <p:txBody>
          <a:bodyPr wrap="square" lIns="0" tIns="0" rIns="0" bIns="0" rtlCol="0" anchor="ctr"/>
          <a:lstStyle/>
          <a:p>
            <a:pPr indent="0" marL="0">
              <a:buNone/>
            </a:pPr>
            <a:r>
              <a:rPr lang="en-US" sz="1450" b="1" dirty="0">
                <a:solidFill>
                  <a:srgbClr val="1F2540"/>
                </a:solidFill>
                <a:latin typeface="Georgia" pitchFamily="34" charset="0"/>
                <a:ea typeface="Georgia" pitchFamily="34" charset="-122"/>
                <a:cs typeface="Georgia" pitchFamily="34" charset="-120"/>
              </a:rPr>
              <a:t>Cognitive Behavioural Couples Therapy (CBCT)</a:t>
            </a:r>
            <a:endParaRPr lang="en-US" sz="1450" dirty="0"/>
          </a:p>
        </p:txBody>
      </p:sp>
      <p:sp>
        <p:nvSpPr>
          <p:cNvPr id="29" name="Text 27"/>
          <p:cNvSpPr/>
          <p:nvPr/>
        </p:nvSpPr>
        <p:spPr>
          <a:xfrm>
            <a:off x="5029200" y="5413248"/>
            <a:ext cx="6537960" cy="54864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Automatic thoughts, reframing, behavioural experiments — cross-cutting.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1F2540"/>
          </a:solidFill>
          <a:ln w="12700">
            <a:solidFill>
              <a:srgbClr val="1F2540"/>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1F2540"/>
                </a:solidFill>
                <a:latin typeface="Calibri" pitchFamily="34" charset="0"/>
                <a:ea typeface="Calibri" pitchFamily="34" charset="-122"/>
                <a:cs typeface="Calibri" pitchFamily="34" charset="-120"/>
              </a:rPr>
              <a:t>10 · BRAND · POSITIONING</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Positioning statement.</a:t>
            </a:r>
            <a:endParaRPr lang="en-US" sz="3200" dirty="0"/>
          </a:p>
        </p:txBody>
      </p:sp>
      <p:sp>
        <p:nvSpPr>
          <p:cNvPr id="9" name="Shape 7"/>
          <p:cNvSpPr/>
          <p:nvPr/>
        </p:nvSpPr>
        <p:spPr>
          <a:xfrm>
            <a:off x="548640" y="2103120"/>
            <a:ext cx="11155680" cy="3017520"/>
          </a:xfrm>
          <a:prstGeom prst="rect">
            <a:avLst/>
          </a:prstGeom>
          <a:solidFill>
            <a:srgbClr val="1F2540"/>
          </a:solidFill>
          <a:ln w="12700">
            <a:solidFill>
              <a:srgbClr val="1F2540"/>
            </a:solidFill>
            <a:prstDash val="solid"/>
          </a:ln>
        </p:spPr>
      </p:sp>
      <p:sp>
        <p:nvSpPr>
          <p:cNvPr id="10" name="Text 8"/>
          <p:cNvSpPr/>
          <p:nvPr/>
        </p:nvSpPr>
        <p:spPr>
          <a:xfrm>
            <a:off x="822960" y="2286000"/>
            <a:ext cx="2011680" cy="457200"/>
          </a:xfrm>
          <a:prstGeom prst="rect">
            <a:avLst/>
          </a:prstGeom>
          <a:noFill/>
          <a:ln/>
        </p:spPr>
        <p:txBody>
          <a:bodyPr wrap="square" lIns="0" tIns="0" rIns="0" bIns="0" rtlCol="0" anchor="ctr"/>
          <a:lstStyle/>
          <a:p>
            <a:pPr indent="0" marL="0">
              <a:buNone/>
            </a:pPr>
            <a:r>
              <a:rPr lang="en-US" sz="1100" b="1" spc="300" kern="0" dirty="0">
                <a:solidFill>
                  <a:srgbClr val="96D35F"/>
                </a:solidFill>
                <a:latin typeface="Calibri" pitchFamily="34" charset="0"/>
                <a:ea typeface="Calibri" pitchFamily="34" charset="-122"/>
                <a:cs typeface="Calibri" pitchFamily="34" charset="-120"/>
              </a:rPr>
              <a:t>FOR</a:t>
            </a:r>
            <a:endParaRPr lang="en-US" sz="1100" dirty="0"/>
          </a:p>
        </p:txBody>
      </p:sp>
      <p:sp>
        <p:nvSpPr>
          <p:cNvPr id="11" name="Text 9"/>
          <p:cNvSpPr/>
          <p:nvPr/>
        </p:nvSpPr>
        <p:spPr>
          <a:xfrm>
            <a:off x="2926080" y="2286000"/>
            <a:ext cx="8595360" cy="457200"/>
          </a:xfrm>
          <a:prstGeom prst="rect">
            <a:avLst/>
          </a:prstGeom>
          <a:noFill/>
          <a:ln/>
        </p:spPr>
        <p:txBody>
          <a:bodyPr wrap="square" lIns="0" tIns="0" rIns="0" bIns="0" rtlCol="0" anchor="ctr"/>
          <a:lstStyle/>
          <a:p>
            <a:pPr indent="0" marL="0">
              <a:buNone/>
            </a:pPr>
            <a:r>
              <a:rPr lang="en-US" sz="1400" dirty="0">
                <a:solidFill>
                  <a:srgbClr val="FAF7F2"/>
                </a:solidFill>
                <a:latin typeface="Georgia" pitchFamily="34" charset="0"/>
                <a:ea typeface="Georgia" pitchFamily="34" charset="-122"/>
                <a:cs typeface="Georgia" pitchFamily="34" charset="-120"/>
              </a:rPr>
              <a:t>couples who keep having the same fight</a:t>
            </a:r>
            <a:endParaRPr lang="en-US" sz="1400" dirty="0"/>
          </a:p>
        </p:txBody>
      </p:sp>
      <p:sp>
        <p:nvSpPr>
          <p:cNvPr id="12" name="Text 10"/>
          <p:cNvSpPr/>
          <p:nvPr/>
        </p:nvSpPr>
        <p:spPr>
          <a:xfrm>
            <a:off x="822960" y="2834640"/>
            <a:ext cx="2011680" cy="457200"/>
          </a:xfrm>
          <a:prstGeom prst="rect">
            <a:avLst/>
          </a:prstGeom>
          <a:noFill/>
          <a:ln/>
        </p:spPr>
        <p:txBody>
          <a:bodyPr wrap="square" lIns="0" tIns="0" rIns="0" bIns="0" rtlCol="0" anchor="ctr"/>
          <a:lstStyle/>
          <a:p>
            <a:pPr indent="0" marL="0">
              <a:buNone/>
            </a:pPr>
            <a:r>
              <a:rPr lang="en-US" sz="1100" b="1" spc="300" kern="0" dirty="0">
                <a:solidFill>
                  <a:srgbClr val="96D35F"/>
                </a:solidFill>
                <a:latin typeface="Calibri" pitchFamily="34" charset="0"/>
                <a:ea typeface="Calibri" pitchFamily="34" charset="-122"/>
                <a:cs typeface="Calibri" pitchFamily="34" charset="-120"/>
              </a:rPr>
              <a:t>HEY OTIS IS</a:t>
            </a:r>
            <a:endParaRPr lang="en-US" sz="1100" dirty="0"/>
          </a:p>
        </p:txBody>
      </p:sp>
      <p:sp>
        <p:nvSpPr>
          <p:cNvPr id="13" name="Text 11"/>
          <p:cNvSpPr/>
          <p:nvPr/>
        </p:nvSpPr>
        <p:spPr>
          <a:xfrm>
            <a:off x="2926080" y="2834640"/>
            <a:ext cx="8595360" cy="457200"/>
          </a:xfrm>
          <a:prstGeom prst="rect">
            <a:avLst/>
          </a:prstGeom>
          <a:noFill/>
          <a:ln/>
        </p:spPr>
        <p:txBody>
          <a:bodyPr wrap="square" lIns="0" tIns="0" rIns="0" bIns="0" rtlCol="0" anchor="ctr"/>
          <a:lstStyle/>
          <a:p>
            <a:pPr indent="0" marL="0">
              <a:buNone/>
            </a:pPr>
            <a:r>
              <a:rPr lang="en-US" sz="1400" dirty="0">
                <a:solidFill>
                  <a:srgbClr val="FAF7F2"/>
                </a:solidFill>
                <a:latin typeface="Georgia" pitchFamily="34" charset="0"/>
                <a:ea typeface="Georgia" pitchFamily="34" charset="-122"/>
                <a:cs typeface="Georgia" pitchFamily="34" charset="-120"/>
              </a:rPr>
              <a:t>a private AI repair guide</a:t>
            </a:r>
            <a:endParaRPr lang="en-US" sz="1400" dirty="0"/>
          </a:p>
        </p:txBody>
      </p:sp>
      <p:sp>
        <p:nvSpPr>
          <p:cNvPr id="14" name="Text 12"/>
          <p:cNvSpPr/>
          <p:nvPr/>
        </p:nvSpPr>
        <p:spPr>
          <a:xfrm>
            <a:off x="822960" y="3383280"/>
            <a:ext cx="2011680" cy="457200"/>
          </a:xfrm>
          <a:prstGeom prst="rect">
            <a:avLst/>
          </a:prstGeom>
          <a:noFill/>
          <a:ln/>
        </p:spPr>
        <p:txBody>
          <a:bodyPr wrap="square" lIns="0" tIns="0" rIns="0" bIns="0" rtlCol="0" anchor="ctr"/>
          <a:lstStyle/>
          <a:p>
            <a:pPr indent="0" marL="0">
              <a:buNone/>
            </a:pPr>
            <a:r>
              <a:rPr lang="en-US" sz="1100" b="1" spc="300" kern="0" dirty="0">
                <a:solidFill>
                  <a:srgbClr val="96D35F"/>
                </a:solidFill>
                <a:latin typeface="Calibri" pitchFamily="34" charset="0"/>
                <a:ea typeface="Calibri" pitchFamily="34" charset="-122"/>
                <a:cs typeface="Calibri" pitchFamily="34" charset="-120"/>
              </a:rPr>
              <a:t>THAT</a:t>
            </a:r>
            <a:endParaRPr lang="en-US" sz="1100" dirty="0"/>
          </a:p>
        </p:txBody>
      </p:sp>
      <p:sp>
        <p:nvSpPr>
          <p:cNvPr id="15" name="Text 13"/>
          <p:cNvSpPr/>
          <p:nvPr/>
        </p:nvSpPr>
        <p:spPr>
          <a:xfrm>
            <a:off x="2926080" y="3383280"/>
            <a:ext cx="8595360" cy="457200"/>
          </a:xfrm>
          <a:prstGeom prst="rect">
            <a:avLst/>
          </a:prstGeom>
          <a:noFill/>
          <a:ln/>
        </p:spPr>
        <p:txBody>
          <a:bodyPr wrap="square" lIns="0" tIns="0" rIns="0" bIns="0" rtlCol="0" anchor="ctr"/>
          <a:lstStyle/>
          <a:p>
            <a:pPr indent="0" marL="0">
              <a:buNone/>
            </a:pPr>
            <a:r>
              <a:rPr lang="en-US" sz="1400" dirty="0">
                <a:solidFill>
                  <a:srgbClr val="FAF7F2"/>
                </a:solidFill>
                <a:latin typeface="Georgia" pitchFamily="34" charset="0"/>
                <a:ea typeface="Georgia" pitchFamily="34" charset="-122"/>
                <a:cs typeface="Georgia" pitchFamily="34" charset="-120"/>
              </a:rPr>
              <a:t>walks you from rupture to honest conversation in four steps</a:t>
            </a:r>
            <a:endParaRPr lang="en-US" sz="1400" dirty="0"/>
          </a:p>
        </p:txBody>
      </p:sp>
      <p:sp>
        <p:nvSpPr>
          <p:cNvPr id="16" name="Text 14"/>
          <p:cNvSpPr/>
          <p:nvPr/>
        </p:nvSpPr>
        <p:spPr>
          <a:xfrm>
            <a:off x="822960" y="3931920"/>
            <a:ext cx="2011680" cy="457200"/>
          </a:xfrm>
          <a:prstGeom prst="rect">
            <a:avLst/>
          </a:prstGeom>
          <a:noFill/>
          <a:ln/>
        </p:spPr>
        <p:txBody>
          <a:bodyPr wrap="square" lIns="0" tIns="0" rIns="0" bIns="0" rtlCol="0" anchor="ctr"/>
          <a:lstStyle/>
          <a:p>
            <a:pPr indent="0" marL="0">
              <a:buNone/>
            </a:pPr>
            <a:r>
              <a:rPr lang="en-US" sz="1100" b="1" spc="300" kern="0" dirty="0">
                <a:solidFill>
                  <a:srgbClr val="96D35F"/>
                </a:solidFill>
                <a:latin typeface="Calibri" pitchFamily="34" charset="0"/>
                <a:ea typeface="Calibri" pitchFamily="34" charset="-122"/>
                <a:cs typeface="Calibri" pitchFamily="34" charset="-120"/>
              </a:rPr>
              <a:t>UNLIKE</a:t>
            </a:r>
            <a:endParaRPr lang="en-US" sz="1100" dirty="0"/>
          </a:p>
        </p:txBody>
      </p:sp>
      <p:sp>
        <p:nvSpPr>
          <p:cNvPr id="17" name="Text 15"/>
          <p:cNvSpPr/>
          <p:nvPr/>
        </p:nvSpPr>
        <p:spPr>
          <a:xfrm>
            <a:off x="2926080" y="3931920"/>
            <a:ext cx="8595360" cy="457200"/>
          </a:xfrm>
          <a:prstGeom prst="rect">
            <a:avLst/>
          </a:prstGeom>
          <a:noFill/>
          <a:ln/>
        </p:spPr>
        <p:txBody>
          <a:bodyPr wrap="square" lIns="0" tIns="0" rIns="0" bIns="0" rtlCol="0" anchor="ctr"/>
          <a:lstStyle/>
          <a:p>
            <a:pPr indent="0" marL="0">
              <a:buNone/>
            </a:pPr>
            <a:r>
              <a:rPr lang="en-US" sz="1400" dirty="0">
                <a:solidFill>
                  <a:srgbClr val="FAF7F2"/>
                </a:solidFill>
                <a:latin typeface="Georgia" pitchFamily="34" charset="0"/>
                <a:ea typeface="Georgia" pitchFamily="34" charset="-122"/>
                <a:cs typeface="Georgia" pitchFamily="34" charset="-120"/>
              </a:rPr>
              <a:t>couples-therapy apps, daily-prompt apps, or general AI</a:t>
            </a:r>
            <a:endParaRPr lang="en-US" sz="1400" dirty="0"/>
          </a:p>
        </p:txBody>
      </p:sp>
      <p:sp>
        <p:nvSpPr>
          <p:cNvPr id="18" name="Text 16"/>
          <p:cNvSpPr/>
          <p:nvPr/>
        </p:nvSpPr>
        <p:spPr>
          <a:xfrm>
            <a:off x="822960" y="4480560"/>
            <a:ext cx="2011680" cy="457200"/>
          </a:xfrm>
          <a:prstGeom prst="rect">
            <a:avLst/>
          </a:prstGeom>
          <a:noFill/>
          <a:ln/>
        </p:spPr>
        <p:txBody>
          <a:bodyPr wrap="square" lIns="0" tIns="0" rIns="0" bIns="0" rtlCol="0" anchor="ctr"/>
          <a:lstStyle/>
          <a:p>
            <a:pPr indent="0" marL="0">
              <a:buNone/>
            </a:pPr>
            <a:r>
              <a:rPr lang="en-US" sz="1100" b="1" spc="300" kern="0" dirty="0">
                <a:solidFill>
                  <a:srgbClr val="96D35F"/>
                </a:solidFill>
                <a:latin typeface="Calibri" pitchFamily="34" charset="0"/>
                <a:ea typeface="Calibri" pitchFamily="34" charset="-122"/>
                <a:cs typeface="Calibri" pitchFamily="34" charset="-120"/>
              </a:rPr>
              <a:t>HEY OTIS</a:t>
            </a:r>
            <a:endParaRPr lang="en-US" sz="1100" dirty="0"/>
          </a:p>
        </p:txBody>
      </p:sp>
      <p:sp>
        <p:nvSpPr>
          <p:cNvPr id="19" name="Text 17"/>
          <p:cNvSpPr/>
          <p:nvPr/>
        </p:nvSpPr>
        <p:spPr>
          <a:xfrm>
            <a:off x="2926080" y="4480560"/>
            <a:ext cx="8595360" cy="457200"/>
          </a:xfrm>
          <a:prstGeom prst="rect">
            <a:avLst/>
          </a:prstGeom>
          <a:noFill/>
          <a:ln/>
        </p:spPr>
        <p:txBody>
          <a:bodyPr wrap="square" lIns="0" tIns="0" rIns="0" bIns="0" rtlCol="0" anchor="ctr"/>
          <a:lstStyle/>
          <a:p>
            <a:pPr indent="0" marL="0">
              <a:buNone/>
            </a:pPr>
            <a:r>
              <a:rPr lang="en-US" sz="1400" i="1" dirty="0">
                <a:solidFill>
                  <a:srgbClr val="FAF7F2"/>
                </a:solidFill>
                <a:latin typeface="Georgia" pitchFamily="34" charset="0"/>
                <a:ea typeface="Georgia" pitchFamily="34" charset="-122"/>
                <a:cs typeface="Georgia" pitchFamily="34" charset="-120"/>
              </a:rPr>
              <a:t>meets you in the heat of the moment — knows how you attach, how you fight — and gets you to a real repair.</a:t>
            </a:r>
            <a:endParaRPr lang="en-US" sz="1400" dirty="0"/>
          </a:p>
        </p:txBody>
      </p:sp>
      <p:sp>
        <p:nvSpPr>
          <p:cNvPr id="20" name="Shape 18"/>
          <p:cNvSpPr/>
          <p:nvPr/>
        </p:nvSpPr>
        <p:spPr>
          <a:xfrm>
            <a:off x="548640" y="5349240"/>
            <a:ext cx="5440680" cy="1005840"/>
          </a:xfrm>
          <a:prstGeom prst="rect">
            <a:avLst/>
          </a:prstGeom>
          <a:solidFill>
            <a:srgbClr val="FFFFFF"/>
          </a:solidFill>
          <a:ln w="12700">
            <a:solidFill>
              <a:srgbClr val="E5E0D5"/>
            </a:solidFill>
            <a:prstDash val="solid"/>
          </a:ln>
        </p:spPr>
      </p:sp>
      <p:sp>
        <p:nvSpPr>
          <p:cNvPr id="21" name="Text 19"/>
          <p:cNvSpPr/>
          <p:nvPr/>
        </p:nvSpPr>
        <p:spPr>
          <a:xfrm>
            <a:off x="777240" y="5440680"/>
            <a:ext cx="5029200" cy="274320"/>
          </a:xfrm>
          <a:prstGeom prst="rect">
            <a:avLst/>
          </a:prstGeom>
          <a:noFill/>
          <a:ln/>
        </p:spPr>
        <p:txBody>
          <a:bodyPr wrap="square" lIns="0" tIns="0" rIns="0" bIns="0" rtlCol="0" anchor="ctr"/>
          <a:lstStyle/>
          <a:p>
            <a:pPr indent="0" marL="0">
              <a:buNone/>
            </a:pPr>
            <a:r>
              <a:rPr lang="en-US" sz="1000" b="1" spc="400" kern="0" dirty="0">
                <a:solidFill>
                  <a:srgbClr val="F67700"/>
                </a:solidFill>
                <a:latin typeface="Calibri" pitchFamily="34" charset="0"/>
                <a:ea typeface="Calibri" pitchFamily="34" charset="-122"/>
                <a:cs typeface="Calibri" pitchFamily="34" charset="-120"/>
              </a:rPr>
              <a:t>CATEGORY WE OWN</a:t>
            </a:r>
            <a:endParaRPr lang="en-US" sz="1000" dirty="0"/>
          </a:p>
        </p:txBody>
      </p:sp>
      <p:sp>
        <p:nvSpPr>
          <p:cNvPr id="22" name="Text 20"/>
          <p:cNvSpPr/>
          <p:nvPr/>
        </p:nvSpPr>
        <p:spPr>
          <a:xfrm>
            <a:off x="777240" y="5669280"/>
            <a:ext cx="5029200" cy="365760"/>
          </a:xfrm>
          <a:prstGeom prst="rect">
            <a:avLst/>
          </a:prstGeom>
          <a:noFill/>
          <a:ln/>
        </p:spPr>
        <p:txBody>
          <a:bodyPr wrap="square" lIns="0" tIns="0" rIns="0" bIns="0" rtlCol="0" anchor="ctr"/>
          <a:lstStyle/>
          <a:p>
            <a:pPr indent="0" marL="0">
              <a:buNone/>
            </a:pPr>
            <a:r>
              <a:rPr lang="en-US" sz="2200" b="1" dirty="0">
                <a:solidFill>
                  <a:srgbClr val="1F2540"/>
                </a:solidFill>
                <a:latin typeface="Georgia" pitchFamily="34" charset="0"/>
                <a:ea typeface="Georgia" pitchFamily="34" charset="-122"/>
                <a:cs typeface="Georgia" pitchFamily="34" charset="-120"/>
              </a:rPr>
              <a:t>Relationship Repair</a:t>
            </a:r>
            <a:endParaRPr lang="en-US" sz="2200" dirty="0"/>
          </a:p>
        </p:txBody>
      </p:sp>
      <p:sp>
        <p:nvSpPr>
          <p:cNvPr id="23" name="Text 21"/>
          <p:cNvSpPr/>
          <p:nvPr/>
        </p:nvSpPr>
        <p:spPr>
          <a:xfrm>
            <a:off x="777240" y="6035040"/>
            <a:ext cx="5029200" cy="274320"/>
          </a:xfrm>
          <a:prstGeom prst="rect">
            <a:avLst/>
          </a:prstGeom>
          <a:noFill/>
          <a:ln/>
        </p:spPr>
        <p:txBody>
          <a:bodyPr wrap="square" lIns="0" tIns="0" rIns="0" bIns="0" rtlCol="0" anchor="ctr"/>
          <a:lstStyle/>
          <a:p>
            <a:pPr indent="0" marL="0">
              <a:buNone/>
            </a:pPr>
            <a:r>
              <a:rPr lang="en-US" sz="1100" i="1" dirty="0">
                <a:solidFill>
                  <a:srgbClr val="6B6A63"/>
                </a:solidFill>
                <a:latin typeface="Calibri" pitchFamily="34" charset="0"/>
                <a:ea typeface="Calibri" pitchFamily="34" charset="-122"/>
                <a:cs typeface="Calibri" pitchFamily="34" charset="-120"/>
              </a:rPr>
              <a:t>Not therapy. Not journaling. The tool for the conflict itself.</a:t>
            </a:r>
            <a:endParaRPr lang="en-US" sz="1100" dirty="0"/>
          </a:p>
        </p:txBody>
      </p:sp>
      <p:sp>
        <p:nvSpPr>
          <p:cNvPr id="24" name="Shape 22"/>
          <p:cNvSpPr/>
          <p:nvPr/>
        </p:nvSpPr>
        <p:spPr>
          <a:xfrm>
            <a:off x="6263640" y="5349240"/>
            <a:ext cx="5440680" cy="1005840"/>
          </a:xfrm>
          <a:prstGeom prst="rect">
            <a:avLst/>
          </a:prstGeom>
          <a:solidFill>
            <a:srgbClr val="FFFFFF"/>
          </a:solidFill>
          <a:ln w="12700">
            <a:solidFill>
              <a:srgbClr val="E5E0D5"/>
            </a:solidFill>
            <a:prstDash val="solid"/>
          </a:ln>
        </p:spPr>
      </p:sp>
      <p:sp>
        <p:nvSpPr>
          <p:cNvPr id="25" name="Text 23"/>
          <p:cNvSpPr/>
          <p:nvPr/>
        </p:nvSpPr>
        <p:spPr>
          <a:xfrm>
            <a:off x="6492240" y="5440680"/>
            <a:ext cx="5029200" cy="274320"/>
          </a:xfrm>
          <a:prstGeom prst="rect">
            <a:avLst/>
          </a:prstGeom>
          <a:noFill/>
          <a:ln/>
        </p:spPr>
        <p:txBody>
          <a:bodyPr wrap="square" lIns="0" tIns="0" rIns="0" bIns="0" rtlCol="0" anchor="ctr"/>
          <a:lstStyle/>
          <a:p>
            <a:pPr indent="0" marL="0">
              <a:buNone/>
            </a:pPr>
            <a:r>
              <a:rPr lang="en-US" sz="1000" b="1" spc="400" kern="0" dirty="0">
                <a:solidFill>
                  <a:srgbClr val="BD57F2"/>
                </a:solidFill>
                <a:latin typeface="Calibri" pitchFamily="34" charset="0"/>
                <a:ea typeface="Calibri" pitchFamily="34" charset="-122"/>
                <a:cs typeface="Calibri" pitchFamily="34" charset="-120"/>
              </a:rPr>
              <a:t>JOB-TO-BE-HIRED-FOR</a:t>
            </a:r>
            <a:endParaRPr lang="en-US" sz="1000" dirty="0"/>
          </a:p>
        </p:txBody>
      </p:sp>
      <p:sp>
        <p:nvSpPr>
          <p:cNvPr id="26" name="Text 24"/>
          <p:cNvSpPr/>
          <p:nvPr/>
        </p:nvSpPr>
        <p:spPr>
          <a:xfrm>
            <a:off x="6492240" y="5669280"/>
            <a:ext cx="5029200" cy="365760"/>
          </a:xfrm>
          <a:prstGeom prst="rect">
            <a:avLst/>
          </a:prstGeom>
          <a:noFill/>
          <a:ln/>
        </p:spPr>
        <p:txBody>
          <a:bodyPr wrap="square" lIns="0" tIns="0" rIns="0" bIns="0" rtlCol="0" anchor="ctr"/>
          <a:lstStyle/>
          <a:p>
            <a:pPr indent="0" marL="0">
              <a:buNone/>
            </a:pPr>
            <a:r>
              <a:rPr lang="en-US" sz="1500" i="1" dirty="0">
                <a:solidFill>
                  <a:srgbClr val="1F2540"/>
                </a:solidFill>
                <a:latin typeface="Georgia" pitchFamily="34" charset="0"/>
                <a:ea typeface="Georgia" pitchFamily="34" charset="-122"/>
                <a:cs typeface="Georgia" pitchFamily="34" charset="-120"/>
              </a:rPr>
              <a:t>“Help me have the conversation I'm avoiding.”</a:t>
            </a:r>
            <a:endParaRPr lang="en-US" sz="1500" dirty="0"/>
          </a:p>
        </p:txBody>
      </p:sp>
      <p:sp>
        <p:nvSpPr>
          <p:cNvPr id="27" name="Text 25"/>
          <p:cNvSpPr/>
          <p:nvPr/>
        </p:nvSpPr>
        <p:spPr>
          <a:xfrm>
            <a:off x="6492240" y="6035040"/>
            <a:ext cx="5029200" cy="274320"/>
          </a:xfrm>
          <a:prstGeom prst="rect">
            <a:avLst/>
          </a:prstGeom>
          <a:noFill/>
          <a:ln/>
        </p:spPr>
        <p:txBody>
          <a:bodyPr wrap="square" lIns="0" tIns="0" rIns="0" bIns="0" rtlCol="0" anchor="ctr"/>
          <a:lstStyle/>
          <a:p>
            <a:pPr indent="0" marL="0">
              <a:buNone/>
            </a:pPr>
            <a:r>
              <a:rPr lang="en-US" sz="1100" i="1" dirty="0">
                <a:solidFill>
                  <a:srgbClr val="6B6A63"/>
                </a:solidFill>
                <a:latin typeface="Calibri" pitchFamily="34" charset="0"/>
                <a:ea typeface="Calibri" pitchFamily="34" charset="-122"/>
                <a:cs typeface="Calibri" pitchFamily="34" charset="-120"/>
              </a:rPr>
              <a:t>Tonight — not next Thursday with a therapist.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6D35F"/>
          </a:solidFill>
          <a:ln w="12700">
            <a:solidFill>
              <a:srgbClr val="96D35F"/>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6D35F"/>
                </a:solidFill>
                <a:latin typeface="Calibri" pitchFamily="34" charset="0"/>
                <a:ea typeface="Calibri" pitchFamily="34" charset="-122"/>
                <a:cs typeface="Calibri" pitchFamily="34" charset="-120"/>
              </a:rPr>
              <a:t>11 · BRAND · VOICE</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A warm, grounded voice — never clinical, never self-help.</a:t>
            </a:r>
            <a:endParaRPr lang="en-US" sz="3200" dirty="0"/>
          </a:p>
        </p:txBody>
      </p:sp>
      <p:sp>
        <p:nvSpPr>
          <p:cNvPr id="9" name="Shape 7"/>
          <p:cNvSpPr/>
          <p:nvPr/>
        </p:nvSpPr>
        <p:spPr>
          <a:xfrm>
            <a:off x="548640" y="2103120"/>
            <a:ext cx="5532120" cy="1828800"/>
          </a:xfrm>
          <a:prstGeom prst="rect">
            <a:avLst/>
          </a:prstGeom>
          <a:solidFill>
            <a:srgbClr val="FFFFFF"/>
          </a:solidFill>
          <a:ln w="12700">
            <a:solidFill>
              <a:srgbClr val="E5E0D5"/>
            </a:solidFill>
            <a:prstDash val="solid"/>
          </a:ln>
        </p:spPr>
      </p:sp>
      <p:sp>
        <p:nvSpPr>
          <p:cNvPr id="10" name="Shape 8"/>
          <p:cNvSpPr/>
          <p:nvPr/>
        </p:nvSpPr>
        <p:spPr>
          <a:xfrm>
            <a:off x="548640" y="2103120"/>
            <a:ext cx="91440" cy="1828800"/>
          </a:xfrm>
          <a:prstGeom prst="rect">
            <a:avLst/>
          </a:prstGeom>
          <a:solidFill>
            <a:srgbClr val="96D35F"/>
          </a:solidFill>
          <a:ln w="12700">
            <a:solidFill>
              <a:srgbClr val="96D35F"/>
            </a:solidFill>
            <a:prstDash val="solid"/>
          </a:ln>
        </p:spPr>
      </p:sp>
      <p:sp>
        <p:nvSpPr>
          <p:cNvPr id="11" name="Text 9"/>
          <p:cNvSpPr/>
          <p:nvPr/>
        </p:nvSpPr>
        <p:spPr>
          <a:xfrm>
            <a:off x="822960" y="2286000"/>
            <a:ext cx="5212080" cy="457200"/>
          </a:xfrm>
          <a:prstGeom prst="rect">
            <a:avLst/>
          </a:prstGeom>
          <a:noFill/>
          <a:ln/>
        </p:spPr>
        <p:txBody>
          <a:bodyPr wrap="square" lIns="0" tIns="0" rIns="0" bIns="0" rtlCol="0" anchor="ctr"/>
          <a:lstStyle/>
          <a:p>
            <a:pPr indent="0" marL="0">
              <a:buNone/>
            </a:pPr>
            <a:r>
              <a:rPr lang="en-US" sz="1700" b="1" dirty="0">
                <a:solidFill>
                  <a:srgbClr val="1F2540"/>
                </a:solidFill>
                <a:latin typeface="Georgia" pitchFamily="34" charset="0"/>
                <a:ea typeface="Georgia" pitchFamily="34" charset="-122"/>
                <a:cs typeface="Georgia" pitchFamily="34" charset="-120"/>
              </a:rPr>
              <a:t>Direct, not blunt</a:t>
            </a:r>
            <a:endParaRPr lang="en-US" sz="1700" dirty="0"/>
          </a:p>
        </p:txBody>
      </p:sp>
      <p:sp>
        <p:nvSpPr>
          <p:cNvPr id="12" name="Text 10"/>
          <p:cNvSpPr/>
          <p:nvPr/>
        </p:nvSpPr>
        <p:spPr>
          <a:xfrm>
            <a:off x="822960" y="2788920"/>
            <a:ext cx="5212080" cy="1005840"/>
          </a:xfrm>
          <a:prstGeom prst="rect">
            <a:avLst/>
          </a:prstGeom>
          <a:noFill/>
          <a:ln/>
        </p:spPr>
        <p:txBody>
          <a:bodyPr wrap="square" lIns="0" tIns="0" rIns="0" bIns="0" rtlCol="0" anchor="ctr"/>
          <a:lstStyle/>
          <a:p>
            <a:pPr indent="0" marL="0">
              <a:buNone/>
            </a:pPr>
            <a:r>
              <a:rPr lang="en-US" sz="1250" dirty="0">
                <a:solidFill>
                  <a:srgbClr val="2A2D34"/>
                </a:solidFill>
                <a:latin typeface="Calibri" pitchFamily="34" charset="0"/>
                <a:ea typeface="Calibri" pitchFamily="34" charset="-122"/>
                <a:cs typeface="Calibri" pitchFamily="34" charset="-120"/>
              </a:rPr>
              <a:t>“Say the quiet part.”  Imperative and inviting — never scolding.</a:t>
            </a:r>
            <a:endParaRPr lang="en-US" sz="1250" dirty="0"/>
          </a:p>
        </p:txBody>
      </p:sp>
      <p:sp>
        <p:nvSpPr>
          <p:cNvPr id="13" name="Shape 11"/>
          <p:cNvSpPr/>
          <p:nvPr/>
        </p:nvSpPr>
        <p:spPr>
          <a:xfrm>
            <a:off x="6172200" y="2103120"/>
            <a:ext cx="5532120" cy="1828800"/>
          </a:xfrm>
          <a:prstGeom prst="rect">
            <a:avLst/>
          </a:prstGeom>
          <a:solidFill>
            <a:srgbClr val="FFFFFF"/>
          </a:solidFill>
          <a:ln w="12700">
            <a:solidFill>
              <a:srgbClr val="E5E0D5"/>
            </a:solidFill>
            <a:prstDash val="solid"/>
          </a:ln>
        </p:spPr>
      </p:sp>
      <p:sp>
        <p:nvSpPr>
          <p:cNvPr id="14" name="Shape 12"/>
          <p:cNvSpPr/>
          <p:nvPr/>
        </p:nvSpPr>
        <p:spPr>
          <a:xfrm>
            <a:off x="6172200" y="2103120"/>
            <a:ext cx="91440" cy="1828800"/>
          </a:xfrm>
          <a:prstGeom prst="rect">
            <a:avLst/>
          </a:prstGeom>
          <a:solidFill>
            <a:srgbClr val="96D35F"/>
          </a:solidFill>
          <a:ln w="12700">
            <a:solidFill>
              <a:srgbClr val="96D35F"/>
            </a:solidFill>
            <a:prstDash val="solid"/>
          </a:ln>
        </p:spPr>
      </p:sp>
      <p:sp>
        <p:nvSpPr>
          <p:cNvPr id="15" name="Text 13"/>
          <p:cNvSpPr/>
          <p:nvPr/>
        </p:nvSpPr>
        <p:spPr>
          <a:xfrm>
            <a:off x="6446520" y="2286000"/>
            <a:ext cx="5212080" cy="457200"/>
          </a:xfrm>
          <a:prstGeom prst="rect">
            <a:avLst/>
          </a:prstGeom>
          <a:noFill/>
          <a:ln/>
        </p:spPr>
        <p:txBody>
          <a:bodyPr wrap="square" lIns="0" tIns="0" rIns="0" bIns="0" rtlCol="0" anchor="ctr"/>
          <a:lstStyle/>
          <a:p>
            <a:pPr indent="0" marL="0">
              <a:buNone/>
            </a:pPr>
            <a:r>
              <a:rPr lang="en-US" sz="1700" b="1" dirty="0">
                <a:solidFill>
                  <a:srgbClr val="1F2540"/>
                </a:solidFill>
                <a:latin typeface="Georgia" pitchFamily="34" charset="0"/>
                <a:ea typeface="Georgia" pitchFamily="34" charset="-122"/>
                <a:cs typeface="Georgia" pitchFamily="34" charset="-120"/>
              </a:rPr>
              <a:t>Grounded, not mystical</a:t>
            </a:r>
            <a:endParaRPr lang="en-US" sz="1700" dirty="0"/>
          </a:p>
        </p:txBody>
      </p:sp>
      <p:sp>
        <p:nvSpPr>
          <p:cNvPr id="16" name="Text 14"/>
          <p:cNvSpPr/>
          <p:nvPr/>
        </p:nvSpPr>
        <p:spPr>
          <a:xfrm>
            <a:off x="6446520" y="2788920"/>
            <a:ext cx="5212080" cy="1005840"/>
          </a:xfrm>
          <a:prstGeom prst="rect">
            <a:avLst/>
          </a:prstGeom>
          <a:noFill/>
          <a:ln/>
        </p:spPr>
        <p:txBody>
          <a:bodyPr wrap="square" lIns="0" tIns="0" rIns="0" bIns="0" rtlCol="0" anchor="ctr"/>
          <a:lstStyle/>
          <a:p>
            <a:pPr indent="0" marL="0">
              <a:buNone/>
            </a:pPr>
            <a:r>
              <a:rPr lang="en-US" sz="1250" dirty="0">
                <a:solidFill>
                  <a:srgbClr val="2A2D34"/>
                </a:solidFill>
                <a:latin typeface="Calibri" pitchFamily="34" charset="0"/>
                <a:ea typeface="Calibri" pitchFamily="34" charset="-122"/>
                <a:cs typeface="Calibri" pitchFamily="34" charset="-120"/>
              </a:rPr>
              <a:t>“See what's really going on.”  Specific, not vague.</a:t>
            </a:r>
            <a:endParaRPr lang="en-US" sz="1250" dirty="0"/>
          </a:p>
        </p:txBody>
      </p:sp>
      <p:sp>
        <p:nvSpPr>
          <p:cNvPr id="17" name="Shape 15"/>
          <p:cNvSpPr/>
          <p:nvPr/>
        </p:nvSpPr>
        <p:spPr>
          <a:xfrm>
            <a:off x="548640" y="4069080"/>
            <a:ext cx="5532120" cy="1828800"/>
          </a:xfrm>
          <a:prstGeom prst="rect">
            <a:avLst/>
          </a:prstGeom>
          <a:solidFill>
            <a:srgbClr val="FFFFFF"/>
          </a:solidFill>
          <a:ln w="12700">
            <a:solidFill>
              <a:srgbClr val="E5E0D5"/>
            </a:solidFill>
            <a:prstDash val="solid"/>
          </a:ln>
        </p:spPr>
      </p:sp>
      <p:sp>
        <p:nvSpPr>
          <p:cNvPr id="18" name="Shape 16"/>
          <p:cNvSpPr/>
          <p:nvPr/>
        </p:nvSpPr>
        <p:spPr>
          <a:xfrm>
            <a:off x="548640" y="4069080"/>
            <a:ext cx="91440" cy="1828800"/>
          </a:xfrm>
          <a:prstGeom prst="rect">
            <a:avLst/>
          </a:prstGeom>
          <a:solidFill>
            <a:srgbClr val="96D35F"/>
          </a:solidFill>
          <a:ln w="12700">
            <a:solidFill>
              <a:srgbClr val="96D35F"/>
            </a:solidFill>
            <a:prstDash val="solid"/>
          </a:ln>
        </p:spPr>
      </p:sp>
      <p:sp>
        <p:nvSpPr>
          <p:cNvPr id="19" name="Text 17"/>
          <p:cNvSpPr/>
          <p:nvPr/>
        </p:nvSpPr>
        <p:spPr>
          <a:xfrm>
            <a:off x="822960" y="4251960"/>
            <a:ext cx="5212080" cy="457200"/>
          </a:xfrm>
          <a:prstGeom prst="rect">
            <a:avLst/>
          </a:prstGeom>
          <a:noFill/>
          <a:ln/>
        </p:spPr>
        <p:txBody>
          <a:bodyPr wrap="square" lIns="0" tIns="0" rIns="0" bIns="0" rtlCol="0" anchor="ctr"/>
          <a:lstStyle/>
          <a:p>
            <a:pPr indent="0" marL="0">
              <a:buNone/>
            </a:pPr>
            <a:r>
              <a:rPr lang="en-US" sz="1700" b="1" dirty="0">
                <a:solidFill>
                  <a:srgbClr val="1F2540"/>
                </a:solidFill>
                <a:latin typeface="Georgia" pitchFamily="34" charset="0"/>
                <a:ea typeface="Georgia" pitchFamily="34" charset="-122"/>
                <a:cs typeface="Georgia" pitchFamily="34" charset="-120"/>
              </a:rPr>
              <a:t>Warm, not saccharine</a:t>
            </a:r>
            <a:endParaRPr lang="en-US" sz="1700" dirty="0"/>
          </a:p>
        </p:txBody>
      </p:sp>
      <p:sp>
        <p:nvSpPr>
          <p:cNvPr id="20" name="Text 18"/>
          <p:cNvSpPr/>
          <p:nvPr/>
        </p:nvSpPr>
        <p:spPr>
          <a:xfrm>
            <a:off x="822960" y="4754880"/>
            <a:ext cx="5212080" cy="1005840"/>
          </a:xfrm>
          <a:prstGeom prst="rect">
            <a:avLst/>
          </a:prstGeom>
          <a:noFill/>
          <a:ln/>
        </p:spPr>
        <p:txBody>
          <a:bodyPr wrap="square" lIns="0" tIns="0" rIns="0" bIns="0" rtlCol="0" anchor="ctr"/>
          <a:lstStyle/>
          <a:p>
            <a:pPr indent="0" marL="0">
              <a:buNone/>
            </a:pPr>
            <a:r>
              <a:rPr lang="en-US" sz="1250" dirty="0">
                <a:solidFill>
                  <a:srgbClr val="2A2D34"/>
                </a:solidFill>
                <a:latin typeface="Calibri" pitchFamily="34" charset="0"/>
                <a:ea typeface="Calibri" pitchFamily="34" charset="-122"/>
                <a:cs typeface="Calibri" pitchFamily="34" charset="-120"/>
              </a:rPr>
              <a:t>“Have the conversation.”  Respects the user as a capable adult.</a:t>
            </a:r>
            <a:endParaRPr lang="en-US" sz="1250" dirty="0"/>
          </a:p>
        </p:txBody>
      </p:sp>
      <p:sp>
        <p:nvSpPr>
          <p:cNvPr id="21" name="Shape 19"/>
          <p:cNvSpPr/>
          <p:nvPr/>
        </p:nvSpPr>
        <p:spPr>
          <a:xfrm>
            <a:off x="6172200" y="4069080"/>
            <a:ext cx="5532120" cy="1828800"/>
          </a:xfrm>
          <a:prstGeom prst="rect">
            <a:avLst/>
          </a:prstGeom>
          <a:solidFill>
            <a:srgbClr val="FFFFFF"/>
          </a:solidFill>
          <a:ln w="12700">
            <a:solidFill>
              <a:srgbClr val="E5E0D5"/>
            </a:solidFill>
            <a:prstDash val="solid"/>
          </a:ln>
        </p:spPr>
      </p:sp>
      <p:sp>
        <p:nvSpPr>
          <p:cNvPr id="22" name="Shape 20"/>
          <p:cNvSpPr/>
          <p:nvPr/>
        </p:nvSpPr>
        <p:spPr>
          <a:xfrm>
            <a:off x="6172200" y="4069080"/>
            <a:ext cx="91440" cy="1828800"/>
          </a:xfrm>
          <a:prstGeom prst="rect">
            <a:avLst/>
          </a:prstGeom>
          <a:solidFill>
            <a:srgbClr val="96D35F"/>
          </a:solidFill>
          <a:ln w="12700">
            <a:solidFill>
              <a:srgbClr val="96D35F"/>
            </a:solidFill>
            <a:prstDash val="solid"/>
          </a:ln>
        </p:spPr>
      </p:sp>
      <p:sp>
        <p:nvSpPr>
          <p:cNvPr id="23" name="Text 21"/>
          <p:cNvSpPr/>
          <p:nvPr/>
        </p:nvSpPr>
        <p:spPr>
          <a:xfrm>
            <a:off x="6446520" y="4251960"/>
            <a:ext cx="5212080" cy="457200"/>
          </a:xfrm>
          <a:prstGeom prst="rect">
            <a:avLst/>
          </a:prstGeom>
          <a:noFill/>
          <a:ln/>
        </p:spPr>
        <p:txBody>
          <a:bodyPr wrap="square" lIns="0" tIns="0" rIns="0" bIns="0" rtlCol="0" anchor="ctr"/>
          <a:lstStyle/>
          <a:p>
            <a:pPr indent="0" marL="0">
              <a:buNone/>
            </a:pPr>
            <a:r>
              <a:rPr lang="en-US" sz="1700" b="1" dirty="0">
                <a:solidFill>
                  <a:srgbClr val="1F2540"/>
                </a:solidFill>
                <a:latin typeface="Georgia" pitchFamily="34" charset="0"/>
                <a:ea typeface="Georgia" pitchFamily="34" charset="-122"/>
                <a:cs typeface="Georgia" pitchFamily="34" charset="-120"/>
              </a:rPr>
              <a:t>Honest, not clinical</a:t>
            </a:r>
            <a:endParaRPr lang="en-US" sz="1700" dirty="0"/>
          </a:p>
        </p:txBody>
      </p:sp>
      <p:sp>
        <p:nvSpPr>
          <p:cNvPr id="24" name="Text 22"/>
          <p:cNvSpPr/>
          <p:nvPr/>
        </p:nvSpPr>
        <p:spPr>
          <a:xfrm>
            <a:off x="6446520" y="4754880"/>
            <a:ext cx="5212080" cy="1005840"/>
          </a:xfrm>
          <a:prstGeom prst="rect">
            <a:avLst/>
          </a:prstGeom>
          <a:noFill/>
          <a:ln/>
        </p:spPr>
        <p:txBody>
          <a:bodyPr wrap="square" lIns="0" tIns="0" rIns="0" bIns="0" rtlCol="0" anchor="ctr"/>
          <a:lstStyle/>
          <a:p>
            <a:pPr indent="0" marL="0">
              <a:buNone/>
            </a:pPr>
            <a:r>
              <a:rPr lang="en-US" sz="1250" dirty="0">
                <a:solidFill>
                  <a:srgbClr val="2A2D34"/>
                </a:solidFill>
                <a:latin typeface="Calibri" pitchFamily="34" charset="0"/>
                <a:ea typeface="Calibri" pitchFamily="34" charset="-122"/>
                <a:cs typeface="Calibri" pitchFamily="34" charset="-120"/>
              </a:rPr>
              <a:t>No therapy-speak. Attachment science in plain words.</a:t>
            </a:r>
            <a:endParaRPr lang="en-US" sz="1250" dirty="0"/>
          </a:p>
        </p:txBody>
      </p:sp>
      <p:sp>
        <p:nvSpPr>
          <p:cNvPr id="25" name="Shape 23"/>
          <p:cNvSpPr/>
          <p:nvPr/>
        </p:nvSpPr>
        <p:spPr>
          <a:xfrm>
            <a:off x="548640" y="6080760"/>
            <a:ext cx="11155680" cy="320040"/>
          </a:xfrm>
          <a:prstGeom prst="rect">
            <a:avLst/>
          </a:prstGeom>
          <a:solidFill>
            <a:srgbClr val="1F2540"/>
          </a:solidFill>
          <a:ln w="12700">
            <a:solidFill>
              <a:srgbClr val="1F2540"/>
            </a:solidFill>
            <a:prstDash val="solid"/>
          </a:ln>
        </p:spPr>
      </p:sp>
      <p:sp>
        <p:nvSpPr>
          <p:cNvPr id="26" name="Text 24"/>
          <p:cNvSpPr/>
          <p:nvPr/>
        </p:nvSpPr>
        <p:spPr>
          <a:xfrm>
            <a:off x="731520" y="6089904"/>
            <a:ext cx="10972800" cy="301752"/>
          </a:xfrm>
          <a:prstGeom prst="rect">
            <a:avLst/>
          </a:prstGeom>
          <a:noFill/>
          <a:ln/>
        </p:spPr>
        <p:txBody>
          <a:bodyPr wrap="square" lIns="0" tIns="0" rIns="0" bIns="0" rtlCol="0" anchor="ctr"/>
          <a:lstStyle/>
          <a:p>
            <a:pPr indent="0" marL="0">
              <a:buNone/>
            </a:pPr>
            <a:r>
              <a:rPr lang="en-US" sz="1050" i="1" dirty="0">
                <a:solidFill>
                  <a:srgbClr val="FAF7F2"/>
                </a:solidFill>
                <a:latin typeface="Calibri" pitchFamily="34" charset="0"/>
                <a:ea typeface="Calibri" pitchFamily="34" charset="-122"/>
                <a:cs typeface="Calibri" pitchFamily="34" charset="-120"/>
              </a:rPr>
              <a:t>Never say:  “therapy in your pocket” · “save your relationship” · “revolutionary” · any exclamation mark. Ever.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2A6F4"/>
          </a:solidFill>
          <a:ln w="12700">
            <a:solidFill>
              <a:srgbClr val="92A6F4"/>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13</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2A6F4"/>
                </a:solidFill>
                <a:latin typeface="Calibri" pitchFamily="34" charset="0"/>
                <a:ea typeface="Calibri" pitchFamily="34" charset="-122"/>
                <a:cs typeface="Calibri" pitchFamily="34" charset="-120"/>
              </a:rPr>
              <a:t>12 · TARGET PERSONAS</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Three high-intent segments, ranked by lifetime value.</a:t>
            </a:r>
            <a:endParaRPr lang="en-US" sz="3200" dirty="0"/>
          </a:p>
        </p:txBody>
      </p:sp>
      <p:sp>
        <p:nvSpPr>
          <p:cNvPr id="9" name="Shape 7"/>
          <p:cNvSpPr/>
          <p:nvPr/>
        </p:nvSpPr>
        <p:spPr>
          <a:xfrm>
            <a:off x="548640" y="2103120"/>
            <a:ext cx="3611880" cy="4297680"/>
          </a:xfrm>
          <a:prstGeom prst="rect">
            <a:avLst/>
          </a:prstGeom>
          <a:solidFill>
            <a:srgbClr val="FFFFFF"/>
          </a:solidFill>
          <a:ln w="12700">
            <a:solidFill>
              <a:srgbClr val="E5E0D5"/>
            </a:solidFill>
            <a:prstDash val="solid"/>
          </a:ln>
        </p:spPr>
      </p:sp>
      <p:sp>
        <p:nvSpPr>
          <p:cNvPr id="10" name="Shape 8"/>
          <p:cNvSpPr/>
          <p:nvPr/>
        </p:nvSpPr>
        <p:spPr>
          <a:xfrm>
            <a:off x="548640" y="2103120"/>
            <a:ext cx="3611880" cy="502920"/>
          </a:xfrm>
          <a:prstGeom prst="rect">
            <a:avLst/>
          </a:prstGeom>
          <a:solidFill>
            <a:srgbClr val="92A6F4"/>
          </a:solidFill>
          <a:ln w="12700">
            <a:solidFill>
              <a:srgbClr val="92A6F4"/>
            </a:solidFill>
            <a:prstDash val="solid"/>
          </a:ln>
        </p:spPr>
      </p:sp>
      <p:sp>
        <p:nvSpPr>
          <p:cNvPr id="11" name="Text 9"/>
          <p:cNvSpPr/>
          <p:nvPr/>
        </p:nvSpPr>
        <p:spPr>
          <a:xfrm>
            <a:off x="822960" y="2167128"/>
            <a:ext cx="3108960" cy="41148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The Therapy-Literate Half</a:t>
            </a:r>
            <a:endParaRPr lang="en-US" sz="1400" dirty="0"/>
          </a:p>
        </p:txBody>
      </p:sp>
      <p:sp>
        <p:nvSpPr>
          <p:cNvPr id="12" name="Text 10"/>
          <p:cNvSpPr/>
          <p:nvPr/>
        </p:nvSpPr>
        <p:spPr>
          <a:xfrm>
            <a:off x="822960" y="2697480"/>
            <a:ext cx="3108960" cy="320040"/>
          </a:xfrm>
          <a:prstGeom prst="rect">
            <a:avLst/>
          </a:prstGeom>
          <a:noFill/>
          <a:ln/>
        </p:spPr>
        <p:txBody>
          <a:bodyPr wrap="square" lIns="0" tIns="0" rIns="0" bIns="0" rtlCol="0" anchor="ctr"/>
          <a:lstStyle/>
          <a:p>
            <a:pPr indent="0" marL="0">
              <a:buNone/>
            </a:pPr>
            <a:r>
              <a:rPr lang="en-US" sz="1050" i="1" spc="200" kern="0" dirty="0">
                <a:solidFill>
                  <a:srgbClr val="92A6F4"/>
                </a:solidFill>
                <a:latin typeface="Calibri" pitchFamily="34" charset="0"/>
                <a:ea typeface="Calibri" pitchFamily="34" charset="-122"/>
                <a:cs typeface="Calibri" pitchFamily="34" charset="-120"/>
              </a:rPr>
              <a:t>Primary · ~48% of revenue</a:t>
            </a:r>
            <a:endParaRPr lang="en-US" sz="1050" dirty="0"/>
          </a:p>
        </p:txBody>
      </p:sp>
      <p:sp>
        <p:nvSpPr>
          <p:cNvPr id="13" name="Text 11"/>
          <p:cNvSpPr/>
          <p:nvPr/>
        </p:nvSpPr>
        <p:spPr>
          <a:xfrm>
            <a:off x="822960" y="3108960"/>
            <a:ext cx="3108960" cy="3108960"/>
          </a:xfrm>
          <a:prstGeom prst="rect">
            <a:avLst/>
          </a:prstGeom>
          <a:noFill/>
          <a:ln/>
        </p:spPr>
        <p:txBody>
          <a:bodyPr wrap="square" lIns="0" tIns="0" rIns="0" bIns="0" rtlCol="0" anchor="ctr"/>
          <a:lstStyle/>
          <a:p>
            <a:pPr indent="0" marL="0">
              <a:buNone/>
            </a:pPr>
            <a:r>
              <a:rPr lang="en-US" sz="1200" dirty="0">
                <a:solidFill>
                  <a:srgbClr val="2A2D34"/>
                </a:solidFill>
                <a:latin typeface="Calibri" pitchFamily="34" charset="0"/>
                <a:ea typeface="Calibri" pitchFamily="34" charset="-122"/>
                <a:cs typeface="Calibri" pitchFamily="34" charset="-120"/>
              </a:rPr>
              <a:t>28–42, in a 3+ year partnership. Has done personal therapy. Partner has not. Brings Otis into the relationship solo; partner joins later.</a:t>
            </a:r>
            <a:endParaRPr lang="en-US" sz="1200" dirty="0"/>
          </a:p>
        </p:txBody>
      </p:sp>
      <p:sp>
        <p:nvSpPr>
          <p:cNvPr id="14" name="Shape 12"/>
          <p:cNvSpPr/>
          <p:nvPr/>
        </p:nvSpPr>
        <p:spPr>
          <a:xfrm>
            <a:off x="4343400" y="2103120"/>
            <a:ext cx="3611880" cy="4297680"/>
          </a:xfrm>
          <a:prstGeom prst="rect">
            <a:avLst/>
          </a:prstGeom>
          <a:solidFill>
            <a:srgbClr val="FFFFFF"/>
          </a:solidFill>
          <a:ln w="12700">
            <a:solidFill>
              <a:srgbClr val="E5E0D5"/>
            </a:solidFill>
            <a:prstDash val="solid"/>
          </a:ln>
        </p:spPr>
      </p:sp>
      <p:sp>
        <p:nvSpPr>
          <p:cNvPr id="15" name="Shape 13"/>
          <p:cNvSpPr/>
          <p:nvPr/>
        </p:nvSpPr>
        <p:spPr>
          <a:xfrm>
            <a:off x="4343400" y="2103120"/>
            <a:ext cx="3611880" cy="502920"/>
          </a:xfrm>
          <a:prstGeom prst="rect">
            <a:avLst/>
          </a:prstGeom>
          <a:solidFill>
            <a:srgbClr val="F67700"/>
          </a:solidFill>
          <a:ln w="12700">
            <a:solidFill>
              <a:srgbClr val="F67700"/>
            </a:solidFill>
            <a:prstDash val="solid"/>
          </a:ln>
        </p:spPr>
      </p:sp>
      <p:sp>
        <p:nvSpPr>
          <p:cNvPr id="16" name="Text 14"/>
          <p:cNvSpPr/>
          <p:nvPr/>
        </p:nvSpPr>
        <p:spPr>
          <a:xfrm>
            <a:off x="4617720" y="2167128"/>
            <a:ext cx="3108960" cy="41148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The Reconnecting Couple</a:t>
            </a:r>
            <a:endParaRPr lang="en-US" sz="1400" dirty="0"/>
          </a:p>
        </p:txBody>
      </p:sp>
      <p:sp>
        <p:nvSpPr>
          <p:cNvPr id="17" name="Text 15"/>
          <p:cNvSpPr/>
          <p:nvPr/>
        </p:nvSpPr>
        <p:spPr>
          <a:xfrm>
            <a:off x="4617720" y="2697480"/>
            <a:ext cx="3108960" cy="320040"/>
          </a:xfrm>
          <a:prstGeom prst="rect">
            <a:avLst/>
          </a:prstGeom>
          <a:noFill/>
          <a:ln/>
        </p:spPr>
        <p:txBody>
          <a:bodyPr wrap="square" lIns="0" tIns="0" rIns="0" bIns="0" rtlCol="0" anchor="ctr"/>
          <a:lstStyle/>
          <a:p>
            <a:pPr indent="0" marL="0">
              <a:buNone/>
            </a:pPr>
            <a:r>
              <a:rPr lang="en-US" sz="1050" i="1" spc="200" kern="0" dirty="0">
                <a:solidFill>
                  <a:srgbClr val="F67700"/>
                </a:solidFill>
                <a:latin typeface="Calibri" pitchFamily="34" charset="0"/>
                <a:ea typeface="Calibri" pitchFamily="34" charset="-122"/>
                <a:cs typeface="Calibri" pitchFamily="34" charset="-120"/>
              </a:rPr>
              <a:t>Secondary · ~34% of revenue</a:t>
            </a:r>
            <a:endParaRPr lang="en-US" sz="1050" dirty="0"/>
          </a:p>
        </p:txBody>
      </p:sp>
      <p:sp>
        <p:nvSpPr>
          <p:cNvPr id="18" name="Text 16"/>
          <p:cNvSpPr/>
          <p:nvPr/>
        </p:nvSpPr>
        <p:spPr>
          <a:xfrm>
            <a:off x="4617720" y="3108960"/>
            <a:ext cx="3108960" cy="3108960"/>
          </a:xfrm>
          <a:prstGeom prst="rect">
            <a:avLst/>
          </a:prstGeom>
          <a:noFill/>
          <a:ln/>
        </p:spPr>
        <p:txBody>
          <a:bodyPr wrap="square" lIns="0" tIns="0" rIns="0" bIns="0" rtlCol="0" anchor="ctr"/>
          <a:lstStyle/>
          <a:p>
            <a:pPr indent="0" marL="0">
              <a:buNone/>
            </a:pPr>
            <a:r>
              <a:rPr lang="en-US" sz="1200" dirty="0">
                <a:solidFill>
                  <a:srgbClr val="2A2D34"/>
                </a:solidFill>
                <a:latin typeface="Calibri" pitchFamily="34" charset="0"/>
                <a:ea typeface="Calibri" pitchFamily="34" charset="-122"/>
                <a:cs typeface="Calibri" pitchFamily="34" charset="-120"/>
              </a:rPr>
              <a:t>32–48, post-kids/post-move. The fights aren't loud — they're distant. Uses Otis to find language for what feels off but hasn't been named.</a:t>
            </a:r>
            <a:endParaRPr lang="en-US" sz="1200" dirty="0"/>
          </a:p>
        </p:txBody>
      </p:sp>
      <p:sp>
        <p:nvSpPr>
          <p:cNvPr id="19" name="Shape 17"/>
          <p:cNvSpPr/>
          <p:nvPr/>
        </p:nvSpPr>
        <p:spPr>
          <a:xfrm>
            <a:off x="8138160" y="2103120"/>
            <a:ext cx="3611880" cy="4297680"/>
          </a:xfrm>
          <a:prstGeom prst="rect">
            <a:avLst/>
          </a:prstGeom>
          <a:solidFill>
            <a:srgbClr val="FFFFFF"/>
          </a:solidFill>
          <a:ln w="12700">
            <a:solidFill>
              <a:srgbClr val="E5E0D5"/>
            </a:solidFill>
            <a:prstDash val="solid"/>
          </a:ln>
        </p:spPr>
      </p:sp>
      <p:sp>
        <p:nvSpPr>
          <p:cNvPr id="20" name="Shape 18"/>
          <p:cNvSpPr/>
          <p:nvPr/>
        </p:nvSpPr>
        <p:spPr>
          <a:xfrm>
            <a:off x="8138160" y="2103120"/>
            <a:ext cx="3611880" cy="502920"/>
          </a:xfrm>
          <a:prstGeom prst="rect">
            <a:avLst/>
          </a:prstGeom>
          <a:solidFill>
            <a:srgbClr val="BD57F2"/>
          </a:solidFill>
          <a:ln w="12700">
            <a:solidFill>
              <a:srgbClr val="BD57F2"/>
            </a:solidFill>
            <a:prstDash val="solid"/>
          </a:ln>
        </p:spPr>
      </p:sp>
      <p:sp>
        <p:nvSpPr>
          <p:cNvPr id="21" name="Text 19"/>
          <p:cNvSpPr/>
          <p:nvPr/>
        </p:nvSpPr>
        <p:spPr>
          <a:xfrm>
            <a:off x="8412480" y="2167128"/>
            <a:ext cx="3108960" cy="41148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The Pre-Commitment Pair</a:t>
            </a:r>
            <a:endParaRPr lang="en-US" sz="1400" dirty="0"/>
          </a:p>
        </p:txBody>
      </p:sp>
      <p:sp>
        <p:nvSpPr>
          <p:cNvPr id="22" name="Text 20"/>
          <p:cNvSpPr/>
          <p:nvPr/>
        </p:nvSpPr>
        <p:spPr>
          <a:xfrm>
            <a:off x="8412480" y="2697480"/>
            <a:ext cx="3108960" cy="320040"/>
          </a:xfrm>
          <a:prstGeom prst="rect">
            <a:avLst/>
          </a:prstGeom>
          <a:noFill/>
          <a:ln/>
        </p:spPr>
        <p:txBody>
          <a:bodyPr wrap="square" lIns="0" tIns="0" rIns="0" bIns="0" rtlCol="0" anchor="ctr"/>
          <a:lstStyle/>
          <a:p>
            <a:pPr indent="0" marL="0">
              <a:buNone/>
            </a:pPr>
            <a:r>
              <a:rPr lang="en-US" sz="1050" i="1" spc="200" kern="0" dirty="0">
                <a:solidFill>
                  <a:srgbClr val="BD57F2"/>
                </a:solidFill>
                <a:latin typeface="Calibri" pitchFamily="34" charset="0"/>
                <a:ea typeface="Calibri" pitchFamily="34" charset="-122"/>
                <a:cs typeface="Calibri" pitchFamily="34" charset="-120"/>
              </a:rPr>
              <a:t>Tertiary · ~18% of revenue</a:t>
            </a:r>
            <a:endParaRPr lang="en-US" sz="1050" dirty="0"/>
          </a:p>
        </p:txBody>
      </p:sp>
      <p:sp>
        <p:nvSpPr>
          <p:cNvPr id="23" name="Text 21"/>
          <p:cNvSpPr/>
          <p:nvPr/>
        </p:nvSpPr>
        <p:spPr>
          <a:xfrm>
            <a:off x="8412480" y="3108960"/>
            <a:ext cx="3108960" cy="3108960"/>
          </a:xfrm>
          <a:prstGeom prst="rect">
            <a:avLst/>
          </a:prstGeom>
          <a:noFill/>
          <a:ln/>
        </p:spPr>
        <p:txBody>
          <a:bodyPr wrap="square" lIns="0" tIns="0" rIns="0" bIns="0" rtlCol="0" anchor="ctr"/>
          <a:lstStyle/>
          <a:p>
            <a:pPr indent="0" marL="0">
              <a:buNone/>
            </a:pPr>
            <a:r>
              <a:rPr lang="en-US" sz="1200" dirty="0">
                <a:solidFill>
                  <a:srgbClr val="2A2D34"/>
                </a:solidFill>
                <a:latin typeface="Calibri" pitchFamily="34" charset="0"/>
                <a:ea typeface="Calibri" pitchFamily="34" charset="-122"/>
                <a:cs typeface="Calibri" pitchFamily="34" charset="-120"/>
              </a:rPr>
              <a:t>24–32, pre-engagement or pre-cohabitation. High intent, low conflict frequency but high stakes. Converts on the assessment suite, retains on repair.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F67700"/>
          </a:solidFill>
          <a:ln w="12700">
            <a:solidFill>
              <a:srgbClr val="F67700"/>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14</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F67700"/>
                </a:solidFill>
                <a:latin typeface="Calibri" pitchFamily="34" charset="0"/>
                <a:ea typeface="Calibri" pitchFamily="34" charset="-122"/>
                <a:cs typeface="Calibri" pitchFamily="34" charset="-120"/>
              </a:rPr>
              <a:t>13 · COMPETITIVE LANDSCAPE</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The defensible wedge: in-the-moment × personalised × private.</a:t>
            </a:r>
            <a:endParaRPr lang="en-US" sz="3200" dirty="0"/>
          </a:p>
        </p:txBody>
      </p:sp>
      <p:sp>
        <p:nvSpPr>
          <p:cNvPr id="9" name="Text 7"/>
          <p:cNvSpPr/>
          <p:nvPr/>
        </p:nvSpPr>
        <p:spPr>
          <a:xfrm>
            <a:off x="457200" y="1417320"/>
            <a:ext cx="11247120" cy="457200"/>
          </a:xfrm>
          <a:prstGeom prst="rect">
            <a:avLst/>
          </a:prstGeom>
          <a:noFill/>
          <a:ln/>
        </p:spPr>
        <p:txBody>
          <a:bodyPr wrap="square" lIns="0" tIns="0" rIns="0" bIns="0" rtlCol="0" anchor="ctr"/>
          <a:lstStyle/>
          <a:p>
            <a:pPr indent="0" marL="0">
              <a:buNone/>
            </a:pPr>
            <a:r>
              <a:rPr lang="en-US" sz="1500" i="1" dirty="0">
                <a:solidFill>
                  <a:srgbClr val="6B6A63"/>
                </a:solidFill>
                <a:latin typeface="Calibri" pitchFamily="34" charset="0"/>
                <a:ea typeface="Calibri" pitchFamily="34" charset="-122"/>
                <a:cs typeface="Calibri" pitchFamily="34" charset="-120"/>
              </a:rPr>
              <a:t>No incumbent sits in the top-right quadrant.</a:t>
            </a:r>
            <a:endParaRPr lang="en-US" sz="1500" dirty="0"/>
          </a:p>
        </p:txBody>
      </p:sp>
      <p:sp>
        <p:nvSpPr>
          <p:cNvPr id="10" name="Shape 8"/>
          <p:cNvSpPr/>
          <p:nvPr/>
        </p:nvSpPr>
        <p:spPr>
          <a:xfrm>
            <a:off x="1828800" y="2103120"/>
            <a:ext cx="8229600" cy="4206240"/>
          </a:xfrm>
          <a:prstGeom prst="rect">
            <a:avLst/>
          </a:prstGeom>
          <a:solidFill>
            <a:srgbClr val="FFFFFF"/>
          </a:solidFill>
          <a:ln w="12700">
            <a:solidFill>
              <a:srgbClr val="E5E0D5"/>
            </a:solidFill>
            <a:prstDash val="solid"/>
          </a:ln>
        </p:spPr>
      </p:sp>
      <p:sp>
        <p:nvSpPr>
          <p:cNvPr id="11" name="Shape 9"/>
          <p:cNvSpPr/>
          <p:nvPr/>
        </p:nvSpPr>
        <p:spPr>
          <a:xfrm>
            <a:off x="5943600" y="2103120"/>
            <a:ext cx="0" cy="4206240"/>
          </a:xfrm>
          <a:prstGeom prst="line">
            <a:avLst/>
          </a:prstGeom>
          <a:noFill/>
          <a:ln w="12700">
            <a:solidFill>
              <a:srgbClr val="D0CBBF"/>
            </a:solidFill>
            <a:prstDash val="dash"/>
          </a:ln>
        </p:spPr>
      </p:sp>
      <p:sp>
        <p:nvSpPr>
          <p:cNvPr id="12" name="Shape 10"/>
          <p:cNvSpPr/>
          <p:nvPr/>
        </p:nvSpPr>
        <p:spPr>
          <a:xfrm>
            <a:off x="1828800" y="4206240"/>
            <a:ext cx="8229600" cy="0"/>
          </a:xfrm>
          <a:prstGeom prst="line">
            <a:avLst/>
          </a:prstGeom>
          <a:noFill/>
          <a:ln w="12700">
            <a:solidFill>
              <a:srgbClr val="D0CBBF"/>
            </a:solidFill>
            <a:prstDash val="dash"/>
          </a:ln>
        </p:spPr>
      </p:sp>
      <p:sp>
        <p:nvSpPr>
          <p:cNvPr id="13" name="Text 11"/>
          <p:cNvSpPr/>
          <p:nvPr/>
        </p:nvSpPr>
        <p:spPr>
          <a:xfrm>
            <a:off x="182880" y="2194560"/>
            <a:ext cx="1554480" cy="274320"/>
          </a:xfrm>
          <a:prstGeom prst="rect">
            <a:avLst/>
          </a:prstGeom>
          <a:noFill/>
          <a:ln/>
        </p:spPr>
        <p:txBody>
          <a:bodyPr wrap="square" lIns="0" tIns="0" rIns="0" bIns="0" rtlCol="0" anchor="ctr"/>
          <a:lstStyle/>
          <a:p>
            <a:pPr indent="0" marL="0">
              <a:buNone/>
            </a:pPr>
            <a:r>
              <a:rPr lang="en-US" sz="900" b="1" spc="200" kern="0" dirty="0">
                <a:solidFill>
                  <a:srgbClr val="6B6A63"/>
                </a:solidFill>
                <a:latin typeface="Calibri" pitchFamily="34" charset="0"/>
                <a:ea typeface="Calibri" pitchFamily="34" charset="-122"/>
                <a:cs typeface="Calibri" pitchFamily="34" charset="-120"/>
              </a:rPr>
              <a:t>↑  HIGH PERSONALISATION</a:t>
            </a:r>
            <a:endParaRPr lang="en-US" sz="900" dirty="0"/>
          </a:p>
        </p:txBody>
      </p:sp>
      <p:sp>
        <p:nvSpPr>
          <p:cNvPr id="14" name="Text 12"/>
          <p:cNvSpPr/>
          <p:nvPr/>
        </p:nvSpPr>
        <p:spPr>
          <a:xfrm>
            <a:off x="182880" y="5943600"/>
            <a:ext cx="1554480" cy="274320"/>
          </a:xfrm>
          <a:prstGeom prst="rect">
            <a:avLst/>
          </a:prstGeom>
          <a:noFill/>
          <a:ln/>
        </p:spPr>
        <p:txBody>
          <a:bodyPr wrap="square" lIns="0" tIns="0" rIns="0" bIns="0" rtlCol="0" anchor="ctr"/>
          <a:lstStyle/>
          <a:p>
            <a:pPr indent="0" marL="0">
              <a:buNone/>
            </a:pPr>
            <a:r>
              <a:rPr lang="en-US" sz="900" b="1" spc="200" kern="0" dirty="0">
                <a:solidFill>
                  <a:srgbClr val="6B6A63"/>
                </a:solidFill>
                <a:latin typeface="Calibri" pitchFamily="34" charset="0"/>
                <a:ea typeface="Calibri" pitchFamily="34" charset="-122"/>
                <a:cs typeface="Calibri" pitchFamily="34" charset="-120"/>
              </a:rPr>
              <a:t>↓  LOW PERSONALISATION</a:t>
            </a:r>
            <a:endParaRPr lang="en-US" sz="900" dirty="0"/>
          </a:p>
        </p:txBody>
      </p:sp>
      <p:sp>
        <p:nvSpPr>
          <p:cNvPr id="15" name="Text 13"/>
          <p:cNvSpPr/>
          <p:nvPr/>
        </p:nvSpPr>
        <p:spPr>
          <a:xfrm>
            <a:off x="2011680" y="6400800"/>
            <a:ext cx="2743200" cy="274320"/>
          </a:xfrm>
          <a:prstGeom prst="rect">
            <a:avLst/>
          </a:prstGeom>
          <a:noFill/>
          <a:ln/>
        </p:spPr>
        <p:txBody>
          <a:bodyPr wrap="square" lIns="0" tIns="0" rIns="0" bIns="0" rtlCol="0" anchor="ctr"/>
          <a:lstStyle/>
          <a:p>
            <a:pPr indent="0" marL="0">
              <a:buNone/>
            </a:pPr>
            <a:r>
              <a:rPr lang="en-US" sz="900" b="1" spc="200" kern="0" dirty="0">
                <a:solidFill>
                  <a:srgbClr val="6B6A63"/>
                </a:solidFill>
                <a:latin typeface="Calibri" pitchFamily="34" charset="0"/>
                <a:ea typeface="Calibri" pitchFamily="34" charset="-122"/>
                <a:cs typeface="Calibri" pitchFamily="34" charset="-120"/>
              </a:rPr>
              <a:t>DAILY HABIT  ←</a:t>
            </a:r>
            <a:endParaRPr lang="en-US" sz="900" dirty="0"/>
          </a:p>
        </p:txBody>
      </p:sp>
      <p:sp>
        <p:nvSpPr>
          <p:cNvPr id="16" name="Text 14"/>
          <p:cNvSpPr/>
          <p:nvPr/>
        </p:nvSpPr>
        <p:spPr>
          <a:xfrm>
            <a:off x="7315200" y="6400800"/>
            <a:ext cx="2743200" cy="274320"/>
          </a:xfrm>
          <a:prstGeom prst="rect">
            <a:avLst/>
          </a:prstGeom>
          <a:noFill/>
          <a:ln/>
        </p:spPr>
        <p:txBody>
          <a:bodyPr wrap="square" lIns="0" tIns="0" rIns="0" bIns="0" rtlCol="0" anchor="ctr"/>
          <a:lstStyle/>
          <a:p>
            <a:pPr algn="r" indent="0" marL="0">
              <a:buNone/>
            </a:pPr>
            <a:r>
              <a:rPr lang="en-US" sz="900" b="1" spc="200" kern="0" dirty="0">
                <a:solidFill>
                  <a:srgbClr val="6B6A63"/>
                </a:solidFill>
                <a:latin typeface="Calibri" pitchFamily="34" charset="0"/>
                <a:ea typeface="Calibri" pitchFamily="34" charset="-122"/>
                <a:cs typeface="Calibri" pitchFamily="34" charset="-120"/>
              </a:rPr>
              <a:t>→  IN-THE-MOMENT REPAIR</a:t>
            </a:r>
            <a:endParaRPr lang="en-US" sz="900" dirty="0"/>
          </a:p>
        </p:txBody>
      </p:sp>
      <p:sp>
        <p:nvSpPr>
          <p:cNvPr id="17" name="Shape 15"/>
          <p:cNvSpPr/>
          <p:nvPr/>
        </p:nvSpPr>
        <p:spPr>
          <a:xfrm>
            <a:off x="3209544" y="3474720"/>
            <a:ext cx="201168" cy="201168"/>
          </a:xfrm>
          <a:prstGeom prst="ellipse">
            <a:avLst/>
          </a:prstGeom>
          <a:solidFill>
            <a:srgbClr val="6B6A63"/>
          </a:solidFill>
          <a:ln w="12700">
            <a:solidFill>
              <a:srgbClr val="6B6A63"/>
            </a:solidFill>
            <a:prstDash val="solid"/>
          </a:ln>
        </p:spPr>
      </p:sp>
      <p:sp>
        <p:nvSpPr>
          <p:cNvPr id="18" name="Text 16"/>
          <p:cNvSpPr/>
          <p:nvPr/>
        </p:nvSpPr>
        <p:spPr>
          <a:xfrm>
            <a:off x="2212848" y="3721608"/>
            <a:ext cx="2194560" cy="274320"/>
          </a:xfrm>
          <a:prstGeom prst="rect">
            <a:avLst/>
          </a:prstGeom>
          <a:noFill/>
          <a:ln/>
        </p:spPr>
        <p:txBody>
          <a:bodyPr wrap="square" lIns="0" tIns="0" rIns="0" bIns="0" rtlCol="0" anchor="ctr"/>
          <a:lstStyle/>
          <a:p>
            <a:pPr algn="ctr" indent="0" marL="0">
              <a:buNone/>
            </a:pPr>
            <a:r>
              <a:rPr lang="en-US" sz="1000" dirty="0">
                <a:solidFill>
                  <a:srgbClr val="2A2D34"/>
                </a:solidFill>
                <a:latin typeface="Calibri" pitchFamily="34" charset="0"/>
                <a:ea typeface="Calibri" pitchFamily="34" charset="-122"/>
                <a:cs typeface="Calibri" pitchFamily="34" charset="-120"/>
              </a:rPr>
              <a:t>Paired</a:t>
            </a:r>
            <a:endParaRPr lang="en-US" sz="1000" dirty="0"/>
          </a:p>
        </p:txBody>
      </p:sp>
      <p:sp>
        <p:nvSpPr>
          <p:cNvPr id="19" name="Shape 17"/>
          <p:cNvSpPr/>
          <p:nvPr/>
        </p:nvSpPr>
        <p:spPr>
          <a:xfrm>
            <a:off x="4032504" y="3895344"/>
            <a:ext cx="201168" cy="201168"/>
          </a:xfrm>
          <a:prstGeom prst="ellipse">
            <a:avLst/>
          </a:prstGeom>
          <a:solidFill>
            <a:srgbClr val="6B6A63"/>
          </a:solidFill>
          <a:ln w="12700">
            <a:solidFill>
              <a:srgbClr val="6B6A63"/>
            </a:solidFill>
            <a:prstDash val="solid"/>
          </a:ln>
        </p:spPr>
      </p:sp>
      <p:sp>
        <p:nvSpPr>
          <p:cNvPr id="20" name="Text 18"/>
          <p:cNvSpPr/>
          <p:nvPr/>
        </p:nvSpPr>
        <p:spPr>
          <a:xfrm>
            <a:off x="3035808" y="4142232"/>
            <a:ext cx="2194560" cy="274320"/>
          </a:xfrm>
          <a:prstGeom prst="rect">
            <a:avLst/>
          </a:prstGeom>
          <a:noFill/>
          <a:ln/>
        </p:spPr>
        <p:txBody>
          <a:bodyPr wrap="square" lIns="0" tIns="0" rIns="0" bIns="0" rtlCol="0" anchor="ctr"/>
          <a:lstStyle/>
          <a:p>
            <a:pPr algn="ctr" indent="0" marL="0">
              <a:buNone/>
            </a:pPr>
            <a:r>
              <a:rPr lang="en-US" sz="1000" dirty="0">
                <a:solidFill>
                  <a:srgbClr val="2A2D34"/>
                </a:solidFill>
                <a:latin typeface="Calibri" pitchFamily="34" charset="0"/>
                <a:ea typeface="Calibri" pitchFamily="34" charset="-122"/>
                <a:cs typeface="Calibri" pitchFamily="34" charset="-120"/>
              </a:rPr>
              <a:t>Lasting</a:t>
            </a:r>
            <a:endParaRPr lang="en-US" sz="1000" dirty="0"/>
          </a:p>
        </p:txBody>
      </p:sp>
      <p:sp>
        <p:nvSpPr>
          <p:cNvPr id="21" name="Shape 19"/>
          <p:cNvSpPr/>
          <p:nvPr/>
        </p:nvSpPr>
        <p:spPr>
          <a:xfrm>
            <a:off x="2962656" y="5283403"/>
            <a:ext cx="201168" cy="201168"/>
          </a:xfrm>
          <a:prstGeom prst="ellipse">
            <a:avLst/>
          </a:prstGeom>
          <a:solidFill>
            <a:srgbClr val="6B6A63"/>
          </a:solidFill>
          <a:ln w="12700">
            <a:solidFill>
              <a:srgbClr val="6B6A63"/>
            </a:solidFill>
            <a:prstDash val="solid"/>
          </a:ln>
        </p:spPr>
      </p:sp>
      <p:sp>
        <p:nvSpPr>
          <p:cNvPr id="22" name="Text 20"/>
          <p:cNvSpPr/>
          <p:nvPr/>
        </p:nvSpPr>
        <p:spPr>
          <a:xfrm>
            <a:off x="1965960" y="5530291"/>
            <a:ext cx="2194560" cy="274320"/>
          </a:xfrm>
          <a:prstGeom prst="rect">
            <a:avLst/>
          </a:prstGeom>
          <a:noFill/>
          <a:ln/>
        </p:spPr>
        <p:txBody>
          <a:bodyPr wrap="square" lIns="0" tIns="0" rIns="0" bIns="0" rtlCol="0" anchor="ctr"/>
          <a:lstStyle/>
          <a:p>
            <a:pPr algn="ctr" indent="0" marL="0">
              <a:buNone/>
            </a:pPr>
            <a:r>
              <a:rPr lang="en-US" sz="1000" dirty="0">
                <a:solidFill>
                  <a:srgbClr val="2A2D34"/>
                </a:solidFill>
                <a:latin typeface="Calibri" pitchFamily="34" charset="0"/>
                <a:ea typeface="Calibri" pitchFamily="34" charset="-122"/>
                <a:cs typeface="Calibri" pitchFamily="34" charset="-120"/>
              </a:rPr>
              <a:t>Gottman Cards</a:t>
            </a:r>
            <a:endParaRPr lang="en-US" sz="1000" dirty="0"/>
          </a:p>
        </p:txBody>
      </p:sp>
      <p:sp>
        <p:nvSpPr>
          <p:cNvPr id="23" name="Shape 21"/>
          <p:cNvSpPr/>
          <p:nvPr/>
        </p:nvSpPr>
        <p:spPr>
          <a:xfrm>
            <a:off x="6665976" y="3264408"/>
            <a:ext cx="201168" cy="201168"/>
          </a:xfrm>
          <a:prstGeom prst="ellipse">
            <a:avLst/>
          </a:prstGeom>
          <a:solidFill>
            <a:srgbClr val="6B6A63"/>
          </a:solidFill>
          <a:ln w="12700">
            <a:solidFill>
              <a:srgbClr val="6B6A63"/>
            </a:solidFill>
            <a:prstDash val="solid"/>
          </a:ln>
        </p:spPr>
      </p:sp>
      <p:sp>
        <p:nvSpPr>
          <p:cNvPr id="24" name="Text 22"/>
          <p:cNvSpPr/>
          <p:nvPr/>
        </p:nvSpPr>
        <p:spPr>
          <a:xfrm>
            <a:off x="5669280" y="3511296"/>
            <a:ext cx="2194560" cy="274320"/>
          </a:xfrm>
          <a:prstGeom prst="rect">
            <a:avLst/>
          </a:prstGeom>
          <a:noFill/>
          <a:ln/>
        </p:spPr>
        <p:txBody>
          <a:bodyPr wrap="square" lIns="0" tIns="0" rIns="0" bIns="0" rtlCol="0" anchor="ctr"/>
          <a:lstStyle/>
          <a:p>
            <a:pPr algn="ctr" indent="0" marL="0">
              <a:buNone/>
            </a:pPr>
            <a:r>
              <a:rPr lang="en-US" sz="1000" dirty="0">
                <a:solidFill>
                  <a:srgbClr val="2A2D34"/>
                </a:solidFill>
                <a:latin typeface="Calibri" pitchFamily="34" charset="0"/>
                <a:ea typeface="Calibri" pitchFamily="34" charset="-122"/>
                <a:cs typeface="Calibri" pitchFamily="34" charset="-120"/>
              </a:rPr>
              <a:t>Relish</a:t>
            </a:r>
            <a:endParaRPr lang="en-US" sz="1000" dirty="0"/>
          </a:p>
        </p:txBody>
      </p:sp>
      <p:sp>
        <p:nvSpPr>
          <p:cNvPr id="25" name="Shape 23"/>
          <p:cNvSpPr/>
          <p:nvPr/>
        </p:nvSpPr>
        <p:spPr>
          <a:xfrm>
            <a:off x="7900416" y="5157216"/>
            <a:ext cx="201168" cy="201168"/>
          </a:xfrm>
          <a:prstGeom prst="ellipse">
            <a:avLst/>
          </a:prstGeom>
          <a:solidFill>
            <a:srgbClr val="6B6A63"/>
          </a:solidFill>
          <a:ln w="12700">
            <a:solidFill>
              <a:srgbClr val="6B6A63"/>
            </a:solidFill>
            <a:prstDash val="solid"/>
          </a:ln>
        </p:spPr>
      </p:sp>
      <p:sp>
        <p:nvSpPr>
          <p:cNvPr id="26" name="Text 24"/>
          <p:cNvSpPr/>
          <p:nvPr/>
        </p:nvSpPr>
        <p:spPr>
          <a:xfrm>
            <a:off x="6903720" y="5404104"/>
            <a:ext cx="2194560" cy="274320"/>
          </a:xfrm>
          <a:prstGeom prst="rect">
            <a:avLst/>
          </a:prstGeom>
          <a:noFill/>
          <a:ln/>
        </p:spPr>
        <p:txBody>
          <a:bodyPr wrap="square" lIns="0" tIns="0" rIns="0" bIns="0" rtlCol="0" anchor="ctr"/>
          <a:lstStyle/>
          <a:p>
            <a:pPr algn="ctr" indent="0" marL="0">
              <a:buNone/>
            </a:pPr>
            <a:r>
              <a:rPr lang="en-US" sz="1000" dirty="0">
                <a:solidFill>
                  <a:srgbClr val="2A2D34"/>
                </a:solidFill>
                <a:latin typeface="Calibri" pitchFamily="34" charset="0"/>
                <a:ea typeface="Calibri" pitchFamily="34" charset="-122"/>
                <a:cs typeface="Calibri" pitchFamily="34" charset="-120"/>
              </a:rPr>
              <a:t>ChatGPT</a:t>
            </a:r>
            <a:endParaRPr lang="en-US" sz="1000" dirty="0"/>
          </a:p>
        </p:txBody>
      </p:sp>
      <p:sp>
        <p:nvSpPr>
          <p:cNvPr id="27" name="Shape 25"/>
          <p:cNvSpPr/>
          <p:nvPr/>
        </p:nvSpPr>
        <p:spPr>
          <a:xfrm>
            <a:off x="5431536" y="2843784"/>
            <a:ext cx="201168" cy="201168"/>
          </a:xfrm>
          <a:prstGeom prst="ellipse">
            <a:avLst/>
          </a:prstGeom>
          <a:solidFill>
            <a:srgbClr val="6B6A63"/>
          </a:solidFill>
          <a:ln w="12700">
            <a:solidFill>
              <a:srgbClr val="6B6A63"/>
            </a:solidFill>
            <a:prstDash val="solid"/>
          </a:ln>
        </p:spPr>
      </p:sp>
      <p:sp>
        <p:nvSpPr>
          <p:cNvPr id="28" name="Text 26"/>
          <p:cNvSpPr/>
          <p:nvPr/>
        </p:nvSpPr>
        <p:spPr>
          <a:xfrm>
            <a:off x="4434840" y="3090672"/>
            <a:ext cx="2194560" cy="274320"/>
          </a:xfrm>
          <a:prstGeom prst="rect">
            <a:avLst/>
          </a:prstGeom>
          <a:noFill/>
          <a:ln/>
        </p:spPr>
        <p:txBody>
          <a:bodyPr wrap="square" lIns="0" tIns="0" rIns="0" bIns="0" rtlCol="0" anchor="ctr"/>
          <a:lstStyle/>
          <a:p>
            <a:pPr algn="ctr" indent="0" marL="0">
              <a:buNone/>
            </a:pPr>
            <a:r>
              <a:rPr lang="en-US" sz="1000" dirty="0">
                <a:solidFill>
                  <a:srgbClr val="2A2D34"/>
                </a:solidFill>
                <a:latin typeface="Calibri" pitchFamily="34" charset="0"/>
                <a:ea typeface="Calibri" pitchFamily="34" charset="-122"/>
                <a:cs typeface="Calibri" pitchFamily="34" charset="-120"/>
              </a:rPr>
              <a:t>BetterHelp / Regain</a:t>
            </a:r>
            <a:endParaRPr lang="en-US" sz="1000" dirty="0"/>
          </a:p>
        </p:txBody>
      </p:sp>
      <p:sp>
        <p:nvSpPr>
          <p:cNvPr id="29" name="Shape 27"/>
          <p:cNvSpPr/>
          <p:nvPr/>
        </p:nvSpPr>
        <p:spPr>
          <a:xfrm>
            <a:off x="8371332" y="2654503"/>
            <a:ext cx="411480" cy="411480"/>
          </a:xfrm>
          <a:prstGeom prst="ellipse">
            <a:avLst/>
          </a:prstGeom>
          <a:solidFill>
            <a:srgbClr val="96D35F"/>
          </a:solidFill>
          <a:ln w="12700">
            <a:solidFill>
              <a:srgbClr val="96D35F"/>
            </a:solidFill>
            <a:prstDash val="solid"/>
          </a:ln>
        </p:spPr>
      </p:sp>
      <p:sp>
        <p:nvSpPr>
          <p:cNvPr id="30" name="Text 28"/>
          <p:cNvSpPr/>
          <p:nvPr/>
        </p:nvSpPr>
        <p:spPr>
          <a:xfrm>
            <a:off x="7479792" y="3111703"/>
            <a:ext cx="2194560" cy="274320"/>
          </a:xfrm>
          <a:prstGeom prst="rect">
            <a:avLst/>
          </a:prstGeom>
          <a:noFill/>
          <a:ln/>
        </p:spPr>
        <p:txBody>
          <a:bodyPr wrap="square" lIns="0" tIns="0" rIns="0" bIns="0" rtlCol="0" anchor="ctr"/>
          <a:lstStyle/>
          <a:p>
            <a:pPr algn="ctr" indent="0" marL="0">
              <a:buNone/>
            </a:pPr>
            <a:r>
              <a:rPr lang="en-US" sz="1300" b="1" dirty="0">
                <a:solidFill>
                  <a:srgbClr val="96D35F"/>
                </a:solidFill>
                <a:latin typeface="Calibri" pitchFamily="34" charset="0"/>
                <a:ea typeface="Calibri" pitchFamily="34" charset="-122"/>
                <a:cs typeface="Calibri" pitchFamily="34" charset="-120"/>
              </a:rPr>
              <a:t>Hey Otis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F67700"/>
          </a:solidFill>
          <a:ln w="12700">
            <a:solidFill>
              <a:srgbClr val="F67700"/>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15</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F67700"/>
                </a:solidFill>
                <a:latin typeface="Calibri" pitchFamily="34" charset="0"/>
                <a:ea typeface="Calibri" pitchFamily="34" charset="-122"/>
                <a:cs typeface="Calibri" pitchFamily="34" charset="-120"/>
              </a:rPr>
              <a:t>14 · COMPETITIVE DETAIL</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Competitor teardown — pricing, positioning, and gaps.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155680" cy="914400"/>
        </p:xfrm>
        <a:graphic>
          <a:graphicData uri="http://schemas.openxmlformats.org/drawingml/2006/table">
            <a:tbl>
              <a:tblPr/>
              <a:tblGrid>
                <a:gridCol w="1828800"/>
                <a:gridCol w="2468880"/>
                <a:gridCol w="2103120"/>
                <a:gridCol w="1645920"/>
                <a:gridCol w="1554480"/>
                <a:gridCol w="1554480"/>
              </a:tblGrid>
              <a:tr h="5029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Product</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Positioning</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Pricing</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Paying users</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Personalised</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In-the-moment</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r>
              <a:tr h="502920">
                <a:tc>
                  <a:txBody>
                    <a:bodyPr/>
                    <a:lstStyle/>
                    <a:p>
                      <a:pPr algn="l" indent="0" marL="0">
                        <a:buNone/>
                      </a:pPr>
                      <a:r>
                        <a:rPr lang="en-US" sz="1050" b="1" dirty="0">
                          <a:solidFill>
                            <a:srgbClr val="2A2D34"/>
                          </a:solidFill>
                          <a:latin typeface="Calibri" pitchFamily="34" charset="0"/>
                          <a:ea typeface="Calibri" pitchFamily="34" charset="-122"/>
                          <a:cs typeface="Calibri" pitchFamily="34" charset="-120"/>
                        </a:rPr>
                        <a:t>Paired</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Daily questions for couples</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$14.99/mo · $59.99/yr</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~1M paying (est.)</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Light</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050" dirty="0">
                          <a:solidFill>
                            <a:srgbClr val="2A2D34"/>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502920">
                <a:tc>
                  <a:txBody>
                    <a:bodyPr/>
                    <a:lstStyle/>
                    <a:p>
                      <a:pPr algn="l" indent="0" marL="0">
                        <a:buNone/>
                      </a:pPr>
                      <a:r>
                        <a:rPr lang="en-US" sz="1050" b="1" dirty="0">
                          <a:solidFill>
                            <a:srgbClr val="2A2D34"/>
                          </a:solidFill>
                          <a:latin typeface="Calibri" pitchFamily="34" charset="0"/>
                          <a:ea typeface="Calibri" pitchFamily="34" charset="-122"/>
                          <a:cs typeface="Calibri" pitchFamily="34" charset="-120"/>
                        </a:rPr>
                        <a:t>Lasting</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Gottman-based habit app</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$11.99/mo · $59.99/yr</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~500k paying</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Light</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050" dirty="0">
                          <a:solidFill>
                            <a:srgbClr val="2A2D34"/>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502920">
                <a:tc>
                  <a:txBody>
                    <a:bodyPr/>
                    <a:lstStyle/>
                    <a:p>
                      <a:pPr algn="l" indent="0" marL="0">
                        <a:buNone/>
                      </a:pPr>
                      <a:r>
                        <a:rPr lang="en-US" sz="1050" b="1" dirty="0">
                          <a:solidFill>
                            <a:srgbClr val="2A2D34"/>
                          </a:solidFill>
                          <a:latin typeface="Calibri" pitchFamily="34" charset="0"/>
                          <a:ea typeface="Calibri" pitchFamily="34" charset="-122"/>
                          <a:cs typeface="Calibri" pitchFamily="34" charset="-120"/>
                        </a:rPr>
                        <a:t>Relish</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Human relationship coach</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$320/yr (coach-backed)</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~100k paying</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Yes (human)</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Async only</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502920">
                <a:tc>
                  <a:txBody>
                    <a:bodyPr/>
                    <a:lstStyle/>
                    <a:p>
                      <a:pPr algn="l" indent="0" marL="0">
                        <a:buNone/>
                      </a:pPr>
                      <a:r>
                        <a:rPr lang="en-US" sz="1050" b="1" dirty="0">
                          <a:solidFill>
                            <a:srgbClr val="2A2D34"/>
                          </a:solidFill>
                          <a:latin typeface="Calibri" pitchFamily="34" charset="0"/>
                          <a:ea typeface="Calibri" pitchFamily="34" charset="-122"/>
                          <a:cs typeface="Calibri" pitchFamily="34" charset="-120"/>
                        </a:rPr>
                        <a:t>Regain (BetterHelp)</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Licensed couples therapy</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$260–$400/mo</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~200k sessions/mo</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Yes (human)</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Scheduled</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502920">
                <a:tc>
                  <a:txBody>
                    <a:bodyPr/>
                    <a:lstStyle/>
                    <a:p>
                      <a:pPr algn="l" indent="0" marL="0">
                        <a:buNone/>
                      </a:pPr>
                      <a:r>
                        <a:rPr lang="en-US" sz="1050" b="1" dirty="0">
                          <a:solidFill>
                            <a:srgbClr val="2A2D34"/>
                          </a:solidFill>
                          <a:latin typeface="Calibri" pitchFamily="34" charset="0"/>
                          <a:ea typeface="Calibri" pitchFamily="34" charset="-122"/>
                          <a:cs typeface="Calibri" pitchFamily="34" charset="-120"/>
                        </a:rPr>
                        <a:t>ChatGPT / Pi</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General AI companion</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$20/mo or free</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050" dirty="0">
                          <a:solidFill>
                            <a:srgbClr val="2A2D34"/>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l" indent="0" marL="0">
                        <a:buNone/>
                      </a:pPr>
                      <a:r>
                        <a:rPr lang="en-US" sz="1050" dirty="0">
                          <a:solidFill>
                            <a:srgbClr val="2A2D34"/>
                          </a:solidFill>
                          <a:latin typeface="Calibri" pitchFamily="34" charset="0"/>
                          <a:ea typeface="Calibri" pitchFamily="34" charset="-122"/>
                          <a:cs typeface="Calibri" pitchFamily="34" charset="-120"/>
                        </a:rPr>
                        <a:t>No memory</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050" dirty="0">
                          <a:solidFill>
                            <a:srgbClr val="2A2D34"/>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502920">
                <a:tc>
                  <a:txBody>
                    <a:bodyPr/>
                    <a:lstStyle/>
                    <a:p>
                      <a:pPr indent="0" marL="0">
                        <a:buNone/>
                      </a:pPr>
                      <a:r>
                        <a:rPr lang="en-US" sz="1050" b="1" dirty="0">
                          <a:solidFill>
                            <a:srgbClr val="1F2540"/>
                          </a:solidFill>
                          <a:latin typeface="Calibri" pitchFamily="34" charset="0"/>
                          <a:ea typeface="Calibri" pitchFamily="34" charset="-122"/>
                          <a:cs typeface="Calibri" pitchFamily="34" charset="-120"/>
                        </a:rPr>
                        <a:t>Hey Otis</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indent="0" marL="0">
                        <a:buNone/>
                      </a:pPr>
                      <a:r>
                        <a:rPr lang="en-US" sz="1050" b="1" dirty="0">
                          <a:solidFill>
                            <a:srgbClr val="1F2540"/>
                          </a:solidFill>
                          <a:latin typeface="Calibri" pitchFamily="34" charset="0"/>
                          <a:ea typeface="Calibri" pitchFamily="34" charset="-122"/>
                          <a:cs typeface="Calibri" pitchFamily="34" charset="-120"/>
                        </a:rPr>
                        <a:t>Private AI repair guide</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indent="0" marL="0">
                        <a:buNone/>
                      </a:pPr>
                      <a:r>
                        <a:rPr lang="en-US" sz="1050" b="1" dirty="0">
                          <a:solidFill>
                            <a:srgbClr val="1F2540"/>
                          </a:solidFill>
                          <a:latin typeface="Calibri" pitchFamily="34" charset="0"/>
                          <a:ea typeface="Calibri" pitchFamily="34" charset="-122"/>
                          <a:cs typeface="Calibri" pitchFamily="34" charset="-120"/>
                        </a:rPr>
                        <a:t>$9.99/mo · $79/yr · £0 freemium</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indent="0" marL="0">
                        <a:buNone/>
                      </a:pPr>
                      <a:r>
                        <a:rPr lang="en-US" sz="1050" b="1" dirty="0">
                          <a:solidFill>
                            <a:srgbClr val="1F2540"/>
                          </a:solidFill>
                          <a:latin typeface="Calibri" pitchFamily="34" charset="0"/>
                          <a:ea typeface="Calibri" pitchFamily="34" charset="-122"/>
                          <a:cs typeface="Calibri" pitchFamily="34" charset="-120"/>
                        </a:rPr>
                        <a:t>Target: 180k by M24</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indent="0" marL="0">
                        <a:buNone/>
                      </a:pPr>
                      <a:r>
                        <a:rPr lang="en-US" sz="1050" b="1" dirty="0">
                          <a:solidFill>
                            <a:srgbClr val="1F2540"/>
                          </a:solidFill>
                          <a:latin typeface="Calibri" pitchFamily="34" charset="0"/>
                          <a:ea typeface="Calibri" pitchFamily="34" charset="-122"/>
                          <a:cs typeface="Calibri" pitchFamily="34" charset="-120"/>
                        </a:rPr>
                        <a:t>5 assessments × 2</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indent="0" marL="0">
                        <a:buNone/>
                      </a:pPr>
                      <a:r>
                        <a:rPr lang="en-US" sz="1050" b="1" dirty="0">
                          <a:solidFill>
                            <a:srgbClr val="1F2540"/>
                          </a:solidFill>
                          <a:latin typeface="Calibri" pitchFamily="34" charset="0"/>
                          <a:ea typeface="Calibri" pitchFamily="34" charset="-122"/>
                          <a:cs typeface="Calibri" pitchFamily="34" charset="-120"/>
                        </a:rPr>
                        <a:t>Yes — native</a:t>
                      </a:r>
                      <a:endParaRPr lang="en-US" sz="10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r>
            </a:tbl>
          </a:graphicData>
        </a:graphic>
      </p:graphicFrame>
      <p:sp>
        <p:nvSpPr>
          <p:cNvPr id="10" name="Shape 7"/>
          <p:cNvSpPr/>
          <p:nvPr/>
        </p:nvSpPr>
        <p:spPr>
          <a:xfrm>
            <a:off x="548640" y="5989320"/>
            <a:ext cx="11155680" cy="411480"/>
          </a:xfrm>
          <a:prstGeom prst="rect">
            <a:avLst/>
          </a:prstGeom>
          <a:solidFill>
            <a:srgbClr val="1F2540"/>
          </a:solidFill>
          <a:ln w="12700">
            <a:solidFill>
              <a:srgbClr val="1F2540"/>
            </a:solidFill>
            <a:prstDash val="solid"/>
          </a:ln>
        </p:spPr>
      </p:sp>
      <p:sp>
        <p:nvSpPr>
          <p:cNvPr id="11" name="Text 8"/>
          <p:cNvSpPr/>
          <p:nvPr/>
        </p:nvSpPr>
        <p:spPr>
          <a:xfrm>
            <a:off x="822960" y="5989320"/>
            <a:ext cx="10972800" cy="411480"/>
          </a:xfrm>
          <a:prstGeom prst="rect">
            <a:avLst/>
          </a:prstGeom>
          <a:noFill/>
          <a:ln/>
        </p:spPr>
        <p:txBody>
          <a:bodyPr wrap="square" lIns="0" tIns="0" rIns="0" bIns="0" rtlCol="0" anchor="ctr"/>
          <a:lstStyle/>
          <a:p>
            <a:pPr indent="0" marL="0">
              <a:buNone/>
            </a:pPr>
            <a:r>
              <a:rPr lang="en-US" sz="1100" i="1" dirty="0">
                <a:solidFill>
                  <a:srgbClr val="FAF7F2"/>
                </a:solidFill>
                <a:latin typeface="Calibri" pitchFamily="34" charset="0"/>
                <a:ea typeface="Calibri" pitchFamily="34" charset="-122"/>
                <a:cs typeface="Calibri" pitchFamily="34" charset="-120"/>
              </a:rPr>
              <a:t>Price architecture sits at ~35% discount to habit apps and 90%+ discount to therapy — the untapped middle.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BD57F2"/>
          </a:solidFill>
          <a:ln w="12700">
            <a:solidFill>
              <a:srgbClr val="BD57F2"/>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16</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BD57F2"/>
                </a:solidFill>
                <a:latin typeface="Calibri" pitchFamily="34" charset="0"/>
                <a:ea typeface="Calibri" pitchFamily="34" charset="-122"/>
                <a:cs typeface="Calibri" pitchFamily="34" charset="-120"/>
              </a:rPr>
              <a:t>15 · MOAT</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Four defensibility layers compound over time.</a:t>
            </a:r>
            <a:endParaRPr lang="en-US" sz="3200" dirty="0"/>
          </a:p>
        </p:txBody>
      </p:sp>
      <p:sp>
        <p:nvSpPr>
          <p:cNvPr id="9" name="Shape 7"/>
          <p:cNvSpPr/>
          <p:nvPr/>
        </p:nvSpPr>
        <p:spPr>
          <a:xfrm>
            <a:off x="548640" y="2103120"/>
            <a:ext cx="5532120" cy="1965960"/>
          </a:xfrm>
          <a:prstGeom prst="rect">
            <a:avLst/>
          </a:prstGeom>
          <a:solidFill>
            <a:srgbClr val="FFFFFF"/>
          </a:solidFill>
          <a:ln w="12700">
            <a:solidFill>
              <a:srgbClr val="E5E0D5"/>
            </a:solidFill>
            <a:prstDash val="solid"/>
          </a:ln>
        </p:spPr>
      </p:sp>
      <p:sp>
        <p:nvSpPr>
          <p:cNvPr id="10" name="Shape 8"/>
          <p:cNvSpPr/>
          <p:nvPr/>
        </p:nvSpPr>
        <p:spPr>
          <a:xfrm>
            <a:off x="548640" y="2103120"/>
            <a:ext cx="109728" cy="1965960"/>
          </a:xfrm>
          <a:prstGeom prst="rect">
            <a:avLst/>
          </a:prstGeom>
          <a:solidFill>
            <a:srgbClr val="92A6F4"/>
          </a:solidFill>
          <a:ln w="12700">
            <a:solidFill>
              <a:srgbClr val="92A6F4"/>
            </a:solidFill>
            <a:prstDash val="solid"/>
          </a:ln>
        </p:spPr>
      </p:sp>
      <p:sp>
        <p:nvSpPr>
          <p:cNvPr id="11" name="Text 9"/>
          <p:cNvSpPr/>
          <p:nvPr/>
        </p:nvSpPr>
        <p:spPr>
          <a:xfrm>
            <a:off x="868680" y="2286000"/>
            <a:ext cx="822960" cy="457200"/>
          </a:xfrm>
          <a:prstGeom prst="rect">
            <a:avLst/>
          </a:prstGeom>
          <a:noFill/>
          <a:ln/>
        </p:spPr>
        <p:txBody>
          <a:bodyPr wrap="square" lIns="0" tIns="0" rIns="0" bIns="0" rtlCol="0" anchor="ctr"/>
          <a:lstStyle/>
          <a:p>
            <a:pPr indent="0" marL="0">
              <a:buNone/>
            </a:pPr>
            <a:r>
              <a:rPr lang="en-US" sz="2200" b="1" dirty="0">
                <a:solidFill>
                  <a:srgbClr val="92A6F4"/>
                </a:solidFill>
                <a:latin typeface="Georgia" pitchFamily="34" charset="0"/>
                <a:ea typeface="Georgia" pitchFamily="34" charset="-122"/>
                <a:cs typeface="Georgia" pitchFamily="34" charset="-120"/>
              </a:rPr>
              <a:t>01</a:t>
            </a:r>
            <a:endParaRPr lang="en-US" sz="2200" dirty="0"/>
          </a:p>
        </p:txBody>
      </p:sp>
      <p:sp>
        <p:nvSpPr>
          <p:cNvPr id="12" name="Text 10"/>
          <p:cNvSpPr/>
          <p:nvPr/>
        </p:nvSpPr>
        <p:spPr>
          <a:xfrm>
            <a:off x="1737360" y="2331720"/>
            <a:ext cx="4206240" cy="457200"/>
          </a:xfrm>
          <a:prstGeom prst="rect">
            <a:avLst/>
          </a:prstGeom>
          <a:noFill/>
          <a:ln/>
        </p:spPr>
        <p:txBody>
          <a:bodyPr wrap="square" lIns="0" tIns="0" rIns="0" bIns="0" rtlCol="0" anchor="ctr"/>
          <a:lstStyle/>
          <a:p>
            <a:pPr indent="0" marL="0">
              <a:buNone/>
            </a:pPr>
            <a:r>
              <a:rPr lang="en-US" sz="1500" b="1" dirty="0">
                <a:solidFill>
                  <a:srgbClr val="1F2540"/>
                </a:solidFill>
                <a:latin typeface="Georgia" pitchFamily="34" charset="0"/>
                <a:ea typeface="Georgia" pitchFamily="34" charset="-122"/>
                <a:cs typeface="Georgia" pitchFamily="34" charset="-120"/>
              </a:rPr>
              <a:t>Personalisation data</a:t>
            </a:r>
            <a:endParaRPr lang="en-US" sz="1500" dirty="0"/>
          </a:p>
        </p:txBody>
      </p:sp>
      <p:sp>
        <p:nvSpPr>
          <p:cNvPr id="13" name="Text 11"/>
          <p:cNvSpPr/>
          <p:nvPr/>
        </p:nvSpPr>
        <p:spPr>
          <a:xfrm>
            <a:off x="868680" y="2880360"/>
            <a:ext cx="5029200" cy="11430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Every assessment + session reinforces a proprietary relationship map no competitor can reconstruct without years of usage.</a:t>
            </a:r>
            <a:endParaRPr lang="en-US" sz="1150" dirty="0"/>
          </a:p>
        </p:txBody>
      </p:sp>
      <p:sp>
        <p:nvSpPr>
          <p:cNvPr id="14" name="Shape 12"/>
          <p:cNvSpPr/>
          <p:nvPr/>
        </p:nvSpPr>
        <p:spPr>
          <a:xfrm>
            <a:off x="6172200" y="2103120"/>
            <a:ext cx="5532120" cy="1965960"/>
          </a:xfrm>
          <a:prstGeom prst="rect">
            <a:avLst/>
          </a:prstGeom>
          <a:solidFill>
            <a:srgbClr val="FFFFFF"/>
          </a:solidFill>
          <a:ln w="12700">
            <a:solidFill>
              <a:srgbClr val="E5E0D5"/>
            </a:solidFill>
            <a:prstDash val="solid"/>
          </a:ln>
        </p:spPr>
      </p:sp>
      <p:sp>
        <p:nvSpPr>
          <p:cNvPr id="15" name="Shape 13"/>
          <p:cNvSpPr/>
          <p:nvPr/>
        </p:nvSpPr>
        <p:spPr>
          <a:xfrm>
            <a:off x="6172200" y="2103120"/>
            <a:ext cx="109728" cy="1965960"/>
          </a:xfrm>
          <a:prstGeom prst="rect">
            <a:avLst/>
          </a:prstGeom>
          <a:solidFill>
            <a:srgbClr val="F67700"/>
          </a:solidFill>
          <a:ln w="12700">
            <a:solidFill>
              <a:srgbClr val="F67700"/>
            </a:solidFill>
            <a:prstDash val="solid"/>
          </a:ln>
        </p:spPr>
      </p:sp>
      <p:sp>
        <p:nvSpPr>
          <p:cNvPr id="16" name="Text 14"/>
          <p:cNvSpPr/>
          <p:nvPr/>
        </p:nvSpPr>
        <p:spPr>
          <a:xfrm>
            <a:off x="6492240" y="2286000"/>
            <a:ext cx="822960" cy="457200"/>
          </a:xfrm>
          <a:prstGeom prst="rect">
            <a:avLst/>
          </a:prstGeom>
          <a:noFill/>
          <a:ln/>
        </p:spPr>
        <p:txBody>
          <a:bodyPr wrap="square" lIns="0" tIns="0" rIns="0" bIns="0" rtlCol="0" anchor="ctr"/>
          <a:lstStyle/>
          <a:p>
            <a:pPr indent="0" marL="0">
              <a:buNone/>
            </a:pPr>
            <a:r>
              <a:rPr lang="en-US" sz="2200" b="1" dirty="0">
                <a:solidFill>
                  <a:srgbClr val="F67700"/>
                </a:solidFill>
                <a:latin typeface="Georgia" pitchFamily="34" charset="0"/>
                <a:ea typeface="Georgia" pitchFamily="34" charset="-122"/>
                <a:cs typeface="Georgia" pitchFamily="34" charset="-120"/>
              </a:rPr>
              <a:t>02</a:t>
            </a:r>
            <a:endParaRPr lang="en-US" sz="2200" dirty="0"/>
          </a:p>
        </p:txBody>
      </p:sp>
      <p:sp>
        <p:nvSpPr>
          <p:cNvPr id="17" name="Text 15"/>
          <p:cNvSpPr/>
          <p:nvPr/>
        </p:nvSpPr>
        <p:spPr>
          <a:xfrm>
            <a:off x="7360920" y="2331720"/>
            <a:ext cx="4206240" cy="457200"/>
          </a:xfrm>
          <a:prstGeom prst="rect">
            <a:avLst/>
          </a:prstGeom>
          <a:noFill/>
          <a:ln/>
        </p:spPr>
        <p:txBody>
          <a:bodyPr wrap="square" lIns="0" tIns="0" rIns="0" bIns="0" rtlCol="0" anchor="ctr"/>
          <a:lstStyle/>
          <a:p>
            <a:pPr indent="0" marL="0">
              <a:buNone/>
            </a:pPr>
            <a:r>
              <a:rPr lang="en-US" sz="1500" b="1" dirty="0">
                <a:solidFill>
                  <a:srgbClr val="1F2540"/>
                </a:solidFill>
                <a:latin typeface="Georgia" pitchFamily="34" charset="0"/>
                <a:ea typeface="Georgia" pitchFamily="34" charset="-122"/>
                <a:cs typeface="Georgia" pitchFamily="34" charset="-120"/>
              </a:rPr>
              <a:t>Private-vent architecture</a:t>
            </a:r>
            <a:endParaRPr lang="en-US" sz="1500" dirty="0"/>
          </a:p>
        </p:txBody>
      </p:sp>
      <p:sp>
        <p:nvSpPr>
          <p:cNvPr id="18" name="Text 16"/>
          <p:cNvSpPr/>
          <p:nvPr/>
        </p:nvSpPr>
        <p:spPr>
          <a:xfrm>
            <a:off x="6492240" y="2880360"/>
            <a:ext cx="5029200" cy="11430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Built into the data model. Retrofitting this into a shared-journal app would break the product; competitors cannot bolt it on.</a:t>
            </a:r>
            <a:endParaRPr lang="en-US" sz="1150" dirty="0"/>
          </a:p>
        </p:txBody>
      </p:sp>
      <p:sp>
        <p:nvSpPr>
          <p:cNvPr id="19" name="Shape 17"/>
          <p:cNvSpPr/>
          <p:nvPr/>
        </p:nvSpPr>
        <p:spPr>
          <a:xfrm>
            <a:off x="548640" y="4206240"/>
            <a:ext cx="5532120" cy="1965960"/>
          </a:xfrm>
          <a:prstGeom prst="rect">
            <a:avLst/>
          </a:prstGeom>
          <a:solidFill>
            <a:srgbClr val="FFFFFF"/>
          </a:solidFill>
          <a:ln w="12700">
            <a:solidFill>
              <a:srgbClr val="E5E0D5"/>
            </a:solidFill>
            <a:prstDash val="solid"/>
          </a:ln>
        </p:spPr>
      </p:sp>
      <p:sp>
        <p:nvSpPr>
          <p:cNvPr id="20" name="Shape 18"/>
          <p:cNvSpPr/>
          <p:nvPr/>
        </p:nvSpPr>
        <p:spPr>
          <a:xfrm>
            <a:off x="548640" y="4206240"/>
            <a:ext cx="109728" cy="1965960"/>
          </a:xfrm>
          <a:prstGeom prst="rect">
            <a:avLst/>
          </a:prstGeom>
          <a:solidFill>
            <a:srgbClr val="BD57F2"/>
          </a:solidFill>
          <a:ln w="12700">
            <a:solidFill>
              <a:srgbClr val="BD57F2"/>
            </a:solidFill>
            <a:prstDash val="solid"/>
          </a:ln>
        </p:spPr>
      </p:sp>
      <p:sp>
        <p:nvSpPr>
          <p:cNvPr id="21" name="Text 19"/>
          <p:cNvSpPr/>
          <p:nvPr/>
        </p:nvSpPr>
        <p:spPr>
          <a:xfrm>
            <a:off x="868680" y="4389120"/>
            <a:ext cx="822960" cy="457200"/>
          </a:xfrm>
          <a:prstGeom prst="rect">
            <a:avLst/>
          </a:prstGeom>
          <a:noFill/>
          <a:ln/>
        </p:spPr>
        <p:txBody>
          <a:bodyPr wrap="square" lIns="0" tIns="0" rIns="0" bIns="0" rtlCol="0" anchor="ctr"/>
          <a:lstStyle/>
          <a:p>
            <a:pPr indent="0" marL="0">
              <a:buNone/>
            </a:pPr>
            <a:r>
              <a:rPr lang="en-US" sz="2200" b="1" dirty="0">
                <a:solidFill>
                  <a:srgbClr val="BD57F2"/>
                </a:solidFill>
                <a:latin typeface="Georgia" pitchFamily="34" charset="0"/>
                <a:ea typeface="Georgia" pitchFamily="34" charset="-122"/>
                <a:cs typeface="Georgia" pitchFamily="34" charset="-120"/>
              </a:rPr>
              <a:t>03</a:t>
            </a:r>
            <a:endParaRPr lang="en-US" sz="2200" dirty="0"/>
          </a:p>
        </p:txBody>
      </p:sp>
      <p:sp>
        <p:nvSpPr>
          <p:cNvPr id="22" name="Text 20"/>
          <p:cNvSpPr/>
          <p:nvPr/>
        </p:nvSpPr>
        <p:spPr>
          <a:xfrm>
            <a:off x="1737360" y="4434840"/>
            <a:ext cx="4206240" cy="457200"/>
          </a:xfrm>
          <a:prstGeom prst="rect">
            <a:avLst/>
          </a:prstGeom>
          <a:noFill/>
          <a:ln/>
        </p:spPr>
        <p:txBody>
          <a:bodyPr wrap="square" lIns="0" tIns="0" rIns="0" bIns="0" rtlCol="0" anchor="ctr"/>
          <a:lstStyle/>
          <a:p>
            <a:pPr indent="0" marL="0">
              <a:buNone/>
            </a:pPr>
            <a:r>
              <a:rPr lang="en-US" sz="1500" b="1" dirty="0">
                <a:solidFill>
                  <a:srgbClr val="1F2540"/>
                </a:solidFill>
                <a:latin typeface="Georgia" pitchFamily="34" charset="0"/>
                <a:ea typeface="Georgia" pitchFamily="34" charset="-122"/>
                <a:cs typeface="Georgia" pitchFamily="34" charset="-120"/>
              </a:rPr>
              <a:t>Fused clinical IP</a:t>
            </a:r>
            <a:endParaRPr lang="en-US" sz="1500" dirty="0"/>
          </a:p>
        </p:txBody>
      </p:sp>
      <p:sp>
        <p:nvSpPr>
          <p:cNvPr id="23" name="Text 21"/>
          <p:cNvSpPr/>
          <p:nvPr/>
        </p:nvSpPr>
        <p:spPr>
          <a:xfrm>
            <a:off x="868680" y="4983480"/>
            <a:ext cx="5029200" cy="11430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Five-framework prompt stack + clinician-reviewed safety rails. Takes 12–18 months to replicate credibly.</a:t>
            </a:r>
            <a:endParaRPr lang="en-US" sz="1150" dirty="0"/>
          </a:p>
        </p:txBody>
      </p:sp>
      <p:sp>
        <p:nvSpPr>
          <p:cNvPr id="24" name="Shape 22"/>
          <p:cNvSpPr/>
          <p:nvPr/>
        </p:nvSpPr>
        <p:spPr>
          <a:xfrm>
            <a:off x="6172200" y="4206240"/>
            <a:ext cx="5532120" cy="1965960"/>
          </a:xfrm>
          <a:prstGeom prst="rect">
            <a:avLst/>
          </a:prstGeom>
          <a:solidFill>
            <a:srgbClr val="FFFFFF"/>
          </a:solidFill>
          <a:ln w="12700">
            <a:solidFill>
              <a:srgbClr val="E5E0D5"/>
            </a:solidFill>
            <a:prstDash val="solid"/>
          </a:ln>
        </p:spPr>
      </p:sp>
      <p:sp>
        <p:nvSpPr>
          <p:cNvPr id="25" name="Shape 23"/>
          <p:cNvSpPr/>
          <p:nvPr/>
        </p:nvSpPr>
        <p:spPr>
          <a:xfrm>
            <a:off x="6172200" y="4206240"/>
            <a:ext cx="109728" cy="1965960"/>
          </a:xfrm>
          <a:prstGeom prst="rect">
            <a:avLst/>
          </a:prstGeom>
          <a:solidFill>
            <a:srgbClr val="96D35F"/>
          </a:solidFill>
          <a:ln w="12700">
            <a:solidFill>
              <a:srgbClr val="96D35F"/>
            </a:solidFill>
            <a:prstDash val="solid"/>
          </a:ln>
        </p:spPr>
      </p:sp>
      <p:sp>
        <p:nvSpPr>
          <p:cNvPr id="26" name="Text 24"/>
          <p:cNvSpPr/>
          <p:nvPr/>
        </p:nvSpPr>
        <p:spPr>
          <a:xfrm>
            <a:off x="6492240" y="4389120"/>
            <a:ext cx="822960" cy="457200"/>
          </a:xfrm>
          <a:prstGeom prst="rect">
            <a:avLst/>
          </a:prstGeom>
          <a:noFill/>
          <a:ln/>
        </p:spPr>
        <p:txBody>
          <a:bodyPr wrap="square" lIns="0" tIns="0" rIns="0" bIns="0" rtlCol="0" anchor="ctr"/>
          <a:lstStyle/>
          <a:p>
            <a:pPr indent="0" marL="0">
              <a:buNone/>
            </a:pPr>
            <a:r>
              <a:rPr lang="en-US" sz="2200" b="1" dirty="0">
                <a:solidFill>
                  <a:srgbClr val="96D35F"/>
                </a:solidFill>
                <a:latin typeface="Georgia" pitchFamily="34" charset="0"/>
                <a:ea typeface="Georgia" pitchFamily="34" charset="-122"/>
                <a:cs typeface="Georgia" pitchFamily="34" charset="-120"/>
              </a:rPr>
              <a:t>04</a:t>
            </a:r>
            <a:endParaRPr lang="en-US" sz="2200" dirty="0"/>
          </a:p>
        </p:txBody>
      </p:sp>
      <p:sp>
        <p:nvSpPr>
          <p:cNvPr id="27" name="Text 25"/>
          <p:cNvSpPr/>
          <p:nvPr/>
        </p:nvSpPr>
        <p:spPr>
          <a:xfrm>
            <a:off x="7360920" y="4434840"/>
            <a:ext cx="4206240" cy="457200"/>
          </a:xfrm>
          <a:prstGeom prst="rect">
            <a:avLst/>
          </a:prstGeom>
          <a:noFill/>
          <a:ln/>
        </p:spPr>
        <p:txBody>
          <a:bodyPr wrap="square" lIns="0" tIns="0" rIns="0" bIns="0" rtlCol="0" anchor="ctr"/>
          <a:lstStyle/>
          <a:p>
            <a:pPr indent="0" marL="0">
              <a:buNone/>
            </a:pPr>
            <a:r>
              <a:rPr lang="en-US" sz="1500" b="1" dirty="0">
                <a:solidFill>
                  <a:srgbClr val="1F2540"/>
                </a:solidFill>
                <a:latin typeface="Georgia" pitchFamily="34" charset="0"/>
                <a:ea typeface="Georgia" pitchFamily="34" charset="-122"/>
                <a:cs typeface="Georgia" pitchFamily="34" charset="-120"/>
              </a:rPr>
              <a:t>Voice &amp; brand equity</a:t>
            </a:r>
            <a:endParaRPr lang="en-US" sz="1500" dirty="0"/>
          </a:p>
        </p:txBody>
      </p:sp>
      <p:sp>
        <p:nvSpPr>
          <p:cNvPr id="28" name="Text 26"/>
          <p:cNvSpPr/>
          <p:nvPr/>
        </p:nvSpPr>
        <p:spPr>
          <a:xfrm>
            <a:off x="6492240" y="4983480"/>
            <a:ext cx="5029200" cy="11430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Category-defining language (“rupture to repair”). First-mover advantage on a new category narrative.</a:t>
            </a:r>
            <a:endParaRPr lang="en-US" sz="1150" dirty="0"/>
          </a:p>
        </p:txBody>
      </p:sp>
      <p:sp>
        <p:nvSpPr>
          <p:cNvPr id="29" name="Shape 27"/>
          <p:cNvSpPr/>
          <p:nvPr/>
        </p:nvSpPr>
        <p:spPr>
          <a:xfrm>
            <a:off x="548640" y="6355080"/>
            <a:ext cx="11155680" cy="320040"/>
          </a:xfrm>
          <a:prstGeom prst="rect">
            <a:avLst/>
          </a:prstGeom>
          <a:solidFill>
            <a:srgbClr val="1F2540"/>
          </a:solidFill>
          <a:ln w="12700">
            <a:solidFill>
              <a:srgbClr val="1F2540"/>
            </a:solidFill>
            <a:prstDash val="solid"/>
          </a:ln>
        </p:spPr>
      </p:sp>
      <p:sp>
        <p:nvSpPr>
          <p:cNvPr id="30" name="Text 28"/>
          <p:cNvSpPr/>
          <p:nvPr/>
        </p:nvSpPr>
        <p:spPr>
          <a:xfrm>
            <a:off x="822960" y="6355080"/>
            <a:ext cx="10972800" cy="320040"/>
          </a:xfrm>
          <a:prstGeom prst="rect">
            <a:avLst/>
          </a:prstGeom>
          <a:noFill/>
          <a:ln/>
        </p:spPr>
        <p:txBody>
          <a:bodyPr wrap="square" lIns="0" tIns="0" rIns="0" bIns="0" rtlCol="0" anchor="ctr"/>
          <a:lstStyle/>
          <a:p>
            <a:pPr indent="0" marL="0">
              <a:buNone/>
            </a:pPr>
            <a:r>
              <a:rPr lang="en-US" sz="1050" i="1" dirty="0">
                <a:solidFill>
                  <a:srgbClr val="FAF7F2"/>
                </a:solidFill>
                <a:latin typeface="Calibri" pitchFamily="34" charset="0"/>
                <a:ea typeface="Calibri" pitchFamily="34" charset="-122"/>
                <a:cs typeface="Calibri" pitchFamily="34" charset="-120"/>
              </a:rPr>
              <a:t>Compounding defensibility: each layer strengthens the next. The 24-month head start is the window to lock in the category.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2A6F4"/>
          </a:solidFill>
          <a:ln w="12700">
            <a:solidFill>
              <a:srgbClr val="92A6F4"/>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17</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2A6F4"/>
                </a:solidFill>
                <a:latin typeface="Calibri" pitchFamily="34" charset="0"/>
                <a:ea typeface="Calibri" pitchFamily="34" charset="-122"/>
                <a:cs typeface="Calibri" pitchFamily="34" charset="-120"/>
              </a:rPr>
              <a:t>16 · TECHNOLOGY · ARCHITECTURE</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Backend architecture — lean, serverless, privacy-partitioned.</a:t>
            </a:r>
            <a:endParaRPr lang="en-US" sz="3200" dirty="0"/>
          </a:p>
        </p:txBody>
      </p:sp>
      <p:sp>
        <p:nvSpPr>
          <p:cNvPr id="9" name="Text 7"/>
          <p:cNvSpPr/>
          <p:nvPr/>
        </p:nvSpPr>
        <p:spPr>
          <a:xfrm>
            <a:off x="457200" y="1417320"/>
            <a:ext cx="11247120" cy="457200"/>
          </a:xfrm>
          <a:prstGeom prst="rect">
            <a:avLst/>
          </a:prstGeom>
          <a:noFill/>
          <a:ln/>
        </p:spPr>
        <p:txBody>
          <a:bodyPr wrap="square" lIns="0" tIns="0" rIns="0" bIns="0" rtlCol="0" anchor="ctr"/>
          <a:lstStyle/>
          <a:p>
            <a:pPr indent="0" marL="0">
              <a:buNone/>
            </a:pPr>
            <a:r>
              <a:rPr lang="en-US" sz="1500" i="1" dirty="0">
                <a:solidFill>
                  <a:srgbClr val="6B6A63"/>
                </a:solidFill>
                <a:latin typeface="Calibri" pitchFamily="34" charset="0"/>
                <a:ea typeface="Calibri" pitchFamily="34" charset="-122"/>
                <a:cs typeface="Calibri" pitchFamily="34" charset="-120"/>
              </a:rPr>
              <a:t>Expo → Supabase → Edge Function proxy → Anthropic. No infra to manage, no secrets in the client.</a:t>
            </a:r>
            <a:endParaRPr lang="en-US" sz="1500" dirty="0"/>
          </a:p>
        </p:txBody>
      </p:sp>
      <p:sp>
        <p:nvSpPr>
          <p:cNvPr id="10" name="Shape 8"/>
          <p:cNvSpPr/>
          <p:nvPr/>
        </p:nvSpPr>
        <p:spPr>
          <a:xfrm>
            <a:off x="548640" y="2103120"/>
            <a:ext cx="3108960" cy="4206240"/>
          </a:xfrm>
          <a:prstGeom prst="rect">
            <a:avLst/>
          </a:prstGeom>
          <a:solidFill>
            <a:srgbClr val="FFFFFF"/>
          </a:solidFill>
          <a:ln w="12700">
            <a:solidFill>
              <a:srgbClr val="E5E0D5"/>
            </a:solidFill>
            <a:prstDash val="solid"/>
          </a:ln>
        </p:spPr>
      </p:sp>
      <p:sp>
        <p:nvSpPr>
          <p:cNvPr id="11" name="Shape 9"/>
          <p:cNvSpPr/>
          <p:nvPr/>
        </p:nvSpPr>
        <p:spPr>
          <a:xfrm>
            <a:off x="548640" y="2103120"/>
            <a:ext cx="3108960" cy="457200"/>
          </a:xfrm>
          <a:prstGeom prst="rect">
            <a:avLst/>
          </a:prstGeom>
          <a:solidFill>
            <a:srgbClr val="96D35F"/>
          </a:solidFill>
          <a:ln w="12700">
            <a:solidFill>
              <a:srgbClr val="96D35F"/>
            </a:solidFill>
            <a:prstDash val="solid"/>
          </a:ln>
        </p:spPr>
      </p:sp>
      <p:sp>
        <p:nvSpPr>
          <p:cNvPr id="12" name="Text 10"/>
          <p:cNvSpPr/>
          <p:nvPr/>
        </p:nvSpPr>
        <p:spPr>
          <a:xfrm>
            <a:off x="548640" y="2103120"/>
            <a:ext cx="3108960" cy="457200"/>
          </a:xfrm>
          <a:prstGeom prst="rect">
            <a:avLst/>
          </a:prstGeom>
          <a:noFill/>
          <a:ln/>
        </p:spPr>
        <p:txBody>
          <a:bodyPr wrap="square" lIns="0" tIns="0" rIns="0" bIns="0" rtlCol="0" anchor="ctr"/>
          <a:lstStyle/>
          <a:p>
            <a:pPr algn="ctr" indent="0" marL="0">
              <a:buNone/>
            </a:pPr>
            <a:r>
              <a:rPr lang="en-US" sz="1200" b="1" spc="500" kern="0" dirty="0">
                <a:solidFill>
                  <a:srgbClr val="FFFFFF"/>
                </a:solidFill>
                <a:latin typeface="Calibri" pitchFamily="34" charset="0"/>
                <a:ea typeface="Calibri" pitchFamily="34" charset="-122"/>
                <a:cs typeface="Calibri" pitchFamily="34" charset="-120"/>
              </a:rPr>
              <a:t>CLIENT</a:t>
            </a:r>
            <a:endParaRPr lang="en-US" sz="1200" dirty="0"/>
          </a:p>
        </p:txBody>
      </p:sp>
      <p:sp>
        <p:nvSpPr>
          <p:cNvPr id="13" name="Shape 11"/>
          <p:cNvSpPr/>
          <p:nvPr/>
        </p:nvSpPr>
        <p:spPr>
          <a:xfrm>
            <a:off x="822960" y="2834640"/>
            <a:ext cx="164592" cy="164592"/>
          </a:xfrm>
          <a:prstGeom prst="ellipse">
            <a:avLst/>
          </a:prstGeom>
          <a:solidFill>
            <a:srgbClr val="96D35F"/>
          </a:solidFill>
          <a:ln w="12700">
            <a:solidFill>
              <a:srgbClr val="96D35F"/>
            </a:solidFill>
            <a:prstDash val="solid"/>
          </a:ln>
        </p:spPr>
      </p:sp>
      <p:sp>
        <p:nvSpPr>
          <p:cNvPr id="14" name="Text 12"/>
          <p:cNvSpPr/>
          <p:nvPr/>
        </p:nvSpPr>
        <p:spPr>
          <a:xfrm>
            <a:off x="1097280" y="274320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React Native (Expo 54)</a:t>
            </a:r>
            <a:endParaRPr lang="en-US" sz="1150" dirty="0"/>
          </a:p>
        </p:txBody>
      </p:sp>
      <p:sp>
        <p:nvSpPr>
          <p:cNvPr id="15" name="Shape 13"/>
          <p:cNvSpPr/>
          <p:nvPr/>
        </p:nvSpPr>
        <p:spPr>
          <a:xfrm>
            <a:off x="822960" y="3611880"/>
            <a:ext cx="164592" cy="164592"/>
          </a:xfrm>
          <a:prstGeom prst="ellipse">
            <a:avLst/>
          </a:prstGeom>
          <a:solidFill>
            <a:srgbClr val="96D35F"/>
          </a:solidFill>
          <a:ln w="12700">
            <a:solidFill>
              <a:srgbClr val="96D35F"/>
            </a:solidFill>
            <a:prstDash val="solid"/>
          </a:ln>
        </p:spPr>
      </p:sp>
      <p:sp>
        <p:nvSpPr>
          <p:cNvPr id="16" name="Text 14"/>
          <p:cNvSpPr/>
          <p:nvPr/>
        </p:nvSpPr>
        <p:spPr>
          <a:xfrm>
            <a:off x="1097280" y="352044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Expo Router v6</a:t>
            </a:r>
            <a:endParaRPr lang="en-US" sz="1150" dirty="0"/>
          </a:p>
        </p:txBody>
      </p:sp>
      <p:sp>
        <p:nvSpPr>
          <p:cNvPr id="17" name="Shape 15"/>
          <p:cNvSpPr/>
          <p:nvPr/>
        </p:nvSpPr>
        <p:spPr>
          <a:xfrm>
            <a:off x="822960" y="4389120"/>
            <a:ext cx="164592" cy="164592"/>
          </a:xfrm>
          <a:prstGeom prst="ellipse">
            <a:avLst/>
          </a:prstGeom>
          <a:solidFill>
            <a:srgbClr val="96D35F"/>
          </a:solidFill>
          <a:ln w="12700">
            <a:solidFill>
              <a:srgbClr val="96D35F"/>
            </a:solidFill>
            <a:prstDash val="solid"/>
          </a:ln>
        </p:spPr>
      </p:sp>
      <p:sp>
        <p:nvSpPr>
          <p:cNvPr id="18" name="Text 16"/>
          <p:cNvSpPr/>
          <p:nvPr/>
        </p:nvSpPr>
        <p:spPr>
          <a:xfrm>
            <a:off x="1097280" y="429768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expo-secure-store</a:t>
            </a:r>
            <a:endParaRPr lang="en-US" sz="1150" dirty="0"/>
          </a:p>
        </p:txBody>
      </p:sp>
      <p:sp>
        <p:nvSpPr>
          <p:cNvPr id="19" name="Shape 17"/>
          <p:cNvSpPr/>
          <p:nvPr/>
        </p:nvSpPr>
        <p:spPr>
          <a:xfrm>
            <a:off x="822960" y="5166360"/>
            <a:ext cx="164592" cy="164592"/>
          </a:xfrm>
          <a:prstGeom prst="ellipse">
            <a:avLst/>
          </a:prstGeom>
          <a:solidFill>
            <a:srgbClr val="96D35F"/>
          </a:solidFill>
          <a:ln w="12700">
            <a:solidFill>
              <a:srgbClr val="96D35F"/>
            </a:solidFill>
            <a:prstDash val="solid"/>
          </a:ln>
        </p:spPr>
      </p:sp>
      <p:sp>
        <p:nvSpPr>
          <p:cNvPr id="20" name="Text 18"/>
          <p:cNvSpPr/>
          <p:nvPr/>
        </p:nvSpPr>
        <p:spPr>
          <a:xfrm>
            <a:off x="1097280" y="507492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expo-auth-session (OAuth)</a:t>
            </a:r>
            <a:endParaRPr lang="en-US" sz="1150" dirty="0"/>
          </a:p>
        </p:txBody>
      </p:sp>
      <p:sp>
        <p:nvSpPr>
          <p:cNvPr id="21" name="Shape 19"/>
          <p:cNvSpPr/>
          <p:nvPr/>
        </p:nvSpPr>
        <p:spPr>
          <a:xfrm>
            <a:off x="4526280" y="2103120"/>
            <a:ext cx="3108960" cy="4206240"/>
          </a:xfrm>
          <a:prstGeom prst="rect">
            <a:avLst/>
          </a:prstGeom>
          <a:solidFill>
            <a:srgbClr val="FFFFFF"/>
          </a:solidFill>
          <a:ln w="12700">
            <a:solidFill>
              <a:srgbClr val="E5E0D5"/>
            </a:solidFill>
            <a:prstDash val="solid"/>
          </a:ln>
        </p:spPr>
      </p:sp>
      <p:sp>
        <p:nvSpPr>
          <p:cNvPr id="22" name="Shape 20"/>
          <p:cNvSpPr/>
          <p:nvPr/>
        </p:nvSpPr>
        <p:spPr>
          <a:xfrm>
            <a:off x="4526280" y="2103120"/>
            <a:ext cx="3108960" cy="457200"/>
          </a:xfrm>
          <a:prstGeom prst="rect">
            <a:avLst/>
          </a:prstGeom>
          <a:solidFill>
            <a:srgbClr val="F67700"/>
          </a:solidFill>
          <a:ln w="12700">
            <a:solidFill>
              <a:srgbClr val="F67700"/>
            </a:solidFill>
            <a:prstDash val="solid"/>
          </a:ln>
        </p:spPr>
      </p:sp>
      <p:sp>
        <p:nvSpPr>
          <p:cNvPr id="23" name="Text 21"/>
          <p:cNvSpPr/>
          <p:nvPr/>
        </p:nvSpPr>
        <p:spPr>
          <a:xfrm>
            <a:off x="4526280" y="2103120"/>
            <a:ext cx="3108960" cy="457200"/>
          </a:xfrm>
          <a:prstGeom prst="rect">
            <a:avLst/>
          </a:prstGeom>
          <a:noFill/>
          <a:ln/>
        </p:spPr>
        <p:txBody>
          <a:bodyPr wrap="square" lIns="0" tIns="0" rIns="0" bIns="0" rtlCol="0" anchor="ctr"/>
          <a:lstStyle/>
          <a:p>
            <a:pPr algn="ctr" indent="0" marL="0">
              <a:buNone/>
            </a:pPr>
            <a:r>
              <a:rPr lang="en-US" sz="1200" b="1" spc="500" kern="0" dirty="0">
                <a:solidFill>
                  <a:srgbClr val="FFFFFF"/>
                </a:solidFill>
                <a:latin typeface="Calibri" pitchFamily="34" charset="0"/>
                <a:ea typeface="Calibri" pitchFamily="34" charset="-122"/>
                <a:cs typeface="Calibri" pitchFamily="34" charset="-120"/>
              </a:rPr>
              <a:t>EDGE / PROXY</a:t>
            </a:r>
            <a:endParaRPr lang="en-US" sz="1200" dirty="0"/>
          </a:p>
        </p:txBody>
      </p:sp>
      <p:sp>
        <p:nvSpPr>
          <p:cNvPr id="24" name="Shape 22"/>
          <p:cNvSpPr/>
          <p:nvPr/>
        </p:nvSpPr>
        <p:spPr>
          <a:xfrm>
            <a:off x="4800600" y="2834640"/>
            <a:ext cx="164592" cy="164592"/>
          </a:xfrm>
          <a:prstGeom prst="ellipse">
            <a:avLst/>
          </a:prstGeom>
          <a:solidFill>
            <a:srgbClr val="F67700"/>
          </a:solidFill>
          <a:ln w="12700">
            <a:solidFill>
              <a:srgbClr val="F67700"/>
            </a:solidFill>
            <a:prstDash val="solid"/>
          </a:ln>
        </p:spPr>
      </p:sp>
      <p:sp>
        <p:nvSpPr>
          <p:cNvPr id="25" name="Text 23"/>
          <p:cNvSpPr/>
          <p:nvPr/>
        </p:nvSpPr>
        <p:spPr>
          <a:xfrm>
            <a:off x="5074920" y="274320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Supabase Edge Functions (Deno)</a:t>
            </a:r>
            <a:endParaRPr lang="en-US" sz="1150" dirty="0"/>
          </a:p>
        </p:txBody>
      </p:sp>
      <p:sp>
        <p:nvSpPr>
          <p:cNvPr id="26" name="Shape 24"/>
          <p:cNvSpPr/>
          <p:nvPr/>
        </p:nvSpPr>
        <p:spPr>
          <a:xfrm>
            <a:off x="4800600" y="3611880"/>
            <a:ext cx="164592" cy="164592"/>
          </a:xfrm>
          <a:prstGeom prst="ellipse">
            <a:avLst/>
          </a:prstGeom>
          <a:solidFill>
            <a:srgbClr val="F67700"/>
          </a:solidFill>
          <a:ln w="12700">
            <a:solidFill>
              <a:srgbClr val="F67700"/>
            </a:solidFill>
            <a:prstDash val="solid"/>
          </a:ln>
        </p:spPr>
      </p:sp>
      <p:sp>
        <p:nvSpPr>
          <p:cNvPr id="27" name="Text 25"/>
          <p:cNvSpPr/>
          <p:nvPr/>
        </p:nvSpPr>
        <p:spPr>
          <a:xfrm>
            <a:off x="5074920" y="352044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API key redaction</a:t>
            </a:r>
            <a:endParaRPr lang="en-US" sz="1150" dirty="0"/>
          </a:p>
        </p:txBody>
      </p:sp>
      <p:sp>
        <p:nvSpPr>
          <p:cNvPr id="28" name="Shape 26"/>
          <p:cNvSpPr/>
          <p:nvPr/>
        </p:nvSpPr>
        <p:spPr>
          <a:xfrm>
            <a:off x="4800600" y="4389120"/>
            <a:ext cx="164592" cy="164592"/>
          </a:xfrm>
          <a:prstGeom prst="ellipse">
            <a:avLst/>
          </a:prstGeom>
          <a:solidFill>
            <a:srgbClr val="F67700"/>
          </a:solidFill>
          <a:ln w="12700">
            <a:solidFill>
              <a:srgbClr val="F67700"/>
            </a:solidFill>
            <a:prstDash val="solid"/>
          </a:ln>
        </p:spPr>
      </p:sp>
      <p:sp>
        <p:nvSpPr>
          <p:cNvPr id="29" name="Text 27"/>
          <p:cNvSpPr/>
          <p:nvPr/>
        </p:nvSpPr>
        <p:spPr>
          <a:xfrm>
            <a:off x="5074920" y="429768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Rate limiting per user</a:t>
            </a:r>
            <a:endParaRPr lang="en-US" sz="1150" dirty="0"/>
          </a:p>
        </p:txBody>
      </p:sp>
      <p:sp>
        <p:nvSpPr>
          <p:cNvPr id="30" name="Shape 28"/>
          <p:cNvSpPr/>
          <p:nvPr/>
        </p:nvSpPr>
        <p:spPr>
          <a:xfrm>
            <a:off x="4800600" y="5166360"/>
            <a:ext cx="164592" cy="164592"/>
          </a:xfrm>
          <a:prstGeom prst="ellipse">
            <a:avLst/>
          </a:prstGeom>
          <a:solidFill>
            <a:srgbClr val="F67700"/>
          </a:solidFill>
          <a:ln w="12700">
            <a:solidFill>
              <a:srgbClr val="F67700"/>
            </a:solidFill>
            <a:prstDash val="solid"/>
          </a:ln>
        </p:spPr>
      </p:sp>
      <p:sp>
        <p:nvSpPr>
          <p:cNvPr id="31" name="Text 29"/>
          <p:cNvSpPr/>
          <p:nvPr/>
        </p:nvSpPr>
        <p:spPr>
          <a:xfrm>
            <a:off x="5074920" y="507492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Request shaping + logging</a:t>
            </a:r>
            <a:endParaRPr lang="en-US" sz="1150" dirty="0"/>
          </a:p>
        </p:txBody>
      </p:sp>
      <p:sp>
        <p:nvSpPr>
          <p:cNvPr id="32" name="Shape 30"/>
          <p:cNvSpPr/>
          <p:nvPr/>
        </p:nvSpPr>
        <p:spPr>
          <a:xfrm>
            <a:off x="8503920" y="2103120"/>
            <a:ext cx="3108960" cy="4206240"/>
          </a:xfrm>
          <a:prstGeom prst="rect">
            <a:avLst/>
          </a:prstGeom>
          <a:solidFill>
            <a:srgbClr val="FFFFFF"/>
          </a:solidFill>
          <a:ln w="12700">
            <a:solidFill>
              <a:srgbClr val="E5E0D5"/>
            </a:solidFill>
            <a:prstDash val="solid"/>
          </a:ln>
        </p:spPr>
      </p:sp>
      <p:sp>
        <p:nvSpPr>
          <p:cNvPr id="33" name="Shape 31"/>
          <p:cNvSpPr/>
          <p:nvPr/>
        </p:nvSpPr>
        <p:spPr>
          <a:xfrm>
            <a:off x="8503920" y="2103120"/>
            <a:ext cx="3108960" cy="457200"/>
          </a:xfrm>
          <a:prstGeom prst="rect">
            <a:avLst/>
          </a:prstGeom>
          <a:solidFill>
            <a:srgbClr val="BD57F2"/>
          </a:solidFill>
          <a:ln w="12700">
            <a:solidFill>
              <a:srgbClr val="BD57F2"/>
            </a:solidFill>
            <a:prstDash val="solid"/>
          </a:ln>
        </p:spPr>
      </p:sp>
      <p:sp>
        <p:nvSpPr>
          <p:cNvPr id="34" name="Text 32"/>
          <p:cNvSpPr/>
          <p:nvPr/>
        </p:nvSpPr>
        <p:spPr>
          <a:xfrm>
            <a:off x="8503920" y="2103120"/>
            <a:ext cx="3108960" cy="457200"/>
          </a:xfrm>
          <a:prstGeom prst="rect">
            <a:avLst/>
          </a:prstGeom>
          <a:noFill/>
          <a:ln/>
        </p:spPr>
        <p:txBody>
          <a:bodyPr wrap="square" lIns="0" tIns="0" rIns="0" bIns="0" rtlCol="0" anchor="ctr"/>
          <a:lstStyle/>
          <a:p>
            <a:pPr algn="ctr" indent="0" marL="0">
              <a:buNone/>
            </a:pPr>
            <a:r>
              <a:rPr lang="en-US" sz="1200" b="1" spc="500" kern="0" dirty="0">
                <a:solidFill>
                  <a:srgbClr val="FFFFFF"/>
                </a:solidFill>
                <a:latin typeface="Calibri" pitchFamily="34" charset="0"/>
                <a:ea typeface="Calibri" pitchFamily="34" charset="-122"/>
                <a:cs typeface="Calibri" pitchFamily="34" charset="-120"/>
              </a:rPr>
              <a:t>DATA + AI</a:t>
            </a:r>
            <a:endParaRPr lang="en-US" sz="1200" dirty="0"/>
          </a:p>
        </p:txBody>
      </p:sp>
      <p:sp>
        <p:nvSpPr>
          <p:cNvPr id="35" name="Shape 33"/>
          <p:cNvSpPr/>
          <p:nvPr/>
        </p:nvSpPr>
        <p:spPr>
          <a:xfrm>
            <a:off x="8778240" y="2834640"/>
            <a:ext cx="164592" cy="164592"/>
          </a:xfrm>
          <a:prstGeom prst="ellipse">
            <a:avLst/>
          </a:prstGeom>
          <a:solidFill>
            <a:srgbClr val="BD57F2"/>
          </a:solidFill>
          <a:ln w="12700">
            <a:solidFill>
              <a:srgbClr val="BD57F2"/>
            </a:solidFill>
            <a:prstDash val="solid"/>
          </a:ln>
        </p:spPr>
      </p:sp>
      <p:sp>
        <p:nvSpPr>
          <p:cNvPr id="36" name="Text 34"/>
          <p:cNvSpPr/>
          <p:nvPr/>
        </p:nvSpPr>
        <p:spPr>
          <a:xfrm>
            <a:off x="9052560" y="274320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Supabase Postgres + RLS</a:t>
            </a:r>
            <a:endParaRPr lang="en-US" sz="1150" dirty="0"/>
          </a:p>
        </p:txBody>
      </p:sp>
      <p:sp>
        <p:nvSpPr>
          <p:cNvPr id="37" name="Shape 35"/>
          <p:cNvSpPr/>
          <p:nvPr/>
        </p:nvSpPr>
        <p:spPr>
          <a:xfrm>
            <a:off x="8778240" y="3611880"/>
            <a:ext cx="164592" cy="164592"/>
          </a:xfrm>
          <a:prstGeom prst="ellipse">
            <a:avLst/>
          </a:prstGeom>
          <a:solidFill>
            <a:srgbClr val="BD57F2"/>
          </a:solidFill>
          <a:ln w="12700">
            <a:solidFill>
              <a:srgbClr val="BD57F2"/>
            </a:solidFill>
            <a:prstDash val="solid"/>
          </a:ln>
        </p:spPr>
      </p:sp>
      <p:sp>
        <p:nvSpPr>
          <p:cNvPr id="38" name="Text 36"/>
          <p:cNvSpPr/>
          <p:nvPr/>
        </p:nvSpPr>
        <p:spPr>
          <a:xfrm>
            <a:off x="9052560" y="352044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Supabase Auth (Google OAuth)</a:t>
            </a:r>
            <a:endParaRPr lang="en-US" sz="1150" dirty="0"/>
          </a:p>
        </p:txBody>
      </p:sp>
      <p:sp>
        <p:nvSpPr>
          <p:cNvPr id="39" name="Shape 37"/>
          <p:cNvSpPr/>
          <p:nvPr/>
        </p:nvSpPr>
        <p:spPr>
          <a:xfrm>
            <a:off x="8778240" y="4389120"/>
            <a:ext cx="164592" cy="164592"/>
          </a:xfrm>
          <a:prstGeom prst="ellipse">
            <a:avLst/>
          </a:prstGeom>
          <a:solidFill>
            <a:srgbClr val="BD57F2"/>
          </a:solidFill>
          <a:ln w="12700">
            <a:solidFill>
              <a:srgbClr val="BD57F2"/>
            </a:solidFill>
            <a:prstDash val="solid"/>
          </a:ln>
        </p:spPr>
      </p:sp>
      <p:sp>
        <p:nvSpPr>
          <p:cNvPr id="40" name="Text 38"/>
          <p:cNvSpPr/>
          <p:nvPr/>
        </p:nvSpPr>
        <p:spPr>
          <a:xfrm>
            <a:off x="9052560" y="429768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Anthropic Claude Haiku 4.5</a:t>
            </a:r>
            <a:endParaRPr lang="en-US" sz="1150" dirty="0"/>
          </a:p>
        </p:txBody>
      </p:sp>
      <p:sp>
        <p:nvSpPr>
          <p:cNvPr id="41" name="Shape 39"/>
          <p:cNvSpPr/>
          <p:nvPr/>
        </p:nvSpPr>
        <p:spPr>
          <a:xfrm>
            <a:off x="8778240" y="5166360"/>
            <a:ext cx="164592" cy="164592"/>
          </a:xfrm>
          <a:prstGeom prst="ellipse">
            <a:avLst/>
          </a:prstGeom>
          <a:solidFill>
            <a:srgbClr val="BD57F2"/>
          </a:solidFill>
          <a:ln w="12700">
            <a:solidFill>
              <a:srgbClr val="BD57F2"/>
            </a:solidFill>
            <a:prstDash val="solid"/>
          </a:ln>
        </p:spPr>
      </p:sp>
      <p:sp>
        <p:nvSpPr>
          <p:cNvPr id="42" name="Text 40"/>
          <p:cNvSpPr/>
          <p:nvPr/>
        </p:nvSpPr>
        <p:spPr>
          <a:xfrm>
            <a:off x="9052560" y="5074920"/>
            <a:ext cx="2468880" cy="45720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Session memory store</a:t>
            </a:r>
            <a:endParaRPr lang="en-US" sz="1150" dirty="0"/>
          </a:p>
        </p:txBody>
      </p:sp>
      <p:sp>
        <p:nvSpPr>
          <p:cNvPr id="43" name="Shape 41"/>
          <p:cNvSpPr/>
          <p:nvPr/>
        </p:nvSpPr>
        <p:spPr>
          <a:xfrm>
            <a:off x="3703320" y="4114800"/>
            <a:ext cx="777240" cy="45720"/>
          </a:xfrm>
          <a:prstGeom prst="rect">
            <a:avLst/>
          </a:prstGeom>
          <a:solidFill>
            <a:srgbClr val="1F2540"/>
          </a:solidFill>
          <a:ln w="12700">
            <a:solidFill>
              <a:srgbClr val="1F2540"/>
            </a:solidFill>
            <a:prstDash val="solid"/>
          </a:ln>
        </p:spPr>
      </p:sp>
      <p:sp>
        <p:nvSpPr>
          <p:cNvPr id="44" name="Shape 42"/>
          <p:cNvSpPr/>
          <p:nvPr/>
        </p:nvSpPr>
        <p:spPr>
          <a:xfrm>
            <a:off x="7680960" y="4114800"/>
            <a:ext cx="777240" cy="45720"/>
          </a:xfrm>
          <a:prstGeom prst="rect">
            <a:avLst/>
          </a:prstGeom>
          <a:solidFill>
            <a:srgbClr val="1F2540"/>
          </a:solidFill>
          <a:ln w="12700">
            <a:solidFill>
              <a:srgbClr val="1F2540"/>
            </a:solidFill>
            <a:prstDash val="solid"/>
          </a:ln>
        </p:spPr>
      </p:sp>
      <p:sp>
        <p:nvSpPr>
          <p:cNvPr id="45" name="Shape 43"/>
          <p:cNvSpPr/>
          <p:nvPr/>
        </p:nvSpPr>
        <p:spPr>
          <a:xfrm>
            <a:off x="548640" y="6400800"/>
            <a:ext cx="11155680" cy="274320"/>
          </a:xfrm>
          <a:prstGeom prst="rect">
            <a:avLst/>
          </a:prstGeom>
          <a:solidFill>
            <a:srgbClr val="1F2540"/>
          </a:solidFill>
          <a:ln w="12700">
            <a:solidFill>
              <a:srgbClr val="1F2540"/>
            </a:solidFill>
            <a:prstDash val="solid"/>
          </a:ln>
        </p:spPr>
      </p:sp>
      <p:sp>
        <p:nvSpPr>
          <p:cNvPr id="46" name="Text 44"/>
          <p:cNvSpPr/>
          <p:nvPr/>
        </p:nvSpPr>
        <p:spPr>
          <a:xfrm>
            <a:off x="822960" y="6400800"/>
            <a:ext cx="10972800" cy="274320"/>
          </a:xfrm>
          <a:prstGeom prst="rect">
            <a:avLst/>
          </a:prstGeom>
          <a:noFill/>
          <a:ln/>
        </p:spPr>
        <p:txBody>
          <a:bodyPr wrap="square" lIns="0" tIns="0" rIns="0" bIns="0" rtlCol="0" anchor="ctr"/>
          <a:lstStyle/>
          <a:p>
            <a:pPr indent="0" marL="0">
              <a:buNone/>
            </a:pPr>
            <a:r>
              <a:rPr lang="en-US" sz="1000" i="1" dirty="0">
                <a:solidFill>
                  <a:srgbClr val="FAF7F2"/>
                </a:solidFill>
                <a:latin typeface="Calibri" pitchFamily="34" charset="0"/>
                <a:ea typeface="Calibri" pitchFamily="34" charset="-122"/>
                <a:cs typeface="Calibri" pitchFamily="34" charset="-120"/>
              </a:rPr>
              <a:t>Security note: API keys never touch the client bundle. Edge Function is the only component with Anthropic credentials. RLS enforces couple-scoped reads at the DB layer.</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F67700"/>
          </a:solidFill>
          <a:ln w="12700">
            <a:solidFill>
              <a:srgbClr val="F67700"/>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18</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F67700"/>
                </a:solidFill>
                <a:latin typeface="Calibri" pitchFamily="34" charset="0"/>
                <a:ea typeface="Calibri" pitchFamily="34" charset="-122"/>
                <a:cs typeface="Calibri" pitchFamily="34" charset="-120"/>
              </a:rPr>
              <a:t>17 · TECHNOLOGY · DATA MODEL</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Privacy is enforced at the data layer — not in the UI.</a:t>
            </a:r>
            <a:endParaRPr lang="en-US" sz="3200" dirty="0"/>
          </a:p>
        </p:txBody>
      </p:sp>
      <p:sp>
        <p:nvSpPr>
          <p:cNvPr id="9" name="Shape 7"/>
          <p:cNvSpPr/>
          <p:nvPr/>
        </p:nvSpPr>
        <p:spPr>
          <a:xfrm>
            <a:off x="548640" y="2103120"/>
            <a:ext cx="5532120" cy="4297680"/>
          </a:xfrm>
          <a:prstGeom prst="rect">
            <a:avLst/>
          </a:prstGeom>
          <a:solidFill>
            <a:srgbClr val="FFFFFF"/>
          </a:solidFill>
          <a:ln w="12700">
            <a:solidFill>
              <a:srgbClr val="E5E0D5"/>
            </a:solidFill>
            <a:prstDash val="solid"/>
          </a:ln>
        </p:spPr>
      </p:sp>
      <p:sp>
        <p:nvSpPr>
          <p:cNvPr id="10" name="Shape 8"/>
          <p:cNvSpPr/>
          <p:nvPr/>
        </p:nvSpPr>
        <p:spPr>
          <a:xfrm>
            <a:off x="548640" y="2103120"/>
            <a:ext cx="5532120" cy="457200"/>
          </a:xfrm>
          <a:prstGeom prst="rect">
            <a:avLst/>
          </a:prstGeom>
          <a:solidFill>
            <a:srgbClr val="92A6F4"/>
          </a:solidFill>
          <a:ln w="12700">
            <a:solidFill>
              <a:srgbClr val="92A6F4"/>
            </a:solidFill>
            <a:prstDash val="solid"/>
          </a:ln>
        </p:spPr>
      </p:sp>
      <p:sp>
        <p:nvSpPr>
          <p:cNvPr id="11" name="Text 9"/>
          <p:cNvSpPr/>
          <p:nvPr/>
        </p:nvSpPr>
        <p:spPr>
          <a:xfrm>
            <a:off x="777240" y="2103120"/>
            <a:ext cx="5212080" cy="457200"/>
          </a:xfrm>
          <a:prstGeom prst="rect">
            <a:avLst/>
          </a:prstGeom>
          <a:noFill/>
          <a:ln/>
        </p:spPr>
        <p:txBody>
          <a:bodyPr wrap="square" lIns="0" tIns="0" rIns="0" bIns="0" rtlCol="0" anchor="ctr"/>
          <a:lstStyle/>
          <a:p>
            <a:pPr indent="0" marL="0">
              <a:buNone/>
            </a:pPr>
            <a:r>
              <a:rPr lang="en-US" sz="1200" b="1" spc="400" kern="0" dirty="0">
                <a:solidFill>
                  <a:srgbClr val="FFFFFF"/>
                </a:solidFill>
                <a:latin typeface="Calibri" pitchFamily="34" charset="0"/>
                <a:ea typeface="Calibri" pitchFamily="34" charset="-122"/>
                <a:cs typeface="Calibri" pitchFamily="34" charset="-120"/>
              </a:rPr>
              <a:t>CORE TABLES</a:t>
            </a:r>
            <a:endParaRPr lang="en-US" sz="1200" dirty="0"/>
          </a:p>
        </p:txBody>
      </p:sp>
      <p:sp>
        <p:nvSpPr>
          <p:cNvPr id="12" name="Text 10"/>
          <p:cNvSpPr/>
          <p:nvPr/>
        </p:nvSpPr>
        <p:spPr>
          <a:xfrm>
            <a:off x="777240" y="2743200"/>
            <a:ext cx="1828800" cy="320040"/>
          </a:xfrm>
          <a:prstGeom prst="rect">
            <a:avLst/>
          </a:prstGeom>
          <a:noFill/>
          <a:ln/>
        </p:spPr>
        <p:txBody>
          <a:bodyPr wrap="square" lIns="0" tIns="0" rIns="0" bIns="0" rtlCol="0" anchor="ctr"/>
          <a:lstStyle/>
          <a:p>
            <a:pPr indent="0" marL="0">
              <a:buNone/>
            </a:pPr>
            <a:r>
              <a:rPr lang="en-US" sz="1200" b="1" dirty="0">
                <a:solidFill>
                  <a:srgbClr val="92A6F4"/>
                </a:solidFill>
                <a:latin typeface="Consolas" pitchFamily="34" charset="0"/>
                <a:ea typeface="Consolas" pitchFamily="34" charset="-122"/>
                <a:cs typeface="Consolas" pitchFamily="34" charset="-120"/>
              </a:rPr>
              <a:t>profiles</a:t>
            </a:r>
            <a:endParaRPr lang="en-US" sz="1200" dirty="0"/>
          </a:p>
        </p:txBody>
      </p:sp>
      <p:sp>
        <p:nvSpPr>
          <p:cNvPr id="13" name="Text 11"/>
          <p:cNvSpPr/>
          <p:nvPr/>
        </p:nvSpPr>
        <p:spPr>
          <a:xfrm>
            <a:off x="777240" y="3035808"/>
            <a:ext cx="5029200" cy="457200"/>
          </a:xfrm>
          <a:prstGeom prst="rect">
            <a:avLst/>
          </a:prstGeom>
          <a:noFill/>
          <a:ln/>
        </p:spPr>
        <p:txBody>
          <a:bodyPr wrap="square" lIns="0" tIns="0" rIns="0" bIns="0" rtlCol="0" anchor="ctr"/>
          <a:lstStyle/>
          <a:p>
            <a:pPr indent="0" marL="0">
              <a:buNone/>
            </a:pPr>
            <a:r>
              <a:rPr lang="en-US" sz="950" dirty="0">
                <a:solidFill>
                  <a:srgbClr val="2A2D34"/>
                </a:solidFill>
                <a:latin typeface="Consolas" pitchFamily="34" charset="0"/>
                <a:ea typeface="Consolas" pitchFamily="34" charset="-122"/>
                <a:cs typeface="Consolas" pitchFamily="34" charset="-120"/>
              </a:rPr>
              <a:t>id, name, age, avatar_color, attachment_style, love_language, conflict_style, window_of_tolerance, core_need</a:t>
            </a:r>
            <a:endParaRPr lang="en-US" sz="950" dirty="0"/>
          </a:p>
        </p:txBody>
      </p:sp>
      <p:sp>
        <p:nvSpPr>
          <p:cNvPr id="14" name="Text 12"/>
          <p:cNvSpPr/>
          <p:nvPr/>
        </p:nvSpPr>
        <p:spPr>
          <a:xfrm>
            <a:off x="777240" y="3456432"/>
            <a:ext cx="1828800" cy="320040"/>
          </a:xfrm>
          <a:prstGeom prst="rect">
            <a:avLst/>
          </a:prstGeom>
          <a:noFill/>
          <a:ln/>
        </p:spPr>
        <p:txBody>
          <a:bodyPr wrap="square" lIns="0" tIns="0" rIns="0" bIns="0" rtlCol="0" anchor="ctr"/>
          <a:lstStyle/>
          <a:p>
            <a:pPr indent="0" marL="0">
              <a:buNone/>
            </a:pPr>
            <a:r>
              <a:rPr lang="en-US" sz="1200" b="1" dirty="0">
                <a:solidFill>
                  <a:srgbClr val="92A6F4"/>
                </a:solidFill>
                <a:latin typeface="Consolas" pitchFamily="34" charset="0"/>
                <a:ea typeface="Consolas" pitchFamily="34" charset="-122"/>
                <a:cs typeface="Consolas" pitchFamily="34" charset="-120"/>
              </a:rPr>
              <a:t>couples</a:t>
            </a:r>
            <a:endParaRPr lang="en-US" sz="1200" dirty="0"/>
          </a:p>
        </p:txBody>
      </p:sp>
      <p:sp>
        <p:nvSpPr>
          <p:cNvPr id="15" name="Text 13"/>
          <p:cNvSpPr/>
          <p:nvPr/>
        </p:nvSpPr>
        <p:spPr>
          <a:xfrm>
            <a:off x="777240" y="3749040"/>
            <a:ext cx="5029200" cy="457200"/>
          </a:xfrm>
          <a:prstGeom prst="rect">
            <a:avLst/>
          </a:prstGeom>
          <a:noFill/>
          <a:ln/>
        </p:spPr>
        <p:txBody>
          <a:bodyPr wrap="square" lIns="0" tIns="0" rIns="0" bIns="0" rtlCol="0" anchor="ctr"/>
          <a:lstStyle/>
          <a:p>
            <a:pPr indent="0" marL="0">
              <a:buNone/>
            </a:pPr>
            <a:r>
              <a:rPr lang="en-US" sz="950" dirty="0">
                <a:solidFill>
                  <a:srgbClr val="2A2D34"/>
                </a:solidFill>
                <a:latin typeface="Consolas" pitchFamily="34" charset="0"/>
                <a:ea typeface="Consolas" pitchFamily="34" charset="-122"/>
                <a:cs typeface="Consolas" pitchFamily="34" charset="-120"/>
              </a:rPr>
              <a:t>id, partner_a, partner_b, status, invite_code, linked_at</a:t>
            </a:r>
            <a:endParaRPr lang="en-US" sz="950" dirty="0"/>
          </a:p>
        </p:txBody>
      </p:sp>
      <p:sp>
        <p:nvSpPr>
          <p:cNvPr id="16" name="Text 14"/>
          <p:cNvSpPr/>
          <p:nvPr/>
        </p:nvSpPr>
        <p:spPr>
          <a:xfrm>
            <a:off x="777240" y="4169664"/>
            <a:ext cx="1828800" cy="320040"/>
          </a:xfrm>
          <a:prstGeom prst="rect">
            <a:avLst/>
          </a:prstGeom>
          <a:noFill/>
          <a:ln/>
        </p:spPr>
        <p:txBody>
          <a:bodyPr wrap="square" lIns="0" tIns="0" rIns="0" bIns="0" rtlCol="0" anchor="ctr"/>
          <a:lstStyle/>
          <a:p>
            <a:pPr indent="0" marL="0">
              <a:buNone/>
            </a:pPr>
            <a:r>
              <a:rPr lang="en-US" sz="1200" b="1" dirty="0">
                <a:solidFill>
                  <a:srgbClr val="92A6F4"/>
                </a:solidFill>
                <a:latin typeface="Consolas" pitchFamily="34" charset="0"/>
                <a:ea typeface="Consolas" pitchFamily="34" charset="-122"/>
                <a:cs typeface="Consolas" pitchFamily="34" charset="-120"/>
              </a:rPr>
              <a:t>sessions</a:t>
            </a:r>
            <a:endParaRPr lang="en-US" sz="1200" dirty="0"/>
          </a:p>
        </p:txBody>
      </p:sp>
      <p:sp>
        <p:nvSpPr>
          <p:cNvPr id="17" name="Text 15"/>
          <p:cNvSpPr/>
          <p:nvPr/>
        </p:nvSpPr>
        <p:spPr>
          <a:xfrm>
            <a:off x="777240" y="4462272"/>
            <a:ext cx="5029200" cy="457200"/>
          </a:xfrm>
          <a:prstGeom prst="rect">
            <a:avLst/>
          </a:prstGeom>
          <a:noFill/>
          <a:ln/>
        </p:spPr>
        <p:txBody>
          <a:bodyPr wrap="square" lIns="0" tIns="0" rIns="0" bIns="0" rtlCol="0" anchor="ctr"/>
          <a:lstStyle/>
          <a:p>
            <a:pPr indent="0" marL="0">
              <a:buNone/>
            </a:pPr>
            <a:r>
              <a:rPr lang="en-US" sz="950" dirty="0">
                <a:solidFill>
                  <a:srgbClr val="2A2D34"/>
                </a:solidFill>
                <a:latin typeface="Consolas" pitchFamily="34" charset="0"/>
                <a:ea typeface="Consolas" pitchFamily="34" charset="-122"/>
                <a:cs typeface="Consolas" pitchFamily="34" charset="-120"/>
              </a:rPr>
              <a:t>id, profile_id, couple_id, current_step, status, created_at, completed_at</a:t>
            </a:r>
            <a:endParaRPr lang="en-US" sz="950" dirty="0"/>
          </a:p>
        </p:txBody>
      </p:sp>
      <p:sp>
        <p:nvSpPr>
          <p:cNvPr id="18" name="Text 16"/>
          <p:cNvSpPr/>
          <p:nvPr/>
        </p:nvSpPr>
        <p:spPr>
          <a:xfrm>
            <a:off x="777240" y="4882896"/>
            <a:ext cx="1828800" cy="320040"/>
          </a:xfrm>
          <a:prstGeom prst="rect">
            <a:avLst/>
          </a:prstGeom>
          <a:noFill/>
          <a:ln/>
        </p:spPr>
        <p:txBody>
          <a:bodyPr wrap="square" lIns="0" tIns="0" rIns="0" bIns="0" rtlCol="0" anchor="ctr"/>
          <a:lstStyle/>
          <a:p>
            <a:pPr indent="0" marL="0">
              <a:buNone/>
            </a:pPr>
            <a:r>
              <a:rPr lang="en-US" sz="1200" b="1" dirty="0">
                <a:solidFill>
                  <a:srgbClr val="92A6F4"/>
                </a:solidFill>
                <a:latin typeface="Consolas" pitchFamily="34" charset="0"/>
                <a:ea typeface="Consolas" pitchFamily="34" charset="-122"/>
                <a:cs typeface="Consolas" pitchFamily="34" charset="-120"/>
              </a:rPr>
              <a:t>messages</a:t>
            </a:r>
            <a:endParaRPr lang="en-US" sz="1200" dirty="0"/>
          </a:p>
        </p:txBody>
      </p:sp>
      <p:sp>
        <p:nvSpPr>
          <p:cNvPr id="19" name="Text 17"/>
          <p:cNvSpPr/>
          <p:nvPr/>
        </p:nvSpPr>
        <p:spPr>
          <a:xfrm>
            <a:off x="777240" y="5175504"/>
            <a:ext cx="5029200" cy="457200"/>
          </a:xfrm>
          <a:prstGeom prst="rect">
            <a:avLst/>
          </a:prstGeom>
          <a:noFill/>
          <a:ln/>
        </p:spPr>
        <p:txBody>
          <a:bodyPr wrap="square" lIns="0" tIns="0" rIns="0" bIns="0" rtlCol="0" anchor="ctr"/>
          <a:lstStyle/>
          <a:p>
            <a:pPr indent="0" marL="0">
              <a:buNone/>
            </a:pPr>
            <a:r>
              <a:rPr lang="en-US" sz="950" dirty="0">
                <a:solidFill>
                  <a:srgbClr val="2A2D34"/>
                </a:solidFill>
                <a:latin typeface="Consolas" pitchFamily="34" charset="0"/>
                <a:ea typeface="Consolas" pitchFamily="34" charset="-122"/>
                <a:cs typeface="Consolas" pitchFamily="34" charset="-120"/>
              </a:rPr>
              <a:t>id, session_id, step (vent|understand|prepare|nurture), role, content, created_at — RLS: owner-only</a:t>
            </a:r>
            <a:endParaRPr lang="en-US" sz="950" dirty="0"/>
          </a:p>
        </p:txBody>
      </p:sp>
      <p:sp>
        <p:nvSpPr>
          <p:cNvPr id="20" name="Text 18"/>
          <p:cNvSpPr/>
          <p:nvPr/>
        </p:nvSpPr>
        <p:spPr>
          <a:xfrm>
            <a:off x="777240" y="5596128"/>
            <a:ext cx="1828800" cy="320040"/>
          </a:xfrm>
          <a:prstGeom prst="rect">
            <a:avLst/>
          </a:prstGeom>
          <a:noFill/>
          <a:ln/>
        </p:spPr>
        <p:txBody>
          <a:bodyPr wrap="square" lIns="0" tIns="0" rIns="0" bIns="0" rtlCol="0" anchor="ctr"/>
          <a:lstStyle/>
          <a:p>
            <a:pPr indent="0" marL="0">
              <a:buNone/>
            </a:pPr>
            <a:r>
              <a:rPr lang="en-US" sz="1200" b="1" dirty="0">
                <a:solidFill>
                  <a:srgbClr val="92A6F4"/>
                </a:solidFill>
                <a:latin typeface="Consolas" pitchFamily="34" charset="0"/>
                <a:ea typeface="Consolas" pitchFamily="34" charset="-122"/>
                <a:cs typeface="Consolas" pitchFamily="34" charset="-120"/>
              </a:rPr>
              <a:t>learnings</a:t>
            </a:r>
            <a:endParaRPr lang="en-US" sz="1200" dirty="0"/>
          </a:p>
        </p:txBody>
      </p:sp>
      <p:sp>
        <p:nvSpPr>
          <p:cNvPr id="21" name="Text 19"/>
          <p:cNvSpPr/>
          <p:nvPr/>
        </p:nvSpPr>
        <p:spPr>
          <a:xfrm>
            <a:off x="777240" y="5888736"/>
            <a:ext cx="5029200" cy="457200"/>
          </a:xfrm>
          <a:prstGeom prst="rect">
            <a:avLst/>
          </a:prstGeom>
          <a:noFill/>
          <a:ln/>
        </p:spPr>
        <p:txBody>
          <a:bodyPr wrap="square" lIns="0" tIns="0" rIns="0" bIns="0" rtlCol="0" anchor="ctr"/>
          <a:lstStyle/>
          <a:p>
            <a:pPr indent="0" marL="0">
              <a:buNone/>
            </a:pPr>
            <a:r>
              <a:rPr lang="en-US" sz="950" dirty="0">
                <a:solidFill>
                  <a:srgbClr val="2A2D34"/>
                </a:solidFill>
                <a:latin typeface="Consolas" pitchFamily="34" charset="0"/>
                <a:ea typeface="Consolas" pitchFamily="34" charset="-122"/>
                <a:cs typeface="Consolas" pitchFamily="34" charset="-120"/>
              </a:rPr>
              <a:t>id, couple_id, pattern_type, observation, confidence — RLS: both-partner read</a:t>
            </a:r>
            <a:endParaRPr lang="en-US" sz="950" dirty="0"/>
          </a:p>
        </p:txBody>
      </p:sp>
      <p:sp>
        <p:nvSpPr>
          <p:cNvPr id="22" name="Shape 20"/>
          <p:cNvSpPr/>
          <p:nvPr/>
        </p:nvSpPr>
        <p:spPr>
          <a:xfrm>
            <a:off x="6263640" y="2103120"/>
            <a:ext cx="5440680" cy="4297680"/>
          </a:xfrm>
          <a:prstGeom prst="rect">
            <a:avLst/>
          </a:prstGeom>
          <a:solidFill>
            <a:srgbClr val="1F2540"/>
          </a:solidFill>
          <a:ln w="12700">
            <a:solidFill>
              <a:srgbClr val="1F2540"/>
            </a:solidFill>
            <a:prstDash val="solid"/>
          </a:ln>
        </p:spPr>
      </p:sp>
      <p:sp>
        <p:nvSpPr>
          <p:cNvPr id="23" name="Text 21"/>
          <p:cNvSpPr/>
          <p:nvPr/>
        </p:nvSpPr>
        <p:spPr>
          <a:xfrm>
            <a:off x="6492240" y="2286000"/>
            <a:ext cx="5029200" cy="365760"/>
          </a:xfrm>
          <a:prstGeom prst="rect">
            <a:avLst/>
          </a:prstGeom>
          <a:noFill/>
          <a:ln/>
        </p:spPr>
        <p:txBody>
          <a:bodyPr wrap="square" lIns="0" tIns="0" rIns="0" bIns="0" rtlCol="0" anchor="ctr"/>
          <a:lstStyle/>
          <a:p>
            <a:pPr indent="0" marL="0">
              <a:buNone/>
            </a:pPr>
            <a:r>
              <a:rPr lang="en-US" sz="1200" b="1" spc="400" kern="0" dirty="0">
                <a:solidFill>
                  <a:srgbClr val="F67700"/>
                </a:solidFill>
                <a:latin typeface="Calibri" pitchFamily="34" charset="0"/>
                <a:ea typeface="Calibri" pitchFamily="34" charset="-122"/>
                <a:cs typeface="Calibri" pitchFamily="34" charset="-120"/>
              </a:rPr>
              <a:t>PRIVACY RULES (RLS)</a:t>
            </a:r>
            <a:endParaRPr lang="en-US" sz="1200" dirty="0"/>
          </a:p>
        </p:txBody>
      </p:sp>
      <p:sp>
        <p:nvSpPr>
          <p:cNvPr id="24" name="Shape 22"/>
          <p:cNvSpPr/>
          <p:nvPr/>
        </p:nvSpPr>
        <p:spPr>
          <a:xfrm>
            <a:off x="6492240" y="2926080"/>
            <a:ext cx="137160" cy="137160"/>
          </a:xfrm>
          <a:prstGeom prst="ellipse">
            <a:avLst/>
          </a:prstGeom>
          <a:solidFill>
            <a:srgbClr val="F67700"/>
          </a:solidFill>
          <a:ln w="12700">
            <a:solidFill>
              <a:srgbClr val="F67700"/>
            </a:solidFill>
            <a:prstDash val="solid"/>
          </a:ln>
        </p:spPr>
      </p:sp>
      <p:sp>
        <p:nvSpPr>
          <p:cNvPr id="25" name="Text 23"/>
          <p:cNvSpPr/>
          <p:nvPr/>
        </p:nvSpPr>
        <p:spPr>
          <a:xfrm>
            <a:off x="6720840" y="2834640"/>
            <a:ext cx="4846320" cy="594360"/>
          </a:xfrm>
          <a:prstGeom prst="rect">
            <a:avLst/>
          </a:prstGeom>
          <a:noFill/>
          <a:ln/>
        </p:spPr>
        <p:txBody>
          <a:bodyPr wrap="square" lIns="0" tIns="0" rIns="0" bIns="0" rtlCol="0" anchor="ctr"/>
          <a:lstStyle/>
          <a:p>
            <a:pPr indent="0" marL="0">
              <a:buNone/>
            </a:pPr>
            <a:r>
              <a:rPr lang="en-US" sz="1150" b="1" dirty="0">
                <a:solidFill>
                  <a:srgbClr val="FAF7F2"/>
                </a:solidFill>
                <a:latin typeface="Calibri" pitchFamily="34" charset="0"/>
                <a:ea typeface="Calibri" pitchFamily="34" charset="-122"/>
                <a:cs typeface="Calibri" pitchFamily="34" charset="-120"/>
              </a:rPr>
              <a:t>Vent messages  </a:t>
            </a:r>
            <a:pPr indent="0" marL="0">
              <a:buNone/>
            </a:pPr>
            <a:r>
              <a:rPr lang="en-US" sz="1100" dirty="0">
                <a:solidFill>
                  <a:srgbClr val="B9C4E0"/>
                </a:solidFill>
                <a:latin typeface="Calibri" pitchFamily="34" charset="0"/>
                <a:ea typeface="Calibri" pitchFamily="34" charset="-122"/>
                <a:cs typeface="Calibri" pitchFamily="34" charset="-120"/>
              </a:rPr>
              <a:t>Readable only by message owner. Partner.id cannot bypass via couples table.</a:t>
            </a:r>
            <a:endParaRPr lang="en-US" sz="1150" dirty="0"/>
          </a:p>
        </p:txBody>
      </p:sp>
      <p:sp>
        <p:nvSpPr>
          <p:cNvPr id="26" name="Shape 24"/>
          <p:cNvSpPr/>
          <p:nvPr/>
        </p:nvSpPr>
        <p:spPr>
          <a:xfrm>
            <a:off x="6492240" y="3584448"/>
            <a:ext cx="137160" cy="137160"/>
          </a:xfrm>
          <a:prstGeom prst="ellipse">
            <a:avLst/>
          </a:prstGeom>
          <a:solidFill>
            <a:srgbClr val="F67700"/>
          </a:solidFill>
          <a:ln w="12700">
            <a:solidFill>
              <a:srgbClr val="F67700"/>
            </a:solidFill>
            <a:prstDash val="solid"/>
          </a:ln>
        </p:spPr>
      </p:sp>
      <p:sp>
        <p:nvSpPr>
          <p:cNvPr id="27" name="Text 25"/>
          <p:cNvSpPr/>
          <p:nvPr/>
        </p:nvSpPr>
        <p:spPr>
          <a:xfrm>
            <a:off x="6720840" y="3493008"/>
            <a:ext cx="4846320" cy="594360"/>
          </a:xfrm>
          <a:prstGeom prst="rect">
            <a:avLst/>
          </a:prstGeom>
          <a:noFill/>
          <a:ln/>
        </p:spPr>
        <p:txBody>
          <a:bodyPr wrap="square" lIns="0" tIns="0" rIns="0" bIns="0" rtlCol="0" anchor="ctr"/>
          <a:lstStyle/>
          <a:p>
            <a:pPr indent="0" marL="0">
              <a:buNone/>
            </a:pPr>
            <a:r>
              <a:rPr lang="en-US" sz="1150" b="1" dirty="0">
                <a:solidFill>
                  <a:srgbClr val="FAF7F2"/>
                </a:solidFill>
                <a:latin typeface="Calibri" pitchFamily="34" charset="0"/>
                <a:ea typeface="Calibri" pitchFamily="34" charset="-122"/>
                <a:cs typeface="Calibri" pitchFamily="34" charset="-120"/>
              </a:rPr>
              <a:t>Assessment insights  </a:t>
            </a:r>
            <a:pPr indent="0" marL="0">
              <a:buNone/>
            </a:pPr>
            <a:r>
              <a:rPr lang="en-US" sz="1100" dirty="0">
                <a:solidFill>
                  <a:srgbClr val="B9C4E0"/>
                </a:solidFill>
                <a:latin typeface="Calibri" pitchFamily="34" charset="0"/>
                <a:ea typeface="Calibri" pitchFamily="34" charset="-122"/>
                <a:cs typeface="Calibri" pitchFamily="34" charset="-120"/>
              </a:rPr>
              <a:t>Visible to both partners in Learnings → Together. The distilled pattern, never the raw vent.</a:t>
            </a:r>
            <a:endParaRPr lang="en-US" sz="1150" dirty="0"/>
          </a:p>
        </p:txBody>
      </p:sp>
      <p:sp>
        <p:nvSpPr>
          <p:cNvPr id="28" name="Shape 26"/>
          <p:cNvSpPr/>
          <p:nvPr/>
        </p:nvSpPr>
        <p:spPr>
          <a:xfrm>
            <a:off x="6492240" y="4242816"/>
            <a:ext cx="137160" cy="137160"/>
          </a:xfrm>
          <a:prstGeom prst="ellipse">
            <a:avLst/>
          </a:prstGeom>
          <a:solidFill>
            <a:srgbClr val="F67700"/>
          </a:solidFill>
          <a:ln w="12700">
            <a:solidFill>
              <a:srgbClr val="F67700"/>
            </a:solidFill>
            <a:prstDash val="solid"/>
          </a:ln>
        </p:spPr>
      </p:sp>
      <p:sp>
        <p:nvSpPr>
          <p:cNvPr id="29" name="Text 27"/>
          <p:cNvSpPr/>
          <p:nvPr/>
        </p:nvSpPr>
        <p:spPr>
          <a:xfrm>
            <a:off x="6720840" y="4151376"/>
            <a:ext cx="4846320" cy="594360"/>
          </a:xfrm>
          <a:prstGeom prst="rect">
            <a:avLst/>
          </a:prstGeom>
          <a:noFill/>
          <a:ln/>
        </p:spPr>
        <p:txBody>
          <a:bodyPr wrap="square" lIns="0" tIns="0" rIns="0" bIns="0" rtlCol="0" anchor="ctr"/>
          <a:lstStyle/>
          <a:p>
            <a:pPr indent="0" marL="0">
              <a:buNone/>
            </a:pPr>
            <a:r>
              <a:rPr lang="en-US" sz="1150" b="1" dirty="0">
                <a:solidFill>
                  <a:srgbClr val="FAF7F2"/>
                </a:solidFill>
                <a:latin typeface="Calibri" pitchFamily="34" charset="0"/>
                <a:ea typeface="Calibri" pitchFamily="34" charset="-122"/>
                <a:cs typeface="Calibri" pitchFamily="34" charset="-120"/>
              </a:rPr>
              <a:t>Nurture plan  </a:t>
            </a:r>
            <a:pPr indent="0" marL="0">
              <a:buNone/>
            </a:pPr>
            <a:r>
              <a:rPr lang="en-US" sz="1100" dirty="0">
                <a:solidFill>
                  <a:srgbClr val="B9C4E0"/>
                </a:solidFill>
                <a:latin typeface="Calibri" pitchFamily="34" charset="0"/>
                <a:ea typeface="Calibri" pitchFamily="34" charset="-122"/>
                <a:cs typeface="Calibri" pitchFamily="34" charset="-120"/>
              </a:rPr>
              <a:t>Shared once Step 4 is opened. Author can revoke share.</a:t>
            </a:r>
            <a:endParaRPr lang="en-US" sz="1150" dirty="0"/>
          </a:p>
        </p:txBody>
      </p:sp>
      <p:sp>
        <p:nvSpPr>
          <p:cNvPr id="30" name="Shape 28"/>
          <p:cNvSpPr/>
          <p:nvPr/>
        </p:nvSpPr>
        <p:spPr>
          <a:xfrm>
            <a:off x="6492240" y="4901184"/>
            <a:ext cx="137160" cy="137160"/>
          </a:xfrm>
          <a:prstGeom prst="ellipse">
            <a:avLst/>
          </a:prstGeom>
          <a:solidFill>
            <a:srgbClr val="F67700"/>
          </a:solidFill>
          <a:ln w="12700">
            <a:solidFill>
              <a:srgbClr val="F67700"/>
            </a:solidFill>
            <a:prstDash val="solid"/>
          </a:ln>
        </p:spPr>
      </p:sp>
      <p:sp>
        <p:nvSpPr>
          <p:cNvPr id="31" name="Text 29"/>
          <p:cNvSpPr/>
          <p:nvPr/>
        </p:nvSpPr>
        <p:spPr>
          <a:xfrm>
            <a:off x="6720840" y="4809744"/>
            <a:ext cx="4846320" cy="594360"/>
          </a:xfrm>
          <a:prstGeom prst="rect">
            <a:avLst/>
          </a:prstGeom>
          <a:noFill/>
          <a:ln/>
        </p:spPr>
        <p:txBody>
          <a:bodyPr wrap="square" lIns="0" tIns="0" rIns="0" bIns="0" rtlCol="0" anchor="ctr"/>
          <a:lstStyle/>
          <a:p>
            <a:pPr indent="0" marL="0">
              <a:buNone/>
            </a:pPr>
            <a:r>
              <a:rPr lang="en-US" sz="1150" b="1" dirty="0">
                <a:solidFill>
                  <a:srgbClr val="FAF7F2"/>
                </a:solidFill>
                <a:latin typeface="Calibri" pitchFamily="34" charset="0"/>
                <a:ea typeface="Calibri" pitchFamily="34" charset="-122"/>
                <a:cs typeface="Calibri" pitchFamily="34" charset="-120"/>
              </a:rPr>
              <a:t>Deletion  </a:t>
            </a:r>
            <a:pPr indent="0" marL="0">
              <a:buNone/>
            </a:pPr>
            <a:r>
              <a:rPr lang="en-US" sz="1100" dirty="0">
                <a:solidFill>
                  <a:srgbClr val="B9C4E0"/>
                </a:solidFill>
                <a:latin typeface="Calibri" pitchFamily="34" charset="0"/>
                <a:ea typeface="Calibri" pitchFamily="34" charset="-122"/>
                <a:cs typeface="Calibri" pitchFamily="34" charset="-120"/>
              </a:rPr>
              <a:t>Cascade-on-request. Right-to-erase exposed via Settings → Data.</a:t>
            </a:r>
            <a:endParaRPr lang="en-US" sz="1150" dirty="0"/>
          </a:p>
        </p:txBody>
      </p:sp>
      <p:sp>
        <p:nvSpPr>
          <p:cNvPr id="32" name="Shape 30"/>
          <p:cNvSpPr/>
          <p:nvPr/>
        </p:nvSpPr>
        <p:spPr>
          <a:xfrm>
            <a:off x="6492240" y="5559552"/>
            <a:ext cx="137160" cy="137160"/>
          </a:xfrm>
          <a:prstGeom prst="ellipse">
            <a:avLst/>
          </a:prstGeom>
          <a:solidFill>
            <a:srgbClr val="F67700"/>
          </a:solidFill>
          <a:ln w="12700">
            <a:solidFill>
              <a:srgbClr val="F67700"/>
            </a:solidFill>
            <a:prstDash val="solid"/>
          </a:ln>
        </p:spPr>
      </p:sp>
      <p:sp>
        <p:nvSpPr>
          <p:cNvPr id="33" name="Text 31"/>
          <p:cNvSpPr/>
          <p:nvPr/>
        </p:nvSpPr>
        <p:spPr>
          <a:xfrm>
            <a:off x="6720840" y="5468112"/>
            <a:ext cx="4846320" cy="594360"/>
          </a:xfrm>
          <a:prstGeom prst="rect">
            <a:avLst/>
          </a:prstGeom>
          <a:noFill/>
          <a:ln/>
        </p:spPr>
        <p:txBody>
          <a:bodyPr wrap="square" lIns="0" tIns="0" rIns="0" bIns="0" rtlCol="0" anchor="ctr"/>
          <a:lstStyle/>
          <a:p>
            <a:pPr indent="0" marL="0">
              <a:buNone/>
            </a:pPr>
            <a:r>
              <a:rPr lang="en-US" sz="1150" b="1" dirty="0">
                <a:solidFill>
                  <a:srgbClr val="FAF7F2"/>
                </a:solidFill>
                <a:latin typeface="Calibri" pitchFamily="34" charset="0"/>
                <a:ea typeface="Calibri" pitchFamily="34" charset="-122"/>
                <a:cs typeface="Calibri" pitchFamily="34" charset="-120"/>
              </a:rPr>
              <a:t>At rest  </a:t>
            </a:r>
            <a:pPr indent="0" marL="0">
              <a:buNone/>
            </a:pPr>
            <a:r>
              <a:rPr lang="en-US" sz="1100" dirty="0">
                <a:solidFill>
                  <a:srgbClr val="B9C4E0"/>
                </a:solidFill>
                <a:latin typeface="Calibri" pitchFamily="34" charset="0"/>
                <a:ea typeface="Calibri" pitchFamily="34" charset="-122"/>
                <a:cs typeface="Calibri" pitchFamily="34" charset="-120"/>
              </a:rPr>
              <a:t>AES-256 on DB; keys managed by Supabase KMS. Daily backups with 7-day retention.</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6D35F"/>
          </a:solidFill>
          <a:ln w="12700">
            <a:solidFill>
              <a:srgbClr val="96D35F"/>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19</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6D35F"/>
                </a:solidFill>
                <a:latin typeface="Calibri" pitchFamily="34" charset="0"/>
                <a:ea typeface="Calibri" pitchFamily="34" charset="-122"/>
                <a:cs typeface="Calibri" pitchFamily="34" charset="-120"/>
              </a:rPr>
              <a:t>18 · ECONOMICS · COGS</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AI variable cost per active user-month: $0.08 – $0.22.</a:t>
            </a:r>
            <a:endParaRPr lang="en-US" sz="3200" dirty="0"/>
          </a:p>
        </p:txBody>
      </p:sp>
      <p:sp>
        <p:nvSpPr>
          <p:cNvPr id="9" name="Text 7"/>
          <p:cNvSpPr/>
          <p:nvPr/>
        </p:nvSpPr>
        <p:spPr>
          <a:xfrm>
            <a:off x="457200" y="1417320"/>
            <a:ext cx="11247120" cy="457200"/>
          </a:xfrm>
          <a:prstGeom prst="rect">
            <a:avLst/>
          </a:prstGeom>
          <a:noFill/>
          <a:ln/>
        </p:spPr>
        <p:txBody>
          <a:bodyPr wrap="square" lIns="0" tIns="0" rIns="0" bIns="0" rtlCol="0" anchor="ctr"/>
          <a:lstStyle/>
          <a:p>
            <a:pPr indent="0" marL="0">
              <a:buNone/>
            </a:pPr>
            <a:r>
              <a:rPr lang="en-US" sz="1500" i="1" dirty="0">
                <a:solidFill>
                  <a:srgbClr val="6B6A63"/>
                </a:solidFill>
                <a:latin typeface="Calibri" pitchFamily="34" charset="0"/>
                <a:ea typeface="Calibri" pitchFamily="34" charset="-122"/>
                <a:cs typeface="Calibri" pitchFamily="34" charset="-120"/>
              </a:rPr>
              <a:t>Claude Haiku 4.5 on current pricing; light-user and heavy-user scenarios.</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155680" cy="914400"/>
        </p:xfrm>
        <a:graphic>
          <a:graphicData uri="http://schemas.openxmlformats.org/drawingml/2006/table">
            <a:tbl>
              <a:tblPr/>
              <a:tblGrid>
                <a:gridCol w="4023360"/>
                <a:gridCol w="2377440"/>
                <a:gridCol w="2377440"/>
                <a:gridCol w="237744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Light user</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Avg user</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Heavy user</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r>
              <a:tr h="384048">
                <a:tc>
                  <a:txBody>
                    <a:bodyPr/>
                    <a:lstStyle/>
                    <a:p>
                      <a:pPr algn="ctr" indent="0" marL="0">
                        <a:buNone/>
                      </a:pPr>
                      <a:r>
                        <a:rPr lang="en-US" sz="1100" b="1" dirty="0">
                          <a:solidFill>
                            <a:srgbClr val="2A2D34"/>
                          </a:solidFill>
                          <a:latin typeface="Calibri" pitchFamily="34" charset="0"/>
                          <a:ea typeface="Calibri" pitchFamily="34" charset="-122"/>
                          <a:cs typeface="Calibri" pitchFamily="34" charset="-120"/>
                        </a:rPr>
                        <a:t>Sessions / month</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384048">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Messages / session</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384048">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Avg input tokens</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900</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1,400</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2,100</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384048">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Avg output tokens</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450</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700</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1,100</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384048">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Input cost @ $0.80/M</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$0.006</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$0.047</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$0.222</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384048">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Output cost @ $4.00/M</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$0.014</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$0.118</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$0.581</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384048">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Memory + summary calls</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$0.010</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$0.030</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$0.080</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384048">
                <a:tc>
                  <a:txBody>
                    <a:bodyPr/>
                    <a:lstStyle/>
                    <a:p>
                      <a:pPr algn="ctr" indent="0" marL="0">
                        <a:buNone/>
                      </a:pPr>
                      <a:r>
                        <a:rPr lang="en-US" sz="1150" b="1" dirty="0">
                          <a:solidFill>
                            <a:srgbClr val="1F2540"/>
                          </a:solidFill>
                          <a:latin typeface="Calibri" pitchFamily="34" charset="0"/>
                          <a:ea typeface="Calibri" pitchFamily="34" charset="-122"/>
                          <a:cs typeface="Calibri" pitchFamily="34" charset="-120"/>
                        </a:rPr>
                        <a:t>AI cost / user-month</a:t>
                      </a:r>
                      <a:endParaRPr lang="en-US" sz="115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algn="ctr" indent="0" marL="0">
                        <a:buNone/>
                      </a:pPr>
                      <a:r>
                        <a:rPr lang="en-US" sz="1300" b="1" dirty="0">
                          <a:solidFill>
                            <a:srgbClr val="1F2540"/>
                          </a:solidFill>
                          <a:latin typeface="Calibri" pitchFamily="34" charset="0"/>
                          <a:ea typeface="Calibri" pitchFamily="34" charset="-122"/>
                          <a:cs typeface="Calibri" pitchFamily="34" charset="-120"/>
                        </a:rPr>
                        <a:t>$0.03</a:t>
                      </a:r>
                      <a:endParaRPr lang="en-US" sz="13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algn="ctr" indent="0" marL="0">
                        <a:buNone/>
                      </a:pPr>
                      <a:r>
                        <a:rPr lang="en-US" sz="1300" b="1" dirty="0">
                          <a:solidFill>
                            <a:srgbClr val="1F2540"/>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algn="ctr" indent="0" marL="0">
                        <a:buNone/>
                      </a:pPr>
                      <a:r>
                        <a:rPr lang="en-US" sz="1300" b="1" dirty="0">
                          <a:solidFill>
                            <a:srgbClr val="1F2540"/>
                          </a:solidFill>
                          <a:latin typeface="Calibri" pitchFamily="34" charset="0"/>
                          <a:ea typeface="Calibri" pitchFamily="34" charset="-122"/>
                          <a:cs typeface="Calibri" pitchFamily="34" charset="-120"/>
                        </a:rPr>
                        <a:t>$0.88</a:t>
                      </a:r>
                      <a:endParaRPr lang="en-US" sz="13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r>
            </a:tbl>
          </a:graphicData>
        </a:graphic>
      </p:graphicFrame>
      <p:sp>
        <p:nvSpPr>
          <p:cNvPr id="11" name="Shape 8"/>
          <p:cNvSpPr/>
          <p:nvPr/>
        </p:nvSpPr>
        <p:spPr>
          <a:xfrm>
            <a:off x="548640" y="5989320"/>
            <a:ext cx="11155680" cy="548640"/>
          </a:xfrm>
          <a:prstGeom prst="rect">
            <a:avLst/>
          </a:prstGeom>
          <a:solidFill>
            <a:srgbClr val="1F2540"/>
          </a:solidFill>
          <a:ln w="12700">
            <a:solidFill>
              <a:srgbClr val="1F2540"/>
            </a:solidFill>
            <a:prstDash val="solid"/>
          </a:ln>
        </p:spPr>
      </p:sp>
      <p:sp>
        <p:nvSpPr>
          <p:cNvPr id="12" name="Text 9"/>
          <p:cNvSpPr/>
          <p:nvPr/>
        </p:nvSpPr>
        <p:spPr>
          <a:xfrm>
            <a:off x="822960" y="5989320"/>
            <a:ext cx="10972800" cy="548640"/>
          </a:xfrm>
          <a:prstGeom prst="rect">
            <a:avLst/>
          </a:prstGeom>
          <a:noFill/>
          <a:ln/>
        </p:spPr>
        <p:txBody>
          <a:bodyPr wrap="square" lIns="0" tIns="0" rIns="0" bIns="0" rtlCol="0" anchor="ctr"/>
          <a:lstStyle/>
          <a:p>
            <a:pPr indent="0" marL="0">
              <a:buNone/>
            </a:pPr>
            <a:r>
              <a:rPr lang="en-US" sz="1200" b="1" dirty="0">
                <a:solidFill>
                  <a:srgbClr val="FAF7F2"/>
                </a:solidFill>
                <a:latin typeface="Calibri" pitchFamily="34" charset="0"/>
                <a:ea typeface="Calibri" pitchFamily="34" charset="-122"/>
                <a:cs typeface="Calibri" pitchFamily="34" charset="-120"/>
              </a:rPr>
              <a:t>Blended weighted average across user mix (40/45/15):  </a:t>
            </a:r>
            <a:pPr indent="0" marL="0">
              <a:buNone/>
            </a:pPr>
            <a:r>
              <a:rPr lang="en-US" sz="1200" i="1" dirty="0">
                <a:solidFill>
                  <a:srgbClr val="96D35F"/>
                </a:solidFill>
                <a:latin typeface="Calibri" pitchFamily="34" charset="0"/>
                <a:ea typeface="Calibri" pitchFamily="34" charset="-122"/>
                <a:cs typeface="Calibri" pitchFamily="34" charset="-120"/>
              </a:rPr>
              <a:t>$0.21 / user-month.   Gross margin at $9.99 ARPU before payment fees: ~86%.</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BD57F2"/>
          </a:solidFill>
          <a:ln w="12700">
            <a:solidFill>
              <a:srgbClr val="BD57F2"/>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20</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BD57F2"/>
                </a:solidFill>
                <a:latin typeface="Calibri" pitchFamily="34" charset="0"/>
                <a:ea typeface="Calibri" pitchFamily="34" charset="-122"/>
                <a:cs typeface="Calibri" pitchFamily="34" charset="-120"/>
              </a:rPr>
              <a:t>19 · PRICING · EXTERNAL</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Consumer pricing — freemium, monthly, and annual with couple upgrade.</a:t>
            </a:r>
            <a:endParaRPr lang="en-US" sz="3200" dirty="0"/>
          </a:p>
        </p:txBody>
      </p:sp>
      <p:sp>
        <p:nvSpPr>
          <p:cNvPr id="9" name="Shape 7"/>
          <p:cNvSpPr/>
          <p:nvPr/>
        </p:nvSpPr>
        <p:spPr>
          <a:xfrm>
            <a:off x="548640" y="2103120"/>
            <a:ext cx="2651760" cy="4480560"/>
          </a:xfrm>
          <a:prstGeom prst="rect">
            <a:avLst/>
          </a:prstGeom>
          <a:solidFill>
            <a:srgbClr val="FFFFFF"/>
          </a:solidFill>
          <a:ln w="12700">
            <a:solidFill>
              <a:srgbClr val="E5E0D5"/>
            </a:solidFill>
            <a:prstDash val="solid"/>
          </a:ln>
        </p:spPr>
      </p:sp>
      <p:sp>
        <p:nvSpPr>
          <p:cNvPr id="10" name="Shape 8"/>
          <p:cNvSpPr/>
          <p:nvPr/>
        </p:nvSpPr>
        <p:spPr>
          <a:xfrm>
            <a:off x="548640" y="2103120"/>
            <a:ext cx="2651760" cy="109728"/>
          </a:xfrm>
          <a:prstGeom prst="rect">
            <a:avLst/>
          </a:prstGeom>
          <a:solidFill>
            <a:srgbClr val="6B6A63"/>
          </a:solidFill>
          <a:ln w="12700">
            <a:solidFill>
              <a:srgbClr val="6B6A63"/>
            </a:solidFill>
            <a:prstDash val="solid"/>
          </a:ln>
        </p:spPr>
      </p:sp>
      <p:sp>
        <p:nvSpPr>
          <p:cNvPr id="11" name="Text 9"/>
          <p:cNvSpPr/>
          <p:nvPr/>
        </p:nvSpPr>
        <p:spPr>
          <a:xfrm>
            <a:off x="731520" y="2743200"/>
            <a:ext cx="2286000" cy="411480"/>
          </a:xfrm>
          <a:prstGeom prst="rect">
            <a:avLst/>
          </a:prstGeom>
          <a:noFill/>
          <a:ln/>
        </p:spPr>
        <p:txBody>
          <a:bodyPr wrap="square" lIns="0" tIns="0" rIns="0" bIns="0" rtlCol="0" anchor="ctr"/>
          <a:lstStyle/>
          <a:p>
            <a:pPr indent="0" marL="0">
              <a:buNone/>
            </a:pPr>
            <a:r>
              <a:rPr lang="en-US" sz="1800" b="1" dirty="0">
                <a:solidFill>
                  <a:srgbClr val="1F2540"/>
                </a:solidFill>
                <a:latin typeface="Georgia" pitchFamily="34" charset="0"/>
                <a:ea typeface="Georgia" pitchFamily="34" charset="-122"/>
                <a:cs typeface="Georgia" pitchFamily="34" charset="-120"/>
              </a:rPr>
              <a:t>Free</a:t>
            </a:r>
            <a:endParaRPr lang="en-US" sz="1800" dirty="0"/>
          </a:p>
        </p:txBody>
      </p:sp>
      <p:sp>
        <p:nvSpPr>
          <p:cNvPr id="12" name="Text 10"/>
          <p:cNvSpPr/>
          <p:nvPr/>
        </p:nvSpPr>
        <p:spPr>
          <a:xfrm>
            <a:off x="731520" y="3200400"/>
            <a:ext cx="2286000" cy="640080"/>
          </a:xfrm>
          <a:prstGeom prst="rect">
            <a:avLst/>
          </a:prstGeom>
          <a:noFill/>
          <a:ln/>
        </p:spPr>
        <p:txBody>
          <a:bodyPr wrap="square" lIns="0" tIns="0" rIns="0" bIns="0" rtlCol="0" anchor="ctr"/>
          <a:lstStyle/>
          <a:p>
            <a:pPr indent="0" marL="0">
              <a:buNone/>
            </a:pPr>
            <a:r>
              <a:rPr lang="en-US" sz="3600" b="1" dirty="0">
                <a:solidFill>
                  <a:srgbClr val="6B6A63"/>
                </a:solidFill>
                <a:latin typeface="Georgia" pitchFamily="34" charset="0"/>
                <a:ea typeface="Georgia" pitchFamily="34" charset="-122"/>
                <a:cs typeface="Georgia" pitchFamily="34" charset="-120"/>
              </a:rPr>
              <a:t>$0</a:t>
            </a:r>
            <a:endParaRPr lang="en-US" sz="3600" dirty="0"/>
          </a:p>
        </p:txBody>
      </p:sp>
      <p:sp>
        <p:nvSpPr>
          <p:cNvPr id="13" name="Text 11"/>
          <p:cNvSpPr/>
          <p:nvPr/>
        </p:nvSpPr>
        <p:spPr>
          <a:xfrm>
            <a:off x="731520" y="3886200"/>
            <a:ext cx="2286000" cy="274320"/>
          </a:xfrm>
          <a:prstGeom prst="rect">
            <a:avLst/>
          </a:prstGeom>
          <a:noFill/>
          <a:ln/>
        </p:spPr>
        <p:txBody>
          <a:bodyPr wrap="square" lIns="0" tIns="0" rIns="0" bIns="0" rtlCol="0" anchor="ctr"/>
          <a:lstStyle/>
          <a:p>
            <a:pPr indent="0" marL="0">
              <a:buNone/>
            </a:pPr>
            <a:r>
              <a:rPr lang="en-US" sz="1100" i="1" dirty="0">
                <a:solidFill>
                  <a:srgbClr val="6B6A63"/>
                </a:solidFill>
                <a:latin typeface="Calibri" pitchFamily="34" charset="0"/>
                <a:ea typeface="Calibri" pitchFamily="34" charset="-122"/>
                <a:cs typeface="Calibri" pitchFamily="34" charset="-120"/>
              </a:rPr>
              <a:t>Forever</a:t>
            </a:r>
            <a:endParaRPr lang="en-US" sz="1100" dirty="0"/>
          </a:p>
        </p:txBody>
      </p:sp>
      <p:sp>
        <p:nvSpPr>
          <p:cNvPr id="14" name="Shape 12"/>
          <p:cNvSpPr/>
          <p:nvPr/>
        </p:nvSpPr>
        <p:spPr>
          <a:xfrm>
            <a:off x="777240" y="4343400"/>
            <a:ext cx="109728" cy="109728"/>
          </a:xfrm>
          <a:prstGeom prst="ellipse">
            <a:avLst/>
          </a:prstGeom>
          <a:solidFill>
            <a:srgbClr val="6B6A63"/>
          </a:solidFill>
          <a:ln w="12700">
            <a:solidFill>
              <a:srgbClr val="6B6A63"/>
            </a:solidFill>
            <a:prstDash val="solid"/>
          </a:ln>
        </p:spPr>
      </p:sp>
      <p:sp>
        <p:nvSpPr>
          <p:cNvPr id="15" name="Text 13"/>
          <p:cNvSpPr/>
          <p:nvPr/>
        </p:nvSpPr>
        <p:spPr>
          <a:xfrm>
            <a:off x="960120" y="4251960"/>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5 sessions per month</a:t>
            </a:r>
            <a:endParaRPr lang="en-US" sz="1050" dirty="0"/>
          </a:p>
        </p:txBody>
      </p:sp>
      <p:sp>
        <p:nvSpPr>
          <p:cNvPr id="16" name="Shape 14"/>
          <p:cNvSpPr/>
          <p:nvPr/>
        </p:nvSpPr>
        <p:spPr>
          <a:xfrm>
            <a:off x="777240" y="4818888"/>
            <a:ext cx="109728" cy="109728"/>
          </a:xfrm>
          <a:prstGeom prst="ellipse">
            <a:avLst/>
          </a:prstGeom>
          <a:solidFill>
            <a:srgbClr val="6B6A63"/>
          </a:solidFill>
          <a:ln w="12700">
            <a:solidFill>
              <a:srgbClr val="6B6A63"/>
            </a:solidFill>
            <a:prstDash val="solid"/>
          </a:ln>
        </p:spPr>
      </p:sp>
      <p:sp>
        <p:nvSpPr>
          <p:cNvPr id="17" name="Text 15"/>
          <p:cNvSpPr/>
          <p:nvPr/>
        </p:nvSpPr>
        <p:spPr>
          <a:xfrm>
            <a:off x="960120" y="4727448"/>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Assessments (you only)</a:t>
            </a:r>
            <a:endParaRPr lang="en-US" sz="1050" dirty="0"/>
          </a:p>
        </p:txBody>
      </p:sp>
      <p:sp>
        <p:nvSpPr>
          <p:cNvPr id="18" name="Shape 16"/>
          <p:cNvSpPr/>
          <p:nvPr/>
        </p:nvSpPr>
        <p:spPr>
          <a:xfrm>
            <a:off x="777240" y="5294376"/>
            <a:ext cx="109728" cy="109728"/>
          </a:xfrm>
          <a:prstGeom prst="ellipse">
            <a:avLst/>
          </a:prstGeom>
          <a:solidFill>
            <a:srgbClr val="6B6A63"/>
          </a:solidFill>
          <a:ln w="12700">
            <a:solidFill>
              <a:srgbClr val="6B6A63"/>
            </a:solidFill>
            <a:prstDash val="solid"/>
          </a:ln>
        </p:spPr>
      </p:sp>
      <p:sp>
        <p:nvSpPr>
          <p:cNvPr id="19" name="Text 17"/>
          <p:cNvSpPr/>
          <p:nvPr/>
        </p:nvSpPr>
        <p:spPr>
          <a:xfrm>
            <a:off x="960120" y="5202936"/>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No partner linking</a:t>
            </a:r>
            <a:endParaRPr lang="en-US" sz="1050" dirty="0"/>
          </a:p>
        </p:txBody>
      </p:sp>
      <p:sp>
        <p:nvSpPr>
          <p:cNvPr id="20" name="Shape 18"/>
          <p:cNvSpPr/>
          <p:nvPr/>
        </p:nvSpPr>
        <p:spPr>
          <a:xfrm>
            <a:off x="777240" y="5769864"/>
            <a:ext cx="109728" cy="109728"/>
          </a:xfrm>
          <a:prstGeom prst="ellipse">
            <a:avLst/>
          </a:prstGeom>
          <a:solidFill>
            <a:srgbClr val="6B6A63"/>
          </a:solidFill>
          <a:ln w="12700">
            <a:solidFill>
              <a:srgbClr val="6B6A63"/>
            </a:solidFill>
            <a:prstDash val="solid"/>
          </a:ln>
        </p:spPr>
      </p:sp>
      <p:sp>
        <p:nvSpPr>
          <p:cNvPr id="21" name="Text 19"/>
          <p:cNvSpPr/>
          <p:nvPr/>
        </p:nvSpPr>
        <p:spPr>
          <a:xfrm>
            <a:off x="960120" y="5678424"/>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Tools library (limited)</a:t>
            </a:r>
            <a:endParaRPr lang="en-US" sz="1050" dirty="0"/>
          </a:p>
        </p:txBody>
      </p:sp>
      <p:sp>
        <p:nvSpPr>
          <p:cNvPr id="22" name="Shape 20"/>
          <p:cNvSpPr/>
          <p:nvPr/>
        </p:nvSpPr>
        <p:spPr>
          <a:xfrm>
            <a:off x="3383280" y="2103120"/>
            <a:ext cx="2651760" cy="4480560"/>
          </a:xfrm>
          <a:prstGeom prst="rect">
            <a:avLst/>
          </a:prstGeom>
          <a:solidFill>
            <a:srgbClr val="FFFFFF"/>
          </a:solidFill>
          <a:ln w="12700">
            <a:solidFill>
              <a:srgbClr val="E5E0D5"/>
            </a:solidFill>
            <a:prstDash val="solid"/>
          </a:ln>
        </p:spPr>
      </p:sp>
      <p:sp>
        <p:nvSpPr>
          <p:cNvPr id="23" name="Shape 21"/>
          <p:cNvSpPr/>
          <p:nvPr/>
        </p:nvSpPr>
        <p:spPr>
          <a:xfrm>
            <a:off x="3383280" y="2103120"/>
            <a:ext cx="2651760" cy="109728"/>
          </a:xfrm>
          <a:prstGeom prst="rect">
            <a:avLst/>
          </a:prstGeom>
          <a:solidFill>
            <a:srgbClr val="92A6F4"/>
          </a:solidFill>
          <a:ln w="12700">
            <a:solidFill>
              <a:srgbClr val="92A6F4"/>
            </a:solidFill>
            <a:prstDash val="solid"/>
          </a:ln>
        </p:spPr>
      </p:sp>
      <p:sp>
        <p:nvSpPr>
          <p:cNvPr id="24" name="Text 22"/>
          <p:cNvSpPr/>
          <p:nvPr/>
        </p:nvSpPr>
        <p:spPr>
          <a:xfrm>
            <a:off x="3566160" y="2743200"/>
            <a:ext cx="2286000" cy="411480"/>
          </a:xfrm>
          <a:prstGeom prst="rect">
            <a:avLst/>
          </a:prstGeom>
          <a:noFill/>
          <a:ln/>
        </p:spPr>
        <p:txBody>
          <a:bodyPr wrap="square" lIns="0" tIns="0" rIns="0" bIns="0" rtlCol="0" anchor="ctr"/>
          <a:lstStyle/>
          <a:p>
            <a:pPr indent="0" marL="0">
              <a:buNone/>
            </a:pPr>
            <a:r>
              <a:rPr lang="en-US" sz="1800" b="1" dirty="0">
                <a:solidFill>
                  <a:srgbClr val="1F2540"/>
                </a:solidFill>
                <a:latin typeface="Georgia" pitchFamily="34" charset="0"/>
                <a:ea typeface="Georgia" pitchFamily="34" charset="-122"/>
                <a:cs typeface="Georgia" pitchFamily="34" charset="-120"/>
              </a:rPr>
              <a:t>Premium</a:t>
            </a:r>
            <a:endParaRPr lang="en-US" sz="1800" dirty="0"/>
          </a:p>
        </p:txBody>
      </p:sp>
      <p:sp>
        <p:nvSpPr>
          <p:cNvPr id="25" name="Text 23"/>
          <p:cNvSpPr/>
          <p:nvPr/>
        </p:nvSpPr>
        <p:spPr>
          <a:xfrm>
            <a:off x="3566160" y="3200400"/>
            <a:ext cx="2286000" cy="640080"/>
          </a:xfrm>
          <a:prstGeom prst="rect">
            <a:avLst/>
          </a:prstGeom>
          <a:noFill/>
          <a:ln/>
        </p:spPr>
        <p:txBody>
          <a:bodyPr wrap="square" lIns="0" tIns="0" rIns="0" bIns="0" rtlCol="0" anchor="ctr"/>
          <a:lstStyle/>
          <a:p>
            <a:pPr indent="0" marL="0">
              <a:buNone/>
            </a:pPr>
            <a:r>
              <a:rPr lang="en-US" sz="3600" b="1" dirty="0">
                <a:solidFill>
                  <a:srgbClr val="92A6F4"/>
                </a:solidFill>
                <a:latin typeface="Georgia" pitchFamily="34" charset="0"/>
                <a:ea typeface="Georgia" pitchFamily="34" charset="-122"/>
                <a:cs typeface="Georgia" pitchFamily="34" charset="-120"/>
              </a:rPr>
              <a:t>$9.99</a:t>
            </a:r>
            <a:endParaRPr lang="en-US" sz="3600" dirty="0"/>
          </a:p>
        </p:txBody>
      </p:sp>
      <p:sp>
        <p:nvSpPr>
          <p:cNvPr id="26" name="Text 24"/>
          <p:cNvSpPr/>
          <p:nvPr/>
        </p:nvSpPr>
        <p:spPr>
          <a:xfrm>
            <a:off x="3566160" y="3886200"/>
            <a:ext cx="2286000" cy="274320"/>
          </a:xfrm>
          <a:prstGeom prst="rect">
            <a:avLst/>
          </a:prstGeom>
          <a:noFill/>
          <a:ln/>
        </p:spPr>
        <p:txBody>
          <a:bodyPr wrap="square" lIns="0" tIns="0" rIns="0" bIns="0" rtlCol="0" anchor="ctr"/>
          <a:lstStyle/>
          <a:p>
            <a:pPr indent="0" marL="0">
              <a:buNone/>
            </a:pPr>
            <a:r>
              <a:rPr lang="en-US" sz="1100" i="1" dirty="0">
                <a:solidFill>
                  <a:srgbClr val="6B6A63"/>
                </a:solidFill>
                <a:latin typeface="Calibri" pitchFamily="34" charset="0"/>
                <a:ea typeface="Calibri" pitchFamily="34" charset="-122"/>
                <a:cs typeface="Calibri" pitchFamily="34" charset="-120"/>
              </a:rPr>
              <a:t>/ month</a:t>
            </a:r>
            <a:endParaRPr lang="en-US" sz="1100" dirty="0"/>
          </a:p>
        </p:txBody>
      </p:sp>
      <p:sp>
        <p:nvSpPr>
          <p:cNvPr id="27" name="Shape 25"/>
          <p:cNvSpPr/>
          <p:nvPr/>
        </p:nvSpPr>
        <p:spPr>
          <a:xfrm>
            <a:off x="3611880" y="4343400"/>
            <a:ext cx="109728" cy="109728"/>
          </a:xfrm>
          <a:prstGeom prst="ellipse">
            <a:avLst/>
          </a:prstGeom>
          <a:solidFill>
            <a:srgbClr val="92A6F4"/>
          </a:solidFill>
          <a:ln w="12700">
            <a:solidFill>
              <a:srgbClr val="92A6F4"/>
            </a:solidFill>
            <a:prstDash val="solid"/>
          </a:ln>
        </p:spPr>
      </p:sp>
      <p:sp>
        <p:nvSpPr>
          <p:cNvPr id="28" name="Text 26"/>
          <p:cNvSpPr/>
          <p:nvPr/>
        </p:nvSpPr>
        <p:spPr>
          <a:xfrm>
            <a:off x="3794760" y="4251960"/>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Unlimited sessions</a:t>
            </a:r>
            <a:endParaRPr lang="en-US" sz="1050" dirty="0"/>
          </a:p>
        </p:txBody>
      </p:sp>
      <p:sp>
        <p:nvSpPr>
          <p:cNvPr id="29" name="Shape 27"/>
          <p:cNvSpPr/>
          <p:nvPr/>
        </p:nvSpPr>
        <p:spPr>
          <a:xfrm>
            <a:off x="3611880" y="4818888"/>
            <a:ext cx="109728" cy="109728"/>
          </a:xfrm>
          <a:prstGeom prst="ellipse">
            <a:avLst/>
          </a:prstGeom>
          <a:solidFill>
            <a:srgbClr val="92A6F4"/>
          </a:solidFill>
          <a:ln w="12700">
            <a:solidFill>
              <a:srgbClr val="92A6F4"/>
            </a:solidFill>
            <a:prstDash val="solid"/>
          </a:ln>
        </p:spPr>
      </p:sp>
      <p:sp>
        <p:nvSpPr>
          <p:cNvPr id="30" name="Text 28"/>
          <p:cNvSpPr/>
          <p:nvPr/>
        </p:nvSpPr>
        <p:spPr>
          <a:xfrm>
            <a:off x="3794760" y="4727448"/>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Full assessment suite</a:t>
            </a:r>
            <a:endParaRPr lang="en-US" sz="1050" dirty="0"/>
          </a:p>
        </p:txBody>
      </p:sp>
      <p:sp>
        <p:nvSpPr>
          <p:cNvPr id="31" name="Shape 29"/>
          <p:cNvSpPr/>
          <p:nvPr/>
        </p:nvSpPr>
        <p:spPr>
          <a:xfrm>
            <a:off x="3611880" y="5294376"/>
            <a:ext cx="109728" cy="109728"/>
          </a:xfrm>
          <a:prstGeom prst="ellipse">
            <a:avLst/>
          </a:prstGeom>
          <a:solidFill>
            <a:srgbClr val="92A6F4"/>
          </a:solidFill>
          <a:ln w="12700">
            <a:solidFill>
              <a:srgbClr val="92A6F4"/>
            </a:solidFill>
            <a:prstDash val="solid"/>
          </a:ln>
        </p:spPr>
      </p:sp>
      <p:sp>
        <p:nvSpPr>
          <p:cNvPr id="32" name="Text 30"/>
          <p:cNvSpPr/>
          <p:nvPr/>
        </p:nvSpPr>
        <p:spPr>
          <a:xfrm>
            <a:off x="3794760" y="5202936"/>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Partner linking</a:t>
            </a:r>
            <a:endParaRPr lang="en-US" sz="1050" dirty="0"/>
          </a:p>
        </p:txBody>
      </p:sp>
      <p:sp>
        <p:nvSpPr>
          <p:cNvPr id="33" name="Shape 31"/>
          <p:cNvSpPr/>
          <p:nvPr/>
        </p:nvSpPr>
        <p:spPr>
          <a:xfrm>
            <a:off x="3611880" y="5769864"/>
            <a:ext cx="109728" cy="109728"/>
          </a:xfrm>
          <a:prstGeom prst="ellipse">
            <a:avLst/>
          </a:prstGeom>
          <a:solidFill>
            <a:srgbClr val="92A6F4"/>
          </a:solidFill>
          <a:ln w="12700">
            <a:solidFill>
              <a:srgbClr val="92A6F4"/>
            </a:solidFill>
            <a:prstDash val="solid"/>
          </a:ln>
        </p:spPr>
      </p:sp>
      <p:sp>
        <p:nvSpPr>
          <p:cNvPr id="34" name="Text 32"/>
          <p:cNvSpPr/>
          <p:nvPr/>
        </p:nvSpPr>
        <p:spPr>
          <a:xfrm>
            <a:off x="3794760" y="5678424"/>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Full tools + memory</a:t>
            </a:r>
            <a:endParaRPr lang="en-US" sz="1050" dirty="0"/>
          </a:p>
        </p:txBody>
      </p:sp>
      <p:sp>
        <p:nvSpPr>
          <p:cNvPr id="35" name="Shape 33"/>
          <p:cNvSpPr/>
          <p:nvPr/>
        </p:nvSpPr>
        <p:spPr>
          <a:xfrm>
            <a:off x="6217920" y="2103120"/>
            <a:ext cx="2651760" cy="4480560"/>
          </a:xfrm>
          <a:prstGeom prst="rect">
            <a:avLst/>
          </a:prstGeom>
          <a:solidFill>
            <a:srgbClr val="FFFFFF"/>
          </a:solidFill>
          <a:ln w="12700">
            <a:solidFill>
              <a:srgbClr val="E5E0D5"/>
            </a:solidFill>
            <a:prstDash val="solid"/>
          </a:ln>
        </p:spPr>
      </p:sp>
      <p:sp>
        <p:nvSpPr>
          <p:cNvPr id="36" name="Shape 34"/>
          <p:cNvSpPr/>
          <p:nvPr/>
        </p:nvSpPr>
        <p:spPr>
          <a:xfrm>
            <a:off x="6217920" y="2103120"/>
            <a:ext cx="2651760" cy="109728"/>
          </a:xfrm>
          <a:prstGeom prst="rect">
            <a:avLst/>
          </a:prstGeom>
          <a:solidFill>
            <a:srgbClr val="96D35F"/>
          </a:solidFill>
          <a:ln w="12700">
            <a:solidFill>
              <a:srgbClr val="96D35F"/>
            </a:solidFill>
            <a:prstDash val="solid"/>
          </a:ln>
        </p:spPr>
      </p:sp>
      <p:sp>
        <p:nvSpPr>
          <p:cNvPr id="37" name="Shape 35"/>
          <p:cNvSpPr/>
          <p:nvPr/>
        </p:nvSpPr>
        <p:spPr>
          <a:xfrm>
            <a:off x="6492240" y="2331720"/>
            <a:ext cx="2103120" cy="256032"/>
          </a:xfrm>
          <a:prstGeom prst="rect">
            <a:avLst/>
          </a:prstGeom>
          <a:solidFill>
            <a:srgbClr val="96D35F"/>
          </a:solidFill>
          <a:ln w="12700">
            <a:solidFill>
              <a:srgbClr val="96D35F"/>
            </a:solidFill>
            <a:prstDash val="solid"/>
          </a:ln>
        </p:spPr>
      </p:sp>
      <p:sp>
        <p:nvSpPr>
          <p:cNvPr id="38" name="Text 36"/>
          <p:cNvSpPr/>
          <p:nvPr/>
        </p:nvSpPr>
        <p:spPr>
          <a:xfrm>
            <a:off x="6492240" y="2331720"/>
            <a:ext cx="2103120" cy="256032"/>
          </a:xfrm>
          <a:prstGeom prst="rect">
            <a:avLst/>
          </a:prstGeom>
          <a:noFill/>
          <a:ln/>
        </p:spPr>
        <p:txBody>
          <a:bodyPr wrap="square" lIns="0" tIns="0" rIns="0" bIns="0" rtlCol="0" anchor="ctr"/>
          <a:lstStyle/>
          <a:p>
            <a:pPr algn="ctr" indent="0" marL="0">
              <a:buNone/>
            </a:pPr>
            <a:r>
              <a:rPr lang="en-US" sz="850" b="1" spc="300" kern="0" dirty="0">
                <a:solidFill>
                  <a:srgbClr val="FFFFFF"/>
                </a:solidFill>
                <a:latin typeface="Calibri" pitchFamily="34" charset="0"/>
                <a:ea typeface="Calibri" pitchFamily="34" charset="-122"/>
                <a:cs typeface="Calibri" pitchFamily="34" charset="-120"/>
              </a:rPr>
              <a:t>BEST VALUE</a:t>
            </a:r>
            <a:endParaRPr lang="en-US" sz="850" dirty="0"/>
          </a:p>
        </p:txBody>
      </p:sp>
      <p:sp>
        <p:nvSpPr>
          <p:cNvPr id="39" name="Text 37"/>
          <p:cNvSpPr/>
          <p:nvPr/>
        </p:nvSpPr>
        <p:spPr>
          <a:xfrm>
            <a:off x="6400800" y="2743200"/>
            <a:ext cx="2286000" cy="411480"/>
          </a:xfrm>
          <a:prstGeom prst="rect">
            <a:avLst/>
          </a:prstGeom>
          <a:noFill/>
          <a:ln/>
        </p:spPr>
        <p:txBody>
          <a:bodyPr wrap="square" lIns="0" tIns="0" rIns="0" bIns="0" rtlCol="0" anchor="ctr"/>
          <a:lstStyle/>
          <a:p>
            <a:pPr indent="0" marL="0">
              <a:buNone/>
            </a:pPr>
            <a:r>
              <a:rPr lang="en-US" sz="1800" b="1" dirty="0">
                <a:solidFill>
                  <a:srgbClr val="1F2540"/>
                </a:solidFill>
                <a:latin typeface="Georgia" pitchFamily="34" charset="0"/>
                <a:ea typeface="Georgia" pitchFamily="34" charset="-122"/>
                <a:cs typeface="Georgia" pitchFamily="34" charset="-120"/>
              </a:rPr>
              <a:t>Premium Annual</a:t>
            </a:r>
            <a:endParaRPr lang="en-US" sz="1800" dirty="0"/>
          </a:p>
        </p:txBody>
      </p:sp>
      <p:sp>
        <p:nvSpPr>
          <p:cNvPr id="40" name="Text 38"/>
          <p:cNvSpPr/>
          <p:nvPr/>
        </p:nvSpPr>
        <p:spPr>
          <a:xfrm>
            <a:off x="6400800" y="3200400"/>
            <a:ext cx="2286000" cy="640080"/>
          </a:xfrm>
          <a:prstGeom prst="rect">
            <a:avLst/>
          </a:prstGeom>
          <a:noFill/>
          <a:ln/>
        </p:spPr>
        <p:txBody>
          <a:bodyPr wrap="square" lIns="0" tIns="0" rIns="0" bIns="0" rtlCol="0" anchor="ctr"/>
          <a:lstStyle/>
          <a:p>
            <a:pPr indent="0" marL="0">
              <a:buNone/>
            </a:pPr>
            <a:r>
              <a:rPr lang="en-US" sz="3600" b="1" dirty="0">
                <a:solidFill>
                  <a:srgbClr val="96D35F"/>
                </a:solidFill>
                <a:latin typeface="Georgia" pitchFamily="34" charset="0"/>
                <a:ea typeface="Georgia" pitchFamily="34" charset="-122"/>
                <a:cs typeface="Georgia" pitchFamily="34" charset="-120"/>
              </a:rPr>
              <a:t>$79</a:t>
            </a:r>
            <a:endParaRPr lang="en-US" sz="3600" dirty="0"/>
          </a:p>
        </p:txBody>
      </p:sp>
      <p:sp>
        <p:nvSpPr>
          <p:cNvPr id="41" name="Text 39"/>
          <p:cNvSpPr/>
          <p:nvPr/>
        </p:nvSpPr>
        <p:spPr>
          <a:xfrm>
            <a:off x="6400800" y="3886200"/>
            <a:ext cx="2286000" cy="274320"/>
          </a:xfrm>
          <a:prstGeom prst="rect">
            <a:avLst/>
          </a:prstGeom>
          <a:noFill/>
          <a:ln/>
        </p:spPr>
        <p:txBody>
          <a:bodyPr wrap="square" lIns="0" tIns="0" rIns="0" bIns="0" rtlCol="0" anchor="ctr"/>
          <a:lstStyle/>
          <a:p>
            <a:pPr indent="0" marL="0">
              <a:buNone/>
            </a:pPr>
            <a:r>
              <a:rPr lang="en-US" sz="1100" i="1" dirty="0">
                <a:solidFill>
                  <a:srgbClr val="6B6A63"/>
                </a:solidFill>
                <a:latin typeface="Calibri" pitchFamily="34" charset="0"/>
                <a:ea typeface="Calibri" pitchFamily="34" charset="-122"/>
                <a:cs typeface="Calibri" pitchFamily="34" charset="-120"/>
              </a:rPr>
              <a:t>/ year</a:t>
            </a:r>
            <a:endParaRPr lang="en-US" sz="1100" dirty="0"/>
          </a:p>
        </p:txBody>
      </p:sp>
      <p:sp>
        <p:nvSpPr>
          <p:cNvPr id="42" name="Shape 40"/>
          <p:cNvSpPr/>
          <p:nvPr/>
        </p:nvSpPr>
        <p:spPr>
          <a:xfrm>
            <a:off x="6446520" y="4343400"/>
            <a:ext cx="109728" cy="109728"/>
          </a:xfrm>
          <a:prstGeom prst="ellipse">
            <a:avLst/>
          </a:prstGeom>
          <a:solidFill>
            <a:srgbClr val="96D35F"/>
          </a:solidFill>
          <a:ln w="12700">
            <a:solidFill>
              <a:srgbClr val="96D35F"/>
            </a:solidFill>
            <a:prstDash val="solid"/>
          </a:ln>
        </p:spPr>
      </p:sp>
      <p:sp>
        <p:nvSpPr>
          <p:cNvPr id="43" name="Text 41"/>
          <p:cNvSpPr/>
          <p:nvPr/>
        </p:nvSpPr>
        <p:spPr>
          <a:xfrm>
            <a:off x="6629400" y="4251960"/>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Everything in Premium</a:t>
            </a:r>
            <a:endParaRPr lang="en-US" sz="1050" dirty="0"/>
          </a:p>
        </p:txBody>
      </p:sp>
      <p:sp>
        <p:nvSpPr>
          <p:cNvPr id="44" name="Shape 42"/>
          <p:cNvSpPr/>
          <p:nvPr/>
        </p:nvSpPr>
        <p:spPr>
          <a:xfrm>
            <a:off x="6446520" y="4818888"/>
            <a:ext cx="109728" cy="109728"/>
          </a:xfrm>
          <a:prstGeom prst="ellipse">
            <a:avLst/>
          </a:prstGeom>
          <a:solidFill>
            <a:srgbClr val="96D35F"/>
          </a:solidFill>
          <a:ln w="12700">
            <a:solidFill>
              <a:srgbClr val="96D35F"/>
            </a:solidFill>
            <a:prstDash val="solid"/>
          </a:ln>
        </p:spPr>
      </p:sp>
      <p:sp>
        <p:nvSpPr>
          <p:cNvPr id="45" name="Text 43"/>
          <p:cNvSpPr/>
          <p:nvPr/>
        </p:nvSpPr>
        <p:spPr>
          <a:xfrm>
            <a:off x="6629400" y="4727448"/>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Save 34%</a:t>
            </a:r>
            <a:endParaRPr lang="en-US" sz="1050" dirty="0"/>
          </a:p>
        </p:txBody>
      </p:sp>
      <p:sp>
        <p:nvSpPr>
          <p:cNvPr id="46" name="Shape 44"/>
          <p:cNvSpPr/>
          <p:nvPr/>
        </p:nvSpPr>
        <p:spPr>
          <a:xfrm>
            <a:off x="6446520" y="5294376"/>
            <a:ext cx="109728" cy="109728"/>
          </a:xfrm>
          <a:prstGeom prst="ellipse">
            <a:avLst/>
          </a:prstGeom>
          <a:solidFill>
            <a:srgbClr val="96D35F"/>
          </a:solidFill>
          <a:ln w="12700">
            <a:solidFill>
              <a:srgbClr val="96D35F"/>
            </a:solidFill>
            <a:prstDash val="solid"/>
          </a:ln>
        </p:spPr>
      </p:sp>
      <p:sp>
        <p:nvSpPr>
          <p:cNvPr id="47" name="Text 45"/>
          <p:cNvSpPr/>
          <p:nvPr/>
        </p:nvSpPr>
        <p:spPr>
          <a:xfrm>
            <a:off x="6629400" y="5202936"/>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Priority model access</a:t>
            </a:r>
            <a:endParaRPr lang="en-US" sz="1050" dirty="0"/>
          </a:p>
        </p:txBody>
      </p:sp>
      <p:sp>
        <p:nvSpPr>
          <p:cNvPr id="48" name="Shape 46"/>
          <p:cNvSpPr/>
          <p:nvPr/>
        </p:nvSpPr>
        <p:spPr>
          <a:xfrm>
            <a:off x="6446520" y="5769864"/>
            <a:ext cx="109728" cy="109728"/>
          </a:xfrm>
          <a:prstGeom prst="ellipse">
            <a:avLst/>
          </a:prstGeom>
          <a:solidFill>
            <a:srgbClr val="96D35F"/>
          </a:solidFill>
          <a:ln w="12700">
            <a:solidFill>
              <a:srgbClr val="96D35F"/>
            </a:solidFill>
            <a:prstDash val="solid"/>
          </a:ln>
        </p:spPr>
      </p:sp>
      <p:sp>
        <p:nvSpPr>
          <p:cNvPr id="49" name="Text 47"/>
          <p:cNvSpPr/>
          <p:nvPr/>
        </p:nvSpPr>
        <p:spPr>
          <a:xfrm>
            <a:off x="6629400" y="5678424"/>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Export + archives</a:t>
            </a:r>
            <a:endParaRPr lang="en-US" sz="1050" dirty="0"/>
          </a:p>
        </p:txBody>
      </p:sp>
      <p:sp>
        <p:nvSpPr>
          <p:cNvPr id="50" name="Shape 48"/>
          <p:cNvSpPr/>
          <p:nvPr/>
        </p:nvSpPr>
        <p:spPr>
          <a:xfrm>
            <a:off x="9052560" y="2103120"/>
            <a:ext cx="2651760" cy="4480560"/>
          </a:xfrm>
          <a:prstGeom prst="rect">
            <a:avLst/>
          </a:prstGeom>
          <a:solidFill>
            <a:srgbClr val="FFFFFF"/>
          </a:solidFill>
          <a:ln w="12700">
            <a:solidFill>
              <a:srgbClr val="E5E0D5"/>
            </a:solidFill>
            <a:prstDash val="solid"/>
          </a:ln>
        </p:spPr>
      </p:sp>
      <p:sp>
        <p:nvSpPr>
          <p:cNvPr id="51" name="Shape 49"/>
          <p:cNvSpPr/>
          <p:nvPr/>
        </p:nvSpPr>
        <p:spPr>
          <a:xfrm>
            <a:off x="9052560" y="2103120"/>
            <a:ext cx="2651760" cy="109728"/>
          </a:xfrm>
          <a:prstGeom prst="rect">
            <a:avLst/>
          </a:prstGeom>
          <a:solidFill>
            <a:srgbClr val="BD57F2"/>
          </a:solidFill>
          <a:ln w="12700">
            <a:solidFill>
              <a:srgbClr val="BD57F2"/>
            </a:solidFill>
            <a:prstDash val="solid"/>
          </a:ln>
        </p:spPr>
      </p:sp>
      <p:sp>
        <p:nvSpPr>
          <p:cNvPr id="52" name="Shape 50"/>
          <p:cNvSpPr/>
          <p:nvPr/>
        </p:nvSpPr>
        <p:spPr>
          <a:xfrm>
            <a:off x="9326880" y="2331720"/>
            <a:ext cx="2103120" cy="256032"/>
          </a:xfrm>
          <a:prstGeom prst="rect">
            <a:avLst/>
          </a:prstGeom>
          <a:solidFill>
            <a:srgbClr val="BD57F2"/>
          </a:solidFill>
          <a:ln w="12700">
            <a:solidFill>
              <a:srgbClr val="BD57F2"/>
            </a:solidFill>
            <a:prstDash val="solid"/>
          </a:ln>
        </p:spPr>
      </p:sp>
      <p:sp>
        <p:nvSpPr>
          <p:cNvPr id="53" name="Text 51"/>
          <p:cNvSpPr/>
          <p:nvPr/>
        </p:nvSpPr>
        <p:spPr>
          <a:xfrm>
            <a:off x="9326880" y="2331720"/>
            <a:ext cx="2103120" cy="256032"/>
          </a:xfrm>
          <a:prstGeom prst="rect">
            <a:avLst/>
          </a:prstGeom>
          <a:noFill/>
          <a:ln/>
        </p:spPr>
        <p:txBody>
          <a:bodyPr wrap="square" lIns="0" tIns="0" rIns="0" bIns="0" rtlCol="0" anchor="ctr"/>
          <a:lstStyle/>
          <a:p>
            <a:pPr algn="ctr" indent="0" marL="0">
              <a:buNone/>
            </a:pPr>
            <a:r>
              <a:rPr lang="en-US" sz="850" b="1" spc="300" kern="0" dirty="0">
                <a:solidFill>
                  <a:srgbClr val="FFFFFF"/>
                </a:solidFill>
                <a:latin typeface="Calibri" pitchFamily="34" charset="0"/>
                <a:ea typeface="Calibri" pitchFamily="34" charset="-122"/>
                <a:cs typeface="Calibri" pitchFamily="34" charset="-120"/>
              </a:rPr>
              <a:t>HIGHEST LTV</a:t>
            </a:r>
            <a:endParaRPr lang="en-US" sz="850" dirty="0"/>
          </a:p>
        </p:txBody>
      </p:sp>
      <p:sp>
        <p:nvSpPr>
          <p:cNvPr id="54" name="Text 52"/>
          <p:cNvSpPr/>
          <p:nvPr/>
        </p:nvSpPr>
        <p:spPr>
          <a:xfrm>
            <a:off x="9235440" y="2743200"/>
            <a:ext cx="2286000" cy="411480"/>
          </a:xfrm>
          <a:prstGeom prst="rect">
            <a:avLst/>
          </a:prstGeom>
          <a:noFill/>
          <a:ln/>
        </p:spPr>
        <p:txBody>
          <a:bodyPr wrap="square" lIns="0" tIns="0" rIns="0" bIns="0" rtlCol="0" anchor="ctr"/>
          <a:lstStyle/>
          <a:p>
            <a:pPr indent="0" marL="0">
              <a:buNone/>
            </a:pPr>
            <a:r>
              <a:rPr lang="en-US" sz="1800" b="1" dirty="0">
                <a:solidFill>
                  <a:srgbClr val="1F2540"/>
                </a:solidFill>
                <a:latin typeface="Georgia" pitchFamily="34" charset="0"/>
                <a:ea typeface="Georgia" pitchFamily="34" charset="-122"/>
                <a:cs typeface="Georgia" pitchFamily="34" charset="-120"/>
              </a:rPr>
              <a:t>Couple Plan</a:t>
            </a:r>
            <a:endParaRPr lang="en-US" sz="1800" dirty="0"/>
          </a:p>
        </p:txBody>
      </p:sp>
      <p:sp>
        <p:nvSpPr>
          <p:cNvPr id="55" name="Text 53"/>
          <p:cNvSpPr/>
          <p:nvPr/>
        </p:nvSpPr>
        <p:spPr>
          <a:xfrm>
            <a:off x="9235440" y="3200400"/>
            <a:ext cx="2286000" cy="640080"/>
          </a:xfrm>
          <a:prstGeom prst="rect">
            <a:avLst/>
          </a:prstGeom>
          <a:noFill/>
          <a:ln/>
        </p:spPr>
        <p:txBody>
          <a:bodyPr wrap="square" lIns="0" tIns="0" rIns="0" bIns="0" rtlCol="0" anchor="ctr"/>
          <a:lstStyle/>
          <a:p>
            <a:pPr indent="0" marL="0">
              <a:buNone/>
            </a:pPr>
            <a:r>
              <a:rPr lang="en-US" sz="3600" b="1" dirty="0">
                <a:solidFill>
                  <a:srgbClr val="BD57F2"/>
                </a:solidFill>
                <a:latin typeface="Georgia" pitchFamily="34" charset="0"/>
                <a:ea typeface="Georgia" pitchFamily="34" charset="-122"/>
                <a:cs typeface="Georgia" pitchFamily="34" charset="-120"/>
              </a:rPr>
              <a:t>$129</a:t>
            </a:r>
            <a:endParaRPr lang="en-US" sz="3600" dirty="0"/>
          </a:p>
        </p:txBody>
      </p:sp>
      <p:sp>
        <p:nvSpPr>
          <p:cNvPr id="56" name="Text 54"/>
          <p:cNvSpPr/>
          <p:nvPr/>
        </p:nvSpPr>
        <p:spPr>
          <a:xfrm>
            <a:off x="9235440" y="3886200"/>
            <a:ext cx="2286000" cy="274320"/>
          </a:xfrm>
          <a:prstGeom prst="rect">
            <a:avLst/>
          </a:prstGeom>
          <a:noFill/>
          <a:ln/>
        </p:spPr>
        <p:txBody>
          <a:bodyPr wrap="square" lIns="0" tIns="0" rIns="0" bIns="0" rtlCol="0" anchor="ctr"/>
          <a:lstStyle/>
          <a:p>
            <a:pPr indent="0" marL="0">
              <a:buNone/>
            </a:pPr>
            <a:r>
              <a:rPr lang="en-US" sz="1100" i="1" dirty="0">
                <a:solidFill>
                  <a:srgbClr val="6B6A63"/>
                </a:solidFill>
                <a:latin typeface="Calibri" pitchFamily="34" charset="0"/>
                <a:ea typeface="Calibri" pitchFamily="34" charset="-122"/>
                <a:cs typeface="Calibri" pitchFamily="34" charset="-120"/>
              </a:rPr>
              <a:t>/ year · 2 seats</a:t>
            </a:r>
            <a:endParaRPr lang="en-US" sz="1100" dirty="0"/>
          </a:p>
        </p:txBody>
      </p:sp>
      <p:sp>
        <p:nvSpPr>
          <p:cNvPr id="57" name="Shape 55"/>
          <p:cNvSpPr/>
          <p:nvPr/>
        </p:nvSpPr>
        <p:spPr>
          <a:xfrm>
            <a:off x="9281160" y="4343400"/>
            <a:ext cx="109728" cy="109728"/>
          </a:xfrm>
          <a:prstGeom prst="ellipse">
            <a:avLst/>
          </a:prstGeom>
          <a:solidFill>
            <a:srgbClr val="BD57F2"/>
          </a:solidFill>
          <a:ln w="12700">
            <a:solidFill>
              <a:srgbClr val="BD57F2"/>
            </a:solidFill>
            <a:prstDash val="solid"/>
          </a:ln>
        </p:spPr>
      </p:sp>
      <p:sp>
        <p:nvSpPr>
          <p:cNvPr id="58" name="Text 56"/>
          <p:cNvSpPr/>
          <p:nvPr/>
        </p:nvSpPr>
        <p:spPr>
          <a:xfrm>
            <a:off x="9464040" y="4251960"/>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Two premium seats</a:t>
            </a:r>
            <a:endParaRPr lang="en-US" sz="1050" dirty="0"/>
          </a:p>
        </p:txBody>
      </p:sp>
      <p:sp>
        <p:nvSpPr>
          <p:cNvPr id="59" name="Shape 57"/>
          <p:cNvSpPr/>
          <p:nvPr/>
        </p:nvSpPr>
        <p:spPr>
          <a:xfrm>
            <a:off x="9281160" y="4818888"/>
            <a:ext cx="109728" cy="109728"/>
          </a:xfrm>
          <a:prstGeom prst="ellipse">
            <a:avLst/>
          </a:prstGeom>
          <a:solidFill>
            <a:srgbClr val="BD57F2"/>
          </a:solidFill>
          <a:ln w="12700">
            <a:solidFill>
              <a:srgbClr val="BD57F2"/>
            </a:solidFill>
            <a:prstDash val="solid"/>
          </a:ln>
        </p:spPr>
      </p:sp>
      <p:sp>
        <p:nvSpPr>
          <p:cNvPr id="60" name="Text 58"/>
          <p:cNvSpPr/>
          <p:nvPr/>
        </p:nvSpPr>
        <p:spPr>
          <a:xfrm>
            <a:off x="9464040" y="4727448"/>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Shared Learnings → Together</a:t>
            </a:r>
            <a:endParaRPr lang="en-US" sz="1050" dirty="0"/>
          </a:p>
        </p:txBody>
      </p:sp>
      <p:sp>
        <p:nvSpPr>
          <p:cNvPr id="61" name="Shape 59"/>
          <p:cNvSpPr/>
          <p:nvPr/>
        </p:nvSpPr>
        <p:spPr>
          <a:xfrm>
            <a:off x="9281160" y="5294376"/>
            <a:ext cx="109728" cy="109728"/>
          </a:xfrm>
          <a:prstGeom prst="ellipse">
            <a:avLst/>
          </a:prstGeom>
          <a:solidFill>
            <a:srgbClr val="BD57F2"/>
          </a:solidFill>
          <a:ln w="12700">
            <a:solidFill>
              <a:srgbClr val="BD57F2"/>
            </a:solidFill>
            <a:prstDash val="solid"/>
          </a:ln>
        </p:spPr>
      </p:sp>
      <p:sp>
        <p:nvSpPr>
          <p:cNvPr id="62" name="Text 60"/>
          <p:cNvSpPr/>
          <p:nvPr/>
        </p:nvSpPr>
        <p:spPr>
          <a:xfrm>
            <a:off x="9464040" y="5202936"/>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Gift-a-seat invite flow</a:t>
            </a:r>
            <a:endParaRPr lang="en-US" sz="1050" dirty="0"/>
          </a:p>
        </p:txBody>
      </p:sp>
      <p:sp>
        <p:nvSpPr>
          <p:cNvPr id="63" name="Shape 61"/>
          <p:cNvSpPr/>
          <p:nvPr/>
        </p:nvSpPr>
        <p:spPr>
          <a:xfrm>
            <a:off x="9281160" y="5769864"/>
            <a:ext cx="109728" cy="109728"/>
          </a:xfrm>
          <a:prstGeom prst="ellipse">
            <a:avLst/>
          </a:prstGeom>
          <a:solidFill>
            <a:srgbClr val="BD57F2"/>
          </a:solidFill>
          <a:ln w="12700">
            <a:solidFill>
              <a:srgbClr val="BD57F2"/>
            </a:solidFill>
            <a:prstDash val="solid"/>
          </a:ln>
        </p:spPr>
      </p:sp>
      <p:sp>
        <p:nvSpPr>
          <p:cNvPr id="64" name="Text 62"/>
          <p:cNvSpPr/>
          <p:nvPr/>
        </p:nvSpPr>
        <p:spPr>
          <a:xfrm>
            <a:off x="9464040" y="5678424"/>
            <a:ext cx="2103120" cy="45720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Relationship review ritual</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F67700"/>
          </a:solidFill>
          <a:ln w="12700">
            <a:solidFill>
              <a:srgbClr val="F67700"/>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21</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F67700"/>
                </a:solidFill>
                <a:latin typeface="Calibri" pitchFamily="34" charset="0"/>
                <a:ea typeface="Calibri" pitchFamily="34" charset="-122"/>
                <a:cs typeface="Calibri" pitchFamily="34" charset="-120"/>
              </a:rPr>
              <a:t>20 · PRICING · INTERNAL</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Cost structure per paying user-month.</a:t>
            </a:r>
            <a:endParaRPr lang="en-US" sz="3200" dirty="0"/>
          </a:p>
        </p:txBody>
      </p:sp>
      <p:sp>
        <p:nvSpPr>
          <p:cNvPr id="9" name="Text 7"/>
          <p:cNvSpPr/>
          <p:nvPr/>
        </p:nvSpPr>
        <p:spPr>
          <a:xfrm>
            <a:off x="457200" y="1417320"/>
            <a:ext cx="11247120" cy="457200"/>
          </a:xfrm>
          <a:prstGeom prst="rect">
            <a:avLst/>
          </a:prstGeom>
          <a:noFill/>
          <a:ln/>
        </p:spPr>
        <p:txBody>
          <a:bodyPr wrap="square" lIns="0" tIns="0" rIns="0" bIns="0" rtlCol="0" anchor="ctr"/>
          <a:lstStyle/>
          <a:p>
            <a:pPr indent="0" marL="0">
              <a:buNone/>
            </a:pPr>
            <a:r>
              <a:rPr lang="en-US" sz="1500" i="1" dirty="0">
                <a:solidFill>
                  <a:srgbClr val="6B6A63"/>
                </a:solidFill>
                <a:latin typeface="Calibri" pitchFamily="34" charset="0"/>
                <a:ea typeface="Calibri" pitchFamily="34" charset="-122"/>
                <a:cs typeface="Calibri" pitchFamily="34" charset="-120"/>
              </a:rPr>
              <a:t>Blended across user mix at scale (&gt;25k paying users).</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155680" cy="914400"/>
        </p:xfrm>
        <a:graphic>
          <a:graphicData uri="http://schemas.openxmlformats.org/drawingml/2006/table">
            <a:tbl>
              <a:tblPr/>
              <a:tblGrid>
                <a:gridCol w="3474720"/>
                <a:gridCol w="1828800"/>
                <a:gridCol w="1828800"/>
                <a:gridCol w="4023360"/>
              </a:tblGrid>
              <a:tr h="43891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Cost Line</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Cost / user-mo</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of ARPU ($9.99)</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r>
              <a:tr h="438912">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Anthropic API (Claude Haiku 4.5)</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$0.21</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050" dirty="0">
                          <a:solidFill>
                            <a:srgbClr val="6B6A63"/>
                          </a:solidFill>
                          <a:latin typeface="Calibri" pitchFamily="34" charset="0"/>
                          <a:ea typeface="Calibri" pitchFamily="34" charset="-122"/>
                          <a:cs typeface="Calibri" pitchFamily="34" charset="-120"/>
                        </a:rPr>
                        <a:t>Blended light/avg/heavy user mix</a:t>
                      </a:r>
                      <a:endParaRPr lang="en-US" sz="105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38912">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Supabase (DB + Auth + Edge Fn)</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$0.04</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0.4%</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050" dirty="0">
                          <a:solidFill>
                            <a:srgbClr val="6B6A63"/>
                          </a:solidFill>
                          <a:latin typeface="Calibri" pitchFamily="34" charset="0"/>
                          <a:ea typeface="Calibri" pitchFamily="34" charset="-122"/>
                          <a:cs typeface="Calibri" pitchFamily="34" charset="-120"/>
                        </a:rPr>
                        <a:t>Pro tier at scale; free tier pre-launch</a:t>
                      </a:r>
                      <a:endParaRPr lang="en-US" sz="105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38912">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App Store / Play Store fees</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050" dirty="0">
                          <a:solidFill>
                            <a:srgbClr val="6B6A63"/>
                          </a:solidFill>
                          <a:latin typeface="Calibri" pitchFamily="34" charset="0"/>
                          <a:ea typeface="Calibri" pitchFamily="34" charset="-122"/>
                          <a:cs typeface="Calibri" pitchFamily="34" charset="-120"/>
                        </a:rPr>
                        <a:t>15% (Small Biz Program); 30% post-$1M</a:t>
                      </a:r>
                      <a:endParaRPr lang="en-US" sz="105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38912">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Infrastructure (Vercel, email, misc)</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$0.03</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050" dirty="0">
                          <a:solidFill>
                            <a:srgbClr val="6B6A63"/>
                          </a:solidFill>
                          <a:latin typeface="Calibri" pitchFamily="34" charset="0"/>
                          <a:ea typeface="Calibri" pitchFamily="34" charset="-122"/>
                          <a:cs typeface="Calibri" pitchFamily="34" charset="-120"/>
                        </a:rPr>
                        <a:t>Fixed costs amortised at 25k users</a:t>
                      </a:r>
                      <a:endParaRPr lang="en-US" sz="105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38912">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Payment processing (Stripe / Apple)</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ctr" indent="0" marL="0">
                        <a:buNone/>
                      </a:pPr>
                      <a:r>
                        <a:rPr lang="en-US" sz="1100" dirty="0">
                          <a:solidFill>
                            <a:srgbClr val="2A2D3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050" dirty="0">
                          <a:solidFill>
                            <a:srgbClr val="6B6A63"/>
                          </a:solidFill>
                          <a:latin typeface="Calibri" pitchFamily="34" charset="0"/>
                          <a:ea typeface="Calibri" pitchFamily="34" charset="-122"/>
                          <a:cs typeface="Calibri" pitchFamily="34" charset="-120"/>
                        </a:rPr>
                        <a:t>Included in App Store fee</a:t>
                      </a:r>
                      <a:endParaRPr lang="en-US" sz="105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38912">
                <a:tc>
                  <a:txBody>
                    <a:bodyPr/>
                    <a:lstStyle/>
                    <a:p>
                      <a:pPr indent="0" marL="0">
                        <a:buNone/>
                      </a:pPr>
                      <a:r>
                        <a:rPr lang="en-US" sz="1150" b="1" dirty="0">
                          <a:solidFill>
                            <a:srgbClr val="1F2540"/>
                          </a:solidFill>
                          <a:latin typeface="Calibri" pitchFamily="34" charset="0"/>
                          <a:ea typeface="Calibri" pitchFamily="34" charset="-122"/>
                          <a:cs typeface="Calibri" pitchFamily="34" charset="-120"/>
                        </a:rPr>
                        <a:t>TOTAL COGS</a:t>
                      </a:r>
                      <a:endParaRPr lang="en-US" sz="115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algn="ctr" indent="0" marL="0">
                        <a:buNone/>
                      </a:pPr>
                      <a:r>
                        <a:rPr lang="en-US" sz="1200" b="1" dirty="0">
                          <a:solidFill>
                            <a:srgbClr val="1F2540"/>
                          </a:solidFill>
                          <a:latin typeface="Calibri" pitchFamily="34" charset="0"/>
                          <a:ea typeface="Calibri" pitchFamily="34" charset="-122"/>
                          <a:cs typeface="Calibri" pitchFamily="34" charset="-120"/>
                        </a:rPr>
                        <a:t>$1.78</a:t>
                      </a:r>
                      <a:endParaRPr lang="en-US" sz="12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algn="ctr" indent="0" marL="0">
                        <a:buNone/>
                      </a:pPr>
                      <a:r>
                        <a:rPr lang="en-US" sz="1200" b="1" dirty="0">
                          <a:solidFill>
                            <a:srgbClr val="1F2540"/>
                          </a:solidFill>
                          <a:latin typeface="Calibri" pitchFamily="34" charset="0"/>
                          <a:ea typeface="Calibri" pitchFamily="34" charset="-122"/>
                          <a:cs typeface="Calibri" pitchFamily="34" charset="-120"/>
                        </a:rPr>
                        <a:t>17.8%</a:t>
                      </a:r>
                      <a:endParaRPr lang="en-US" sz="12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indent="0" marL="0">
                        <a:buNone/>
                      </a:pPr>
                      <a:r>
                        <a:rPr lang="en-US" sz="1150" b="1" dirty="0">
                          <a:solidFill>
                            <a:srgbClr val="1F2540"/>
                          </a:solidFill>
                          <a:latin typeface="Calibri" pitchFamily="34" charset="0"/>
                          <a:ea typeface="Calibri" pitchFamily="34" charset="-122"/>
                          <a:cs typeface="Calibri" pitchFamily="34" charset="-120"/>
                        </a:rPr>
                        <a:t>Gross margin: 82.2%</a:t>
                      </a:r>
                      <a:endParaRPr lang="en-US" sz="115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r>
            </a:tbl>
          </a:graphicData>
        </a:graphic>
      </p:graphicFrame>
      <p:sp>
        <p:nvSpPr>
          <p:cNvPr id="11" name="Shape 8"/>
          <p:cNvSpPr/>
          <p:nvPr/>
        </p:nvSpPr>
        <p:spPr>
          <a:xfrm>
            <a:off x="548640" y="5989320"/>
            <a:ext cx="11155680" cy="457200"/>
          </a:xfrm>
          <a:prstGeom prst="rect">
            <a:avLst/>
          </a:prstGeom>
          <a:solidFill>
            <a:srgbClr val="1F2540"/>
          </a:solidFill>
          <a:ln w="12700">
            <a:solidFill>
              <a:srgbClr val="1F2540"/>
            </a:solidFill>
            <a:prstDash val="solid"/>
          </a:ln>
        </p:spPr>
      </p:sp>
      <p:sp>
        <p:nvSpPr>
          <p:cNvPr id="12" name="Text 9"/>
          <p:cNvSpPr/>
          <p:nvPr/>
        </p:nvSpPr>
        <p:spPr>
          <a:xfrm>
            <a:off x="822960" y="5989320"/>
            <a:ext cx="10972800" cy="457200"/>
          </a:xfrm>
          <a:prstGeom prst="rect">
            <a:avLst/>
          </a:prstGeom>
          <a:noFill/>
          <a:ln/>
        </p:spPr>
        <p:txBody>
          <a:bodyPr wrap="square" lIns="0" tIns="0" rIns="0" bIns="0" rtlCol="0" anchor="ctr"/>
          <a:lstStyle/>
          <a:p>
            <a:pPr indent="0" marL="0">
              <a:buNone/>
            </a:pPr>
            <a:r>
              <a:rPr lang="en-US" sz="1050" i="1" dirty="0">
                <a:solidFill>
                  <a:srgbClr val="FAF7F2"/>
                </a:solidFill>
                <a:latin typeface="Calibri" pitchFamily="34" charset="0"/>
                <a:ea typeface="Calibri" pitchFamily="34" charset="-122"/>
                <a:cs typeface="Calibri" pitchFamily="34" charset="-120"/>
              </a:rPr>
              <a:t>Margin expansion levers: (1) annual prepay shifts ARPU +34% without COGS change; (2) couple plan doubles revenue per couple with marginal AI cost; (3) model cost curve declines ~40% YoY.</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6D35F"/>
          </a:solidFill>
          <a:ln w="12700">
            <a:solidFill>
              <a:srgbClr val="96D35F"/>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22</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6D35F"/>
                </a:solidFill>
                <a:latin typeface="Calibri" pitchFamily="34" charset="0"/>
                <a:ea typeface="Calibri" pitchFamily="34" charset="-122"/>
                <a:cs typeface="Calibri" pitchFamily="34" charset="-120"/>
              </a:rPr>
              <a:t>21 · ECONOMICS · LTV/CAC</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Payback under 5 months at target CAC.</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5440680" cy="914400"/>
        </p:xfrm>
        <a:graphic>
          <a:graphicData uri="http://schemas.openxmlformats.org/drawingml/2006/table">
            <a:tbl>
              <a:tblPr/>
              <a:tblGrid>
                <a:gridCol w="3657600"/>
                <a:gridCol w="178308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LTV Model</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r>
              <a:tr h="4572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Blended ARPU / month</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$8.52</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572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Gross margin</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82%</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572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Contribution / month</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$6.99</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572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Avg retention (months)</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14.2</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57200">
                <a:tc>
                  <a:txBody>
                    <a:bodyPr/>
                    <a:lstStyle/>
                    <a:p>
                      <a:pPr indent="0" marL="0">
                        <a:buNone/>
                      </a:pPr>
                      <a:r>
                        <a:rPr lang="en-US" sz="1200" b="1" dirty="0">
                          <a:solidFill>
                            <a:srgbClr val="1F2540"/>
                          </a:solidFill>
                          <a:latin typeface="Calibri" pitchFamily="34" charset="0"/>
                          <a:ea typeface="Calibri" pitchFamily="34" charset="-122"/>
                          <a:cs typeface="Calibri" pitchFamily="34" charset="-120"/>
                        </a:rPr>
                        <a:t>LTV</a:t>
                      </a:r>
                      <a:endParaRPr lang="en-US" sz="12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algn="r" indent="0" marL="0">
                        <a:buNone/>
                      </a:pPr>
                      <a:r>
                        <a:rPr lang="en-US" sz="1300" b="1" dirty="0">
                          <a:solidFill>
                            <a:srgbClr val="1F2540"/>
                          </a:solidFill>
                          <a:latin typeface="Calibri" pitchFamily="34" charset="0"/>
                          <a:ea typeface="Calibri" pitchFamily="34" charset="-122"/>
                          <a:cs typeface="Calibri" pitchFamily="34" charset="-120"/>
                        </a:rPr>
                        <a:t>$99</a:t>
                      </a:r>
                      <a:endParaRPr lang="en-US" sz="13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6263640" y="2194560"/>
          <a:ext cx="5440680" cy="914400"/>
        </p:xfrm>
        <a:graphic>
          <a:graphicData uri="http://schemas.openxmlformats.org/drawingml/2006/table">
            <a:tbl>
              <a:tblPr/>
              <a:tblGrid>
                <a:gridCol w="2331720"/>
                <a:gridCol w="914400"/>
                <a:gridCol w="1097280"/>
                <a:gridCol w="109728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CAC Scenario</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CAC</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LTV/CAC</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Payback</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r>
              <a:tr h="4572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Organic (TikTok + SEO)</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b="1" dirty="0">
                          <a:solidFill>
                            <a:srgbClr val="96D35F"/>
                          </a:solidFill>
                          <a:latin typeface="Calibri" pitchFamily="34" charset="0"/>
                          <a:ea typeface="Calibri" pitchFamily="34" charset="-122"/>
                          <a:cs typeface="Calibri" pitchFamily="34" charset="-120"/>
                        </a:rPr>
                        <a:t>12.4×</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1.1 mo</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572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Creator / partnerships</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b="1" dirty="0">
                          <a:solidFill>
                            <a:srgbClr val="96D35F"/>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2.7 mo</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572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Paid social (Meta / TikTok)</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b="1" dirty="0">
                          <a:solidFill>
                            <a:srgbClr val="F67700"/>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3.7 mo</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572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Search (Google SEM)</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b="1" dirty="0">
                          <a:solidFill>
                            <a:srgbClr val="F67700"/>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algn="r" indent="0" marL="0">
                        <a:buNone/>
                      </a:pPr>
                      <a:r>
                        <a:rPr lang="en-US" sz="1100" dirty="0">
                          <a:solidFill>
                            <a:srgbClr val="2A2D34"/>
                          </a:solidFill>
                          <a:latin typeface="Calibri" pitchFamily="34" charset="0"/>
                          <a:ea typeface="Calibri" pitchFamily="34" charset="-122"/>
                          <a:cs typeface="Calibri" pitchFamily="34" charset="-120"/>
                        </a:rPr>
                        <a:t>4.9 mo</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457200">
                <a:tc>
                  <a:txBody>
                    <a:bodyPr/>
                    <a:lstStyle/>
                    <a:p>
                      <a:pPr indent="0" marL="0">
                        <a:buNone/>
                      </a:pPr>
                      <a:r>
                        <a:rPr lang="en-US" sz="1150" b="1" dirty="0">
                          <a:solidFill>
                            <a:srgbClr val="1F2540"/>
                          </a:solidFill>
                          <a:latin typeface="Calibri" pitchFamily="34" charset="0"/>
                          <a:ea typeface="Calibri" pitchFamily="34" charset="-122"/>
                          <a:cs typeface="Calibri" pitchFamily="34" charset="-120"/>
                        </a:rPr>
                        <a:t>Blended target</a:t>
                      </a:r>
                      <a:endParaRPr lang="en-US" sz="115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algn="r" indent="0" marL="0">
                        <a:buNone/>
                      </a:pPr>
                      <a:r>
                        <a:rPr lang="en-US" sz="1200" b="1" dirty="0">
                          <a:solidFill>
                            <a:srgbClr val="1F2540"/>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algn="r" indent="0" marL="0">
                        <a:buNone/>
                      </a:pPr>
                      <a:r>
                        <a:rPr lang="en-US" sz="1200" b="1" dirty="0">
                          <a:solidFill>
                            <a:srgbClr val="1F2540"/>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c>
                  <a:txBody>
                    <a:bodyPr/>
                    <a:lstStyle/>
                    <a:p>
                      <a:pPr algn="r" indent="0" marL="0">
                        <a:buNone/>
                      </a:pPr>
                      <a:r>
                        <a:rPr lang="en-US" sz="1200" b="1" dirty="0">
                          <a:solidFill>
                            <a:srgbClr val="1F2540"/>
                          </a:solidFill>
                          <a:latin typeface="Calibri" pitchFamily="34" charset="0"/>
                          <a:ea typeface="Calibri" pitchFamily="34" charset="-122"/>
                          <a:cs typeface="Calibri" pitchFamily="34" charset="-120"/>
                        </a:rPr>
                        <a:t>3.0 mo</a:t>
                      </a:r>
                      <a:endParaRPr lang="en-US" sz="12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D9E8C0"/>
                    </a:solidFill>
                  </a:tcPr>
                </a:tc>
              </a:tr>
            </a:tbl>
          </a:graphicData>
        </a:graphic>
      </p:graphicFrame>
      <p:sp>
        <p:nvSpPr>
          <p:cNvPr id="11" name="Shape 7"/>
          <p:cNvSpPr/>
          <p:nvPr/>
        </p:nvSpPr>
        <p:spPr>
          <a:xfrm>
            <a:off x="548640" y="5989320"/>
            <a:ext cx="11155680" cy="411480"/>
          </a:xfrm>
          <a:prstGeom prst="rect">
            <a:avLst/>
          </a:prstGeom>
          <a:solidFill>
            <a:srgbClr val="1F2540"/>
          </a:solidFill>
          <a:ln w="12700">
            <a:solidFill>
              <a:srgbClr val="1F2540"/>
            </a:solidFill>
            <a:prstDash val="solid"/>
          </a:ln>
        </p:spPr>
      </p:sp>
      <p:sp>
        <p:nvSpPr>
          <p:cNvPr id="12" name="Text 8"/>
          <p:cNvSpPr/>
          <p:nvPr/>
        </p:nvSpPr>
        <p:spPr>
          <a:xfrm>
            <a:off x="822960" y="5989320"/>
            <a:ext cx="10972800" cy="411480"/>
          </a:xfrm>
          <a:prstGeom prst="rect">
            <a:avLst/>
          </a:prstGeom>
          <a:noFill/>
          <a:ln/>
        </p:spPr>
        <p:txBody>
          <a:bodyPr wrap="square" lIns="0" tIns="0" rIns="0" bIns="0" rtlCol="0" anchor="ctr"/>
          <a:lstStyle/>
          <a:p>
            <a:pPr indent="0" marL="0">
              <a:buNone/>
            </a:pPr>
            <a:r>
              <a:rPr lang="en-US" sz="1050" i="1" dirty="0">
                <a:solidFill>
                  <a:srgbClr val="FAF7F2"/>
                </a:solidFill>
                <a:latin typeface="Calibri" pitchFamily="34" charset="0"/>
                <a:ea typeface="Calibri" pitchFamily="34" charset="-122"/>
                <a:cs typeface="Calibri" pitchFamily="34" charset="-120"/>
              </a:rPr>
              <a:t>Target mix at steady state: 55% organic / 25% paid / 20% creator. Blended LTV/CAC &gt; 4× and payback &lt; 4 months — within best-in-class consumer subscription benchmarks.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2A6F4"/>
          </a:solidFill>
          <a:ln w="12700">
            <a:solidFill>
              <a:srgbClr val="92A6F4"/>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23</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2A6F4"/>
                </a:solidFill>
                <a:latin typeface="Calibri" pitchFamily="34" charset="0"/>
                <a:ea typeface="Calibri" pitchFamily="34" charset="-122"/>
                <a:cs typeface="Calibri" pitchFamily="34" charset="-120"/>
              </a:rPr>
              <a:t>22 · FINANCIALS</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3-year projection: path to $18M ARR at Year 3.</a:t>
            </a:r>
            <a:endParaRPr lang="en-US" sz="3200" dirty="0"/>
          </a:p>
        </p:txBody>
      </p:sp>
      <p:sp>
        <p:nvSpPr>
          <p:cNvPr id="9" name="Text 7"/>
          <p:cNvSpPr/>
          <p:nvPr/>
        </p:nvSpPr>
        <p:spPr>
          <a:xfrm>
            <a:off x="457200" y="1417320"/>
            <a:ext cx="11247120" cy="457200"/>
          </a:xfrm>
          <a:prstGeom prst="rect">
            <a:avLst/>
          </a:prstGeom>
          <a:noFill/>
          <a:ln/>
        </p:spPr>
        <p:txBody>
          <a:bodyPr wrap="square" lIns="0" tIns="0" rIns="0" bIns="0" rtlCol="0" anchor="ctr"/>
          <a:lstStyle/>
          <a:p>
            <a:pPr indent="0" marL="0">
              <a:buNone/>
            </a:pPr>
            <a:r>
              <a:rPr lang="en-US" sz="1500" i="1" dirty="0">
                <a:solidFill>
                  <a:srgbClr val="6B6A63"/>
                </a:solidFill>
                <a:latin typeface="Calibri" pitchFamily="34" charset="0"/>
                <a:ea typeface="Calibri" pitchFamily="34" charset="-122"/>
                <a:cs typeface="Calibri" pitchFamily="34" charset="-120"/>
              </a:rPr>
              <a:t>Base case. Upside case +38% assumes couple-plan conversion above 22%.</a:t>
            </a:r>
            <a:endParaRPr lang="en-US" sz="1500" dirty="0"/>
          </a:p>
        </p:txBody>
      </p:sp>
      <p:graphicFrame>
        <p:nvGraphicFramePr>
          <p:cNvPr id="10" name="Chart 0" descr=""/>
          <p:cNvGraphicFramePr/>
          <p:nvPr/>
        </p:nvGraphicFramePr>
        <p:xfrm>
          <a:off x="548640" y="2148840"/>
          <a:ext cx="5577840" cy="393192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6400800" y="2194560"/>
            <a:ext cx="5303520" cy="1234440"/>
          </a:xfrm>
          <a:prstGeom prst="rect">
            <a:avLst/>
          </a:prstGeom>
          <a:solidFill>
            <a:srgbClr val="FFFFFF"/>
          </a:solidFill>
          <a:ln w="12700">
            <a:solidFill>
              <a:srgbClr val="E5E0D5"/>
            </a:solidFill>
            <a:prstDash val="solid"/>
          </a:ln>
        </p:spPr>
      </p:sp>
      <p:sp>
        <p:nvSpPr>
          <p:cNvPr id="12" name="Shape 9"/>
          <p:cNvSpPr/>
          <p:nvPr/>
        </p:nvSpPr>
        <p:spPr>
          <a:xfrm>
            <a:off x="6400800" y="2194560"/>
            <a:ext cx="109728" cy="1234440"/>
          </a:xfrm>
          <a:prstGeom prst="rect">
            <a:avLst/>
          </a:prstGeom>
          <a:solidFill>
            <a:srgbClr val="96D35F"/>
          </a:solidFill>
          <a:ln w="12700">
            <a:solidFill>
              <a:srgbClr val="96D35F"/>
            </a:solidFill>
            <a:prstDash val="solid"/>
          </a:ln>
        </p:spPr>
      </p:sp>
      <p:sp>
        <p:nvSpPr>
          <p:cNvPr id="13" name="Text 10"/>
          <p:cNvSpPr/>
          <p:nvPr/>
        </p:nvSpPr>
        <p:spPr>
          <a:xfrm>
            <a:off x="6629400" y="2331720"/>
            <a:ext cx="2286000" cy="365760"/>
          </a:xfrm>
          <a:prstGeom prst="rect">
            <a:avLst/>
          </a:prstGeom>
          <a:noFill/>
          <a:ln/>
        </p:spPr>
        <p:txBody>
          <a:bodyPr wrap="square" lIns="0" tIns="0" rIns="0" bIns="0" rtlCol="0" anchor="ctr"/>
          <a:lstStyle/>
          <a:p>
            <a:pPr indent="0" marL="0">
              <a:buNone/>
            </a:pPr>
            <a:r>
              <a:rPr lang="en-US" sz="1300" b="1" spc="300" kern="0" dirty="0">
                <a:solidFill>
                  <a:srgbClr val="6B6A63"/>
                </a:solidFill>
                <a:latin typeface="Calibri" pitchFamily="34" charset="0"/>
                <a:ea typeface="Calibri" pitchFamily="34" charset="-122"/>
                <a:cs typeface="Calibri" pitchFamily="34" charset="-120"/>
              </a:rPr>
              <a:t>Year 1</a:t>
            </a:r>
            <a:endParaRPr lang="en-US" sz="1300" dirty="0"/>
          </a:p>
        </p:txBody>
      </p:sp>
      <p:sp>
        <p:nvSpPr>
          <p:cNvPr id="14" name="Text 11"/>
          <p:cNvSpPr/>
          <p:nvPr/>
        </p:nvSpPr>
        <p:spPr>
          <a:xfrm>
            <a:off x="6629400" y="2651760"/>
            <a:ext cx="3657600" cy="502920"/>
          </a:xfrm>
          <a:prstGeom prst="rect">
            <a:avLst/>
          </a:prstGeom>
          <a:noFill/>
          <a:ln/>
        </p:spPr>
        <p:txBody>
          <a:bodyPr wrap="square" lIns="0" tIns="0" rIns="0" bIns="0" rtlCol="0" anchor="ctr"/>
          <a:lstStyle/>
          <a:p>
            <a:pPr indent="0" marL="0">
              <a:buNone/>
            </a:pPr>
            <a:r>
              <a:rPr lang="en-US" sz="2600" b="1" dirty="0">
                <a:solidFill>
                  <a:srgbClr val="1F2540"/>
                </a:solidFill>
                <a:latin typeface="Georgia" pitchFamily="34" charset="0"/>
                <a:ea typeface="Georgia" pitchFamily="34" charset="-122"/>
                <a:cs typeface="Georgia" pitchFamily="34" charset="-120"/>
              </a:rPr>
              <a:t>$1.2M ARR</a:t>
            </a:r>
            <a:endParaRPr lang="en-US" sz="2600" dirty="0"/>
          </a:p>
        </p:txBody>
      </p:sp>
      <p:sp>
        <p:nvSpPr>
          <p:cNvPr id="15" name="Text 12"/>
          <p:cNvSpPr/>
          <p:nvPr/>
        </p:nvSpPr>
        <p:spPr>
          <a:xfrm>
            <a:off x="6629400" y="3127248"/>
            <a:ext cx="3657600" cy="274320"/>
          </a:xfrm>
          <a:prstGeom prst="rect">
            <a:avLst/>
          </a:prstGeom>
          <a:noFill/>
          <a:ln/>
        </p:spPr>
        <p:txBody>
          <a:bodyPr wrap="square" lIns="0" tIns="0" rIns="0" bIns="0" rtlCol="0" anchor="ctr"/>
          <a:lstStyle/>
          <a:p>
            <a:pPr indent="0" marL="0">
              <a:buNone/>
            </a:pPr>
            <a:r>
              <a:rPr lang="en-US" sz="1100" i="1" dirty="0">
                <a:solidFill>
                  <a:srgbClr val="96D35F"/>
                </a:solidFill>
                <a:latin typeface="Calibri" pitchFamily="34" charset="0"/>
                <a:ea typeface="Calibri" pitchFamily="34" charset="-122"/>
                <a:cs typeface="Calibri" pitchFamily="34" charset="-120"/>
              </a:rPr>
              <a:t>12k users</a:t>
            </a:r>
            <a:endParaRPr lang="en-US" sz="1100" dirty="0"/>
          </a:p>
        </p:txBody>
      </p:sp>
      <p:sp>
        <p:nvSpPr>
          <p:cNvPr id="16" name="Shape 13"/>
          <p:cNvSpPr/>
          <p:nvPr/>
        </p:nvSpPr>
        <p:spPr>
          <a:xfrm>
            <a:off x="6400800" y="3566160"/>
            <a:ext cx="5303520" cy="1234440"/>
          </a:xfrm>
          <a:prstGeom prst="rect">
            <a:avLst/>
          </a:prstGeom>
          <a:solidFill>
            <a:srgbClr val="FFFFFF"/>
          </a:solidFill>
          <a:ln w="12700">
            <a:solidFill>
              <a:srgbClr val="E5E0D5"/>
            </a:solidFill>
            <a:prstDash val="solid"/>
          </a:ln>
        </p:spPr>
      </p:sp>
      <p:sp>
        <p:nvSpPr>
          <p:cNvPr id="17" name="Shape 14"/>
          <p:cNvSpPr/>
          <p:nvPr/>
        </p:nvSpPr>
        <p:spPr>
          <a:xfrm>
            <a:off x="6400800" y="3566160"/>
            <a:ext cx="109728" cy="1234440"/>
          </a:xfrm>
          <a:prstGeom prst="rect">
            <a:avLst/>
          </a:prstGeom>
          <a:solidFill>
            <a:srgbClr val="92A6F4"/>
          </a:solidFill>
          <a:ln w="12700">
            <a:solidFill>
              <a:srgbClr val="92A6F4"/>
            </a:solidFill>
            <a:prstDash val="solid"/>
          </a:ln>
        </p:spPr>
      </p:sp>
      <p:sp>
        <p:nvSpPr>
          <p:cNvPr id="18" name="Text 15"/>
          <p:cNvSpPr/>
          <p:nvPr/>
        </p:nvSpPr>
        <p:spPr>
          <a:xfrm>
            <a:off x="6629400" y="3703320"/>
            <a:ext cx="2286000" cy="365760"/>
          </a:xfrm>
          <a:prstGeom prst="rect">
            <a:avLst/>
          </a:prstGeom>
          <a:noFill/>
          <a:ln/>
        </p:spPr>
        <p:txBody>
          <a:bodyPr wrap="square" lIns="0" tIns="0" rIns="0" bIns="0" rtlCol="0" anchor="ctr"/>
          <a:lstStyle/>
          <a:p>
            <a:pPr indent="0" marL="0">
              <a:buNone/>
            </a:pPr>
            <a:r>
              <a:rPr lang="en-US" sz="1300" b="1" spc="300" kern="0" dirty="0">
                <a:solidFill>
                  <a:srgbClr val="6B6A63"/>
                </a:solidFill>
                <a:latin typeface="Calibri" pitchFamily="34" charset="0"/>
                <a:ea typeface="Calibri" pitchFamily="34" charset="-122"/>
                <a:cs typeface="Calibri" pitchFamily="34" charset="-120"/>
              </a:rPr>
              <a:t>Year 2</a:t>
            </a:r>
            <a:endParaRPr lang="en-US" sz="1300" dirty="0"/>
          </a:p>
        </p:txBody>
      </p:sp>
      <p:sp>
        <p:nvSpPr>
          <p:cNvPr id="19" name="Text 16"/>
          <p:cNvSpPr/>
          <p:nvPr/>
        </p:nvSpPr>
        <p:spPr>
          <a:xfrm>
            <a:off x="6629400" y="4023360"/>
            <a:ext cx="3657600" cy="502920"/>
          </a:xfrm>
          <a:prstGeom prst="rect">
            <a:avLst/>
          </a:prstGeom>
          <a:noFill/>
          <a:ln/>
        </p:spPr>
        <p:txBody>
          <a:bodyPr wrap="square" lIns="0" tIns="0" rIns="0" bIns="0" rtlCol="0" anchor="ctr"/>
          <a:lstStyle/>
          <a:p>
            <a:pPr indent="0" marL="0">
              <a:buNone/>
            </a:pPr>
            <a:r>
              <a:rPr lang="en-US" sz="2600" b="1" dirty="0">
                <a:solidFill>
                  <a:srgbClr val="1F2540"/>
                </a:solidFill>
                <a:latin typeface="Georgia" pitchFamily="34" charset="0"/>
                <a:ea typeface="Georgia" pitchFamily="34" charset="-122"/>
                <a:cs typeface="Georgia" pitchFamily="34" charset="-120"/>
              </a:rPr>
              <a:t>$6.8M ARR</a:t>
            </a:r>
            <a:endParaRPr lang="en-US" sz="2600" dirty="0"/>
          </a:p>
        </p:txBody>
      </p:sp>
      <p:sp>
        <p:nvSpPr>
          <p:cNvPr id="20" name="Text 17"/>
          <p:cNvSpPr/>
          <p:nvPr/>
        </p:nvSpPr>
        <p:spPr>
          <a:xfrm>
            <a:off x="6629400" y="4498848"/>
            <a:ext cx="3657600" cy="274320"/>
          </a:xfrm>
          <a:prstGeom prst="rect">
            <a:avLst/>
          </a:prstGeom>
          <a:noFill/>
          <a:ln/>
        </p:spPr>
        <p:txBody>
          <a:bodyPr wrap="square" lIns="0" tIns="0" rIns="0" bIns="0" rtlCol="0" anchor="ctr"/>
          <a:lstStyle/>
          <a:p>
            <a:pPr indent="0" marL="0">
              <a:buNone/>
            </a:pPr>
            <a:r>
              <a:rPr lang="en-US" sz="1100" i="1" dirty="0">
                <a:solidFill>
                  <a:srgbClr val="92A6F4"/>
                </a:solidFill>
                <a:latin typeface="Calibri" pitchFamily="34" charset="0"/>
                <a:ea typeface="Calibri" pitchFamily="34" charset="-122"/>
                <a:cs typeface="Calibri" pitchFamily="34" charset="-120"/>
              </a:rPr>
              <a:t>68k users</a:t>
            </a:r>
            <a:endParaRPr lang="en-US" sz="1100" dirty="0"/>
          </a:p>
        </p:txBody>
      </p:sp>
      <p:sp>
        <p:nvSpPr>
          <p:cNvPr id="21" name="Shape 18"/>
          <p:cNvSpPr/>
          <p:nvPr/>
        </p:nvSpPr>
        <p:spPr>
          <a:xfrm>
            <a:off x="6400800" y="4937760"/>
            <a:ext cx="5303520" cy="1234440"/>
          </a:xfrm>
          <a:prstGeom prst="rect">
            <a:avLst/>
          </a:prstGeom>
          <a:solidFill>
            <a:srgbClr val="FFFFFF"/>
          </a:solidFill>
          <a:ln w="12700">
            <a:solidFill>
              <a:srgbClr val="E5E0D5"/>
            </a:solidFill>
            <a:prstDash val="solid"/>
          </a:ln>
        </p:spPr>
      </p:sp>
      <p:sp>
        <p:nvSpPr>
          <p:cNvPr id="22" name="Shape 19"/>
          <p:cNvSpPr/>
          <p:nvPr/>
        </p:nvSpPr>
        <p:spPr>
          <a:xfrm>
            <a:off x="6400800" y="4937760"/>
            <a:ext cx="109728" cy="1234440"/>
          </a:xfrm>
          <a:prstGeom prst="rect">
            <a:avLst/>
          </a:prstGeom>
          <a:solidFill>
            <a:srgbClr val="BD57F2"/>
          </a:solidFill>
          <a:ln w="12700">
            <a:solidFill>
              <a:srgbClr val="BD57F2"/>
            </a:solidFill>
            <a:prstDash val="solid"/>
          </a:ln>
        </p:spPr>
      </p:sp>
      <p:sp>
        <p:nvSpPr>
          <p:cNvPr id="23" name="Text 20"/>
          <p:cNvSpPr/>
          <p:nvPr/>
        </p:nvSpPr>
        <p:spPr>
          <a:xfrm>
            <a:off x="6629400" y="5074920"/>
            <a:ext cx="2286000" cy="365760"/>
          </a:xfrm>
          <a:prstGeom prst="rect">
            <a:avLst/>
          </a:prstGeom>
          <a:noFill/>
          <a:ln/>
        </p:spPr>
        <p:txBody>
          <a:bodyPr wrap="square" lIns="0" tIns="0" rIns="0" bIns="0" rtlCol="0" anchor="ctr"/>
          <a:lstStyle/>
          <a:p>
            <a:pPr indent="0" marL="0">
              <a:buNone/>
            </a:pPr>
            <a:r>
              <a:rPr lang="en-US" sz="1300" b="1" spc="300" kern="0" dirty="0">
                <a:solidFill>
                  <a:srgbClr val="6B6A63"/>
                </a:solidFill>
                <a:latin typeface="Calibri" pitchFamily="34" charset="0"/>
                <a:ea typeface="Calibri" pitchFamily="34" charset="-122"/>
                <a:cs typeface="Calibri" pitchFamily="34" charset="-120"/>
              </a:rPr>
              <a:t>Year 3</a:t>
            </a:r>
            <a:endParaRPr lang="en-US" sz="1300" dirty="0"/>
          </a:p>
        </p:txBody>
      </p:sp>
      <p:sp>
        <p:nvSpPr>
          <p:cNvPr id="24" name="Text 21"/>
          <p:cNvSpPr/>
          <p:nvPr/>
        </p:nvSpPr>
        <p:spPr>
          <a:xfrm>
            <a:off x="6629400" y="5394960"/>
            <a:ext cx="3657600" cy="502920"/>
          </a:xfrm>
          <a:prstGeom prst="rect">
            <a:avLst/>
          </a:prstGeom>
          <a:noFill/>
          <a:ln/>
        </p:spPr>
        <p:txBody>
          <a:bodyPr wrap="square" lIns="0" tIns="0" rIns="0" bIns="0" rtlCol="0" anchor="ctr"/>
          <a:lstStyle/>
          <a:p>
            <a:pPr indent="0" marL="0">
              <a:buNone/>
            </a:pPr>
            <a:r>
              <a:rPr lang="en-US" sz="2600" b="1" dirty="0">
                <a:solidFill>
                  <a:srgbClr val="1F2540"/>
                </a:solidFill>
                <a:latin typeface="Georgia" pitchFamily="34" charset="0"/>
                <a:ea typeface="Georgia" pitchFamily="34" charset="-122"/>
                <a:cs typeface="Georgia" pitchFamily="34" charset="-120"/>
              </a:rPr>
              <a:t>$18.4M ARR</a:t>
            </a:r>
            <a:endParaRPr lang="en-US" sz="2600" dirty="0"/>
          </a:p>
        </p:txBody>
      </p:sp>
      <p:sp>
        <p:nvSpPr>
          <p:cNvPr id="25" name="Text 22"/>
          <p:cNvSpPr/>
          <p:nvPr/>
        </p:nvSpPr>
        <p:spPr>
          <a:xfrm>
            <a:off x="6629400" y="5870448"/>
            <a:ext cx="3657600" cy="274320"/>
          </a:xfrm>
          <a:prstGeom prst="rect">
            <a:avLst/>
          </a:prstGeom>
          <a:noFill/>
          <a:ln/>
        </p:spPr>
        <p:txBody>
          <a:bodyPr wrap="square" lIns="0" tIns="0" rIns="0" bIns="0" rtlCol="0" anchor="ctr"/>
          <a:lstStyle/>
          <a:p>
            <a:pPr indent="0" marL="0">
              <a:buNone/>
            </a:pPr>
            <a:r>
              <a:rPr lang="en-US" sz="1100" i="1" dirty="0">
                <a:solidFill>
                  <a:srgbClr val="BD57F2"/>
                </a:solidFill>
                <a:latin typeface="Calibri" pitchFamily="34" charset="0"/>
                <a:ea typeface="Calibri" pitchFamily="34" charset="-122"/>
                <a:cs typeface="Calibri" pitchFamily="34" charset="-120"/>
              </a:rPr>
              <a:t>184k users</a:t>
            </a:r>
            <a:endParaRPr lang="en-US" sz="1100" dirty="0"/>
          </a:p>
        </p:txBody>
      </p:sp>
      <p:sp>
        <p:nvSpPr>
          <p:cNvPr id="26" name="Shape 23"/>
          <p:cNvSpPr/>
          <p:nvPr/>
        </p:nvSpPr>
        <p:spPr>
          <a:xfrm>
            <a:off x="548640" y="6309360"/>
            <a:ext cx="11155680" cy="274320"/>
          </a:xfrm>
          <a:prstGeom prst="rect">
            <a:avLst/>
          </a:prstGeom>
          <a:solidFill>
            <a:srgbClr val="1F2540"/>
          </a:solidFill>
          <a:ln w="12700">
            <a:solidFill>
              <a:srgbClr val="1F2540"/>
            </a:solidFill>
            <a:prstDash val="solid"/>
          </a:ln>
        </p:spPr>
      </p:sp>
      <p:sp>
        <p:nvSpPr>
          <p:cNvPr id="27" name="Text 24"/>
          <p:cNvSpPr/>
          <p:nvPr/>
        </p:nvSpPr>
        <p:spPr>
          <a:xfrm>
            <a:off x="822960" y="6309360"/>
            <a:ext cx="10972800" cy="274320"/>
          </a:xfrm>
          <a:prstGeom prst="rect">
            <a:avLst/>
          </a:prstGeom>
          <a:noFill/>
          <a:ln/>
        </p:spPr>
        <p:txBody>
          <a:bodyPr wrap="square" lIns="0" tIns="0" rIns="0" bIns="0" rtlCol="0" anchor="ctr"/>
          <a:lstStyle/>
          <a:p>
            <a:pPr indent="0" marL="0">
              <a:buNone/>
            </a:pPr>
            <a:r>
              <a:rPr lang="en-US" sz="1000" i="1" dirty="0">
                <a:solidFill>
                  <a:srgbClr val="FAF7F2"/>
                </a:solidFill>
                <a:latin typeface="Calibri" pitchFamily="34" charset="0"/>
                <a:ea typeface="Calibri" pitchFamily="34" charset="-122"/>
                <a:cs typeface="Calibri" pitchFamily="34" charset="-120"/>
              </a:rPr>
              <a:t>Contribution-positive by month 10.  EBITDA break-even Q3 Y2.  All figures base case; downside -35%, upside +38%.</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F67700"/>
          </a:solidFill>
          <a:ln w="12700">
            <a:solidFill>
              <a:srgbClr val="F67700"/>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24</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F67700"/>
                </a:solidFill>
                <a:latin typeface="Calibri" pitchFamily="34" charset="0"/>
                <a:ea typeface="Calibri" pitchFamily="34" charset="-122"/>
                <a:cs typeface="Calibri" pitchFamily="34" charset="-120"/>
              </a:rPr>
              <a:t>23 · GO-TO-MARKET</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Three-wave launch: creator seed → cultural moment → broad paid.</a:t>
            </a:r>
            <a:endParaRPr lang="en-US" sz="3200" dirty="0"/>
          </a:p>
        </p:txBody>
      </p:sp>
      <p:sp>
        <p:nvSpPr>
          <p:cNvPr id="9" name="Shape 7"/>
          <p:cNvSpPr/>
          <p:nvPr/>
        </p:nvSpPr>
        <p:spPr>
          <a:xfrm>
            <a:off x="548640" y="2103120"/>
            <a:ext cx="11155680" cy="1280160"/>
          </a:xfrm>
          <a:prstGeom prst="rect">
            <a:avLst/>
          </a:prstGeom>
          <a:solidFill>
            <a:srgbClr val="FFFFFF"/>
          </a:solidFill>
          <a:ln w="12700">
            <a:solidFill>
              <a:srgbClr val="E5E0D5"/>
            </a:solidFill>
            <a:prstDash val="solid"/>
          </a:ln>
        </p:spPr>
      </p:sp>
      <p:sp>
        <p:nvSpPr>
          <p:cNvPr id="10" name="Shape 8"/>
          <p:cNvSpPr/>
          <p:nvPr/>
        </p:nvSpPr>
        <p:spPr>
          <a:xfrm>
            <a:off x="548640" y="2103120"/>
            <a:ext cx="137160" cy="1280160"/>
          </a:xfrm>
          <a:prstGeom prst="rect">
            <a:avLst/>
          </a:prstGeom>
          <a:solidFill>
            <a:srgbClr val="96D35F"/>
          </a:solidFill>
          <a:ln w="12700">
            <a:solidFill>
              <a:srgbClr val="96D35F"/>
            </a:solidFill>
            <a:prstDash val="solid"/>
          </a:ln>
        </p:spPr>
      </p:sp>
      <p:sp>
        <p:nvSpPr>
          <p:cNvPr id="11" name="Text 9"/>
          <p:cNvSpPr/>
          <p:nvPr/>
        </p:nvSpPr>
        <p:spPr>
          <a:xfrm>
            <a:off x="868680" y="2286000"/>
            <a:ext cx="1828800" cy="365760"/>
          </a:xfrm>
          <a:prstGeom prst="rect">
            <a:avLst/>
          </a:prstGeom>
          <a:noFill/>
          <a:ln/>
        </p:spPr>
        <p:txBody>
          <a:bodyPr wrap="square" lIns="0" tIns="0" rIns="0" bIns="0" rtlCol="0" anchor="ctr"/>
          <a:lstStyle/>
          <a:p>
            <a:pPr indent="0" marL="0">
              <a:buNone/>
            </a:pPr>
            <a:r>
              <a:rPr lang="en-US" sz="1800" b="1" dirty="0">
                <a:solidFill>
                  <a:srgbClr val="96D35F"/>
                </a:solidFill>
                <a:latin typeface="Georgia" pitchFamily="34" charset="0"/>
                <a:ea typeface="Georgia" pitchFamily="34" charset="-122"/>
                <a:cs typeface="Georgia" pitchFamily="34" charset="-120"/>
              </a:rPr>
              <a:t>Wave 1</a:t>
            </a:r>
            <a:endParaRPr lang="en-US" sz="1800" dirty="0"/>
          </a:p>
        </p:txBody>
      </p:sp>
      <p:sp>
        <p:nvSpPr>
          <p:cNvPr id="12" name="Text 10"/>
          <p:cNvSpPr/>
          <p:nvPr/>
        </p:nvSpPr>
        <p:spPr>
          <a:xfrm>
            <a:off x="868680" y="2697480"/>
            <a:ext cx="1828800" cy="320040"/>
          </a:xfrm>
          <a:prstGeom prst="rect">
            <a:avLst/>
          </a:prstGeom>
          <a:noFill/>
          <a:ln/>
        </p:spPr>
        <p:txBody>
          <a:bodyPr wrap="square" lIns="0" tIns="0" rIns="0" bIns="0" rtlCol="0" anchor="ctr"/>
          <a:lstStyle/>
          <a:p>
            <a:pPr indent="0" marL="0">
              <a:buNone/>
            </a:pPr>
            <a:r>
              <a:rPr lang="en-US" sz="1050" i="1" spc="200" kern="0" dirty="0">
                <a:solidFill>
                  <a:srgbClr val="6B6A63"/>
                </a:solidFill>
                <a:latin typeface="Calibri" pitchFamily="34" charset="0"/>
                <a:ea typeface="Calibri" pitchFamily="34" charset="-122"/>
                <a:cs typeface="Calibri" pitchFamily="34" charset="-120"/>
              </a:rPr>
              <a:t>M0 – M3</a:t>
            </a:r>
            <a:endParaRPr lang="en-US" sz="1050" dirty="0"/>
          </a:p>
        </p:txBody>
      </p:sp>
      <p:sp>
        <p:nvSpPr>
          <p:cNvPr id="13" name="Text 11"/>
          <p:cNvSpPr/>
          <p:nvPr/>
        </p:nvSpPr>
        <p:spPr>
          <a:xfrm>
            <a:off x="2926080" y="2304288"/>
            <a:ext cx="8595360" cy="411480"/>
          </a:xfrm>
          <a:prstGeom prst="rect">
            <a:avLst/>
          </a:prstGeom>
          <a:noFill/>
          <a:ln/>
        </p:spPr>
        <p:txBody>
          <a:bodyPr wrap="square" lIns="0" tIns="0" rIns="0" bIns="0" rtlCol="0" anchor="ctr"/>
          <a:lstStyle/>
          <a:p>
            <a:pPr indent="0" marL="0">
              <a:buNone/>
            </a:pPr>
            <a:r>
              <a:rPr lang="en-US" sz="1700" b="1" dirty="0">
                <a:solidFill>
                  <a:srgbClr val="1F2540"/>
                </a:solidFill>
                <a:latin typeface="Georgia" pitchFamily="34" charset="0"/>
                <a:ea typeface="Georgia" pitchFamily="34" charset="-122"/>
                <a:cs typeface="Georgia" pitchFamily="34" charset="-120"/>
              </a:rPr>
              <a:t>Creator seed</a:t>
            </a:r>
            <a:endParaRPr lang="en-US" sz="1700" dirty="0"/>
          </a:p>
        </p:txBody>
      </p:sp>
      <p:sp>
        <p:nvSpPr>
          <p:cNvPr id="14" name="Text 12"/>
          <p:cNvSpPr/>
          <p:nvPr/>
        </p:nvSpPr>
        <p:spPr>
          <a:xfrm>
            <a:off x="2926080" y="2743200"/>
            <a:ext cx="859536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30 attachment-theory creators (100k–1M followers). Authentic usage, no scripts. Target: 8k downloads, 1.2k paying.</a:t>
            </a:r>
            <a:endParaRPr lang="en-US" sz="1150" dirty="0"/>
          </a:p>
        </p:txBody>
      </p:sp>
      <p:sp>
        <p:nvSpPr>
          <p:cNvPr id="15" name="Shape 13"/>
          <p:cNvSpPr/>
          <p:nvPr/>
        </p:nvSpPr>
        <p:spPr>
          <a:xfrm>
            <a:off x="548640" y="3520440"/>
            <a:ext cx="11155680" cy="1280160"/>
          </a:xfrm>
          <a:prstGeom prst="rect">
            <a:avLst/>
          </a:prstGeom>
          <a:solidFill>
            <a:srgbClr val="FFFFFF"/>
          </a:solidFill>
          <a:ln w="12700">
            <a:solidFill>
              <a:srgbClr val="E5E0D5"/>
            </a:solidFill>
            <a:prstDash val="solid"/>
          </a:ln>
        </p:spPr>
      </p:sp>
      <p:sp>
        <p:nvSpPr>
          <p:cNvPr id="16" name="Shape 14"/>
          <p:cNvSpPr/>
          <p:nvPr/>
        </p:nvSpPr>
        <p:spPr>
          <a:xfrm>
            <a:off x="548640" y="3520440"/>
            <a:ext cx="137160" cy="1280160"/>
          </a:xfrm>
          <a:prstGeom prst="rect">
            <a:avLst/>
          </a:prstGeom>
          <a:solidFill>
            <a:srgbClr val="F67700"/>
          </a:solidFill>
          <a:ln w="12700">
            <a:solidFill>
              <a:srgbClr val="F67700"/>
            </a:solidFill>
            <a:prstDash val="solid"/>
          </a:ln>
        </p:spPr>
      </p:sp>
      <p:sp>
        <p:nvSpPr>
          <p:cNvPr id="17" name="Text 15"/>
          <p:cNvSpPr/>
          <p:nvPr/>
        </p:nvSpPr>
        <p:spPr>
          <a:xfrm>
            <a:off x="868680" y="3703320"/>
            <a:ext cx="1828800" cy="365760"/>
          </a:xfrm>
          <a:prstGeom prst="rect">
            <a:avLst/>
          </a:prstGeom>
          <a:noFill/>
          <a:ln/>
        </p:spPr>
        <p:txBody>
          <a:bodyPr wrap="square" lIns="0" tIns="0" rIns="0" bIns="0" rtlCol="0" anchor="ctr"/>
          <a:lstStyle/>
          <a:p>
            <a:pPr indent="0" marL="0">
              <a:buNone/>
            </a:pPr>
            <a:r>
              <a:rPr lang="en-US" sz="1800" b="1" dirty="0">
                <a:solidFill>
                  <a:srgbClr val="F67700"/>
                </a:solidFill>
                <a:latin typeface="Georgia" pitchFamily="34" charset="0"/>
                <a:ea typeface="Georgia" pitchFamily="34" charset="-122"/>
                <a:cs typeface="Georgia" pitchFamily="34" charset="-120"/>
              </a:rPr>
              <a:t>Wave 2</a:t>
            </a:r>
            <a:endParaRPr lang="en-US" sz="1800" dirty="0"/>
          </a:p>
        </p:txBody>
      </p:sp>
      <p:sp>
        <p:nvSpPr>
          <p:cNvPr id="18" name="Text 16"/>
          <p:cNvSpPr/>
          <p:nvPr/>
        </p:nvSpPr>
        <p:spPr>
          <a:xfrm>
            <a:off x="868680" y="4114800"/>
            <a:ext cx="1828800" cy="320040"/>
          </a:xfrm>
          <a:prstGeom prst="rect">
            <a:avLst/>
          </a:prstGeom>
          <a:noFill/>
          <a:ln/>
        </p:spPr>
        <p:txBody>
          <a:bodyPr wrap="square" lIns="0" tIns="0" rIns="0" bIns="0" rtlCol="0" anchor="ctr"/>
          <a:lstStyle/>
          <a:p>
            <a:pPr indent="0" marL="0">
              <a:buNone/>
            </a:pPr>
            <a:r>
              <a:rPr lang="en-US" sz="1050" i="1" spc="200" kern="0" dirty="0">
                <a:solidFill>
                  <a:srgbClr val="6B6A63"/>
                </a:solidFill>
                <a:latin typeface="Calibri" pitchFamily="34" charset="0"/>
                <a:ea typeface="Calibri" pitchFamily="34" charset="-122"/>
                <a:cs typeface="Calibri" pitchFamily="34" charset="-120"/>
              </a:rPr>
              <a:t>M3 – M9</a:t>
            </a:r>
            <a:endParaRPr lang="en-US" sz="1050" dirty="0"/>
          </a:p>
        </p:txBody>
      </p:sp>
      <p:sp>
        <p:nvSpPr>
          <p:cNvPr id="19" name="Text 17"/>
          <p:cNvSpPr/>
          <p:nvPr/>
        </p:nvSpPr>
        <p:spPr>
          <a:xfrm>
            <a:off x="2926080" y="3721608"/>
            <a:ext cx="8595360" cy="411480"/>
          </a:xfrm>
          <a:prstGeom prst="rect">
            <a:avLst/>
          </a:prstGeom>
          <a:noFill/>
          <a:ln/>
        </p:spPr>
        <p:txBody>
          <a:bodyPr wrap="square" lIns="0" tIns="0" rIns="0" bIns="0" rtlCol="0" anchor="ctr"/>
          <a:lstStyle/>
          <a:p>
            <a:pPr indent="0" marL="0">
              <a:buNone/>
            </a:pPr>
            <a:r>
              <a:rPr lang="en-US" sz="1700" b="1" dirty="0">
                <a:solidFill>
                  <a:srgbClr val="1F2540"/>
                </a:solidFill>
                <a:latin typeface="Georgia" pitchFamily="34" charset="0"/>
                <a:ea typeface="Georgia" pitchFamily="34" charset="-122"/>
                <a:cs typeface="Georgia" pitchFamily="34" charset="-120"/>
              </a:rPr>
              <a:t>Cultural moment</a:t>
            </a:r>
            <a:endParaRPr lang="en-US" sz="1700" dirty="0"/>
          </a:p>
        </p:txBody>
      </p:sp>
      <p:sp>
        <p:nvSpPr>
          <p:cNvPr id="20" name="Text 18"/>
          <p:cNvSpPr/>
          <p:nvPr/>
        </p:nvSpPr>
        <p:spPr>
          <a:xfrm>
            <a:off x="2926080" y="4160520"/>
            <a:ext cx="859536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PR + owned narrative around “rupture to repair.” Podcast tour (Esther Perel, Mel Robbins, Diary of a CEO). Target: 35k paying.</a:t>
            </a:r>
            <a:endParaRPr lang="en-US" sz="1150" dirty="0"/>
          </a:p>
        </p:txBody>
      </p:sp>
      <p:sp>
        <p:nvSpPr>
          <p:cNvPr id="21" name="Shape 19"/>
          <p:cNvSpPr/>
          <p:nvPr/>
        </p:nvSpPr>
        <p:spPr>
          <a:xfrm>
            <a:off x="548640" y="4937760"/>
            <a:ext cx="11155680" cy="1280160"/>
          </a:xfrm>
          <a:prstGeom prst="rect">
            <a:avLst/>
          </a:prstGeom>
          <a:solidFill>
            <a:srgbClr val="FFFFFF"/>
          </a:solidFill>
          <a:ln w="12700">
            <a:solidFill>
              <a:srgbClr val="E5E0D5"/>
            </a:solidFill>
            <a:prstDash val="solid"/>
          </a:ln>
        </p:spPr>
      </p:sp>
      <p:sp>
        <p:nvSpPr>
          <p:cNvPr id="22" name="Shape 20"/>
          <p:cNvSpPr/>
          <p:nvPr/>
        </p:nvSpPr>
        <p:spPr>
          <a:xfrm>
            <a:off x="548640" y="4937760"/>
            <a:ext cx="137160" cy="1280160"/>
          </a:xfrm>
          <a:prstGeom prst="rect">
            <a:avLst/>
          </a:prstGeom>
          <a:solidFill>
            <a:srgbClr val="BD57F2"/>
          </a:solidFill>
          <a:ln w="12700">
            <a:solidFill>
              <a:srgbClr val="BD57F2"/>
            </a:solidFill>
            <a:prstDash val="solid"/>
          </a:ln>
        </p:spPr>
      </p:sp>
      <p:sp>
        <p:nvSpPr>
          <p:cNvPr id="23" name="Text 21"/>
          <p:cNvSpPr/>
          <p:nvPr/>
        </p:nvSpPr>
        <p:spPr>
          <a:xfrm>
            <a:off x="868680" y="5120640"/>
            <a:ext cx="1828800" cy="365760"/>
          </a:xfrm>
          <a:prstGeom prst="rect">
            <a:avLst/>
          </a:prstGeom>
          <a:noFill/>
          <a:ln/>
        </p:spPr>
        <p:txBody>
          <a:bodyPr wrap="square" lIns="0" tIns="0" rIns="0" bIns="0" rtlCol="0" anchor="ctr"/>
          <a:lstStyle/>
          <a:p>
            <a:pPr indent="0" marL="0">
              <a:buNone/>
            </a:pPr>
            <a:r>
              <a:rPr lang="en-US" sz="1800" b="1" dirty="0">
                <a:solidFill>
                  <a:srgbClr val="BD57F2"/>
                </a:solidFill>
                <a:latin typeface="Georgia" pitchFamily="34" charset="0"/>
                <a:ea typeface="Georgia" pitchFamily="34" charset="-122"/>
                <a:cs typeface="Georgia" pitchFamily="34" charset="-120"/>
              </a:rPr>
              <a:t>Wave 3</a:t>
            </a:r>
            <a:endParaRPr lang="en-US" sz="1800" dirty="0"/>
          </a:p>
        </p:txBody>
      </p:sp>
      <p:sp>
        <p:nvSpPr>
          <p:cNvPr id="24" name="Text 22"/>
          <p:cNvSpPr/>
          <p:nvPr/>
        </p:nvSpPr>
        <p:spPr>
          <a:xfrm>
            <a:off x="868680" y="5532120"/>
            <a:ext cx="1828800" cy="320040"/>
          </a:xfrm>
          <a:prstGeom prst="rect">
            <a:avLst/>
          </a:prstGeom>
          <a:noFill/>
          <a:ln/>
        </p:spPr>
        <p:txBody>
          <a:bodyPr wrap="square" lIns="0" tIns="0" rIns="0" bIns="0" rtlCol="0" anchor="ctr"/>
          <a:lstStyle/>
          <a:p>
            <a:pPr indent="0" marL="0">
              <a:buNone/>
            </a:pPr>
            <a:r>
              <a:rPr lang="en-US" sz="1050" i="1" spc="200" kern="0" dirty="0">
                <a:solidFill>
                  <a:srgbClr val="6B6A63"/>
                </a:solidFill>
                <a:latin typeface="Calibri" pitchFamily="34" charset="0"/>
                <a:ea typeface="Calibri" pitchFamily="34" charset="-122"/>
                <a:cs typeface="Calibri" pitchFamily="34" charset="-120"/>
              </a:rPr>
              <a:t>M9 – M24</a:t>
            </a:r>
            <a:endParaRPr lang="en-US" sz="1050" dirty="0"/>
          </a:p>
        </p:txBody>
      </p:sp>
      <p:sp>
        <p:nvSpPr>
          <p:cNvPr id="25" name="Text 23"/>
          <p:cNvSpPr/>
          <p:nvPr/>
        </p:nvSpPr>
        <p:spPr>
          <a:xfrm>
            <a:off x="2926080" y="5138928"/>
            <a:ext cx="8595360" cy="411480"/>
          </a:xfrm>
          <a:prstGeom prst="rect">
            <a:avLst/>
          </a:prstGeom>
          <a:noFill/>
          <a:ln/>
        </p:spPr>
        <p:txBody>
          <a:bodyPr wrap="square" lIns="0" tIns="0" rIns="0" bIns="0" rtlCol="0" anchor="ctr"/>
          <a:lstStyle/>
          <a:p>
            <a:pPr indent="0" marL="0">
              <a:buNone/>
            </a:pPr>
            <a:r>
              <a:rPr lang="en-US" sz="1700" b="1" dirty="0">
                <a:solidFill>
                  <a:srgbClr val="1F2540"/>
                </a:solidFill>
                <a:latin typeface="Georgia" pitchFamily="34" charset="0"/>
                <a:ea typeface="Georgia" pitchFamily="34" charset="-122"/>
                <a:cs typeface="Georgia" pitchFamily="34" charset="-120"/>
              </a:rPr>
              <a:t>Broad paid + couple-plan loop</a:t>
            </a:r>
            <a:endParaRPr lang="en-US" sz="1700" dirty="0"/>
          </a:p>
        </p:txBody>
      </p:sp>
      <p:sp>
        <p:nvSpPr>
          <p:cNvPr id="26" name="Text 24"/>
          <p:cNvSpPr/>
          <p:nvPr/>
        </p:nvSpPr>
        <p:spPr>
          <a:xfrm>
            <a:off x="2926080" y="5577840"/>
            <a:ext cx="8595360" cy="594360"/>
          </a:xfrm>
          <a:prstGeom prst="rect">
            <a:avLst/>
          </a:prstGeom>
          <a:noFill/>
          <a:ln/>
        </p:spPr>
        <p:txBody>
          <a:bodyPr wrap="square" lIns="0" tIns="0" rIns="0" bIns="0" rtlCol="0" anchor="ctr"/>
          <a:lstStyle/>
          <a:p>
            <a:pPr indent="0" marL="0">
              <a:buNone/>
            </a:pPr>
            <a:r>
              <a:rPr lang="en-US" sz="1150" dirty="0">
                <a:solidFill>
                  <a:srgbClr val="2A2D34"/>
                </a:solidFill>
                <a:latin typeface="Calibri" pitchFamily="34" charset="0"/>
                <a:ea typeface="Calibri" pitchFamily="34" charset="-122"/>
                <a:cs typeface="Calibri" pitchFamily="34" charset="-120"/>
              </a:rPr>
              <a:t>Meta + TikTok paid, Google SEM on attachment keywords. Couple-plan referral shifts CAC toward organic. Target: 180k paying.</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2A6F4"/>
          </a:solidFill>
          <a:ln w="12700">
            <a:solidFill>
              <a:srgbClr val="92A6F4"/>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25</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2A6F4"/>
                </a:solidFill>
                <a:latin typeface="Calibri" pitchFamily="34" charset="0"/>
                <a:ea typeface="Calibri" pitchFamily="34" charset="-122"/>
                <a:cs typeface="Calibri" pitchFamily="34" charset="-120"/>
              </a:rPr>
              <a:t>24 · ACQUISITION</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Channel mix — organic-led, not paid-led.</a:t>
            </a:r>
            <a:endParaRPr lang="en-US" sz="3200" dirty="0"/>
          </a:p>
        </p:txBody>
      </p:sp>
      <p:graphicFrame>
        <p:nvGraphicFramePr>
          <p:cNvPr id="9" name="Chart 0" descr=""/>
          <p:cNvGraphicFramePr/>
          <p:nvPr/>
        </p:nvGraphicFramePr>
        <p:xfrm>
          <a:off x="548640" y="2194560"/>
          <a:ext cx="5029200" cy="42062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5989320" y="2194560"/>
            <a:ext cx="5715000" cy="914400"/>
          </a:xfrm>
          <a:prstGeom prst="rect">
            <a:avLst/>
          </a:prstGeom>
          <a:solidFill>
            <a:srgbClr val="FFFFFF"/>
          </a:solidFill>
          <a:ln w="12700">
            <a:solidFill>
              <a:srgbClr val="E5E0D5"/>
            </a:solidFill>
            <a:prstDash val="solid"/>
          </a:ln>
        </p:spPr>
      </p:sp>
      <p:sp>
        <p:nvSpPr>
          <p:cNvPr id="11" name="Shape 8"/>
          <p:cNvSpPr/>
          <p:nvPr/>
        </p:nvSpPr>
        <p:spPr>
          <a:xfrm>
            <a:off x="5989320" y="2194560"/>
            <a:ext cx="91440" cy="914400"/>
          </a:xfrm>
          <a:prstGeom prst="rect">
            <a:avLst/>
          </a:prstGeom>
          <a:solidFill>
            <a:srgbClr val="96D35F"/>
          </a:solidFill>
          <a:ln w="12700">
            <a:solidFill>
              <a:srgbClr val="96D35F"/>
            </a:solidFill>
            <a:prstDash val="solid"/>
          </a:ln>
        </p:spPr>
      </p:sp>
      <p:sp>
        <p:nvSpPr>
          <p:cNvPr id="12" name="Text 9"/>
          <p:cNvSpPr/>
          <p:nvPr/>
        </p:nvSpPr>
        <p:spPr>
          <a:xfrm>
            <a:off x="6217920" y="2286000"/>
            <a:ext cx="5303520" cy="320040"/>
          </a:xfrm>
          <a:prstGeom prst="rect">
            <a:avLst/>
          </a:prstGeom>
          <a:noFill/>
          <a:ln/>
        </p:spPr>
        <p:txBody>
          <a:bodyPr wrap="square" lIns="0" tIns="0" rIns="0" bIns="0" rtlCol="0" anchor="ctr"/>
          <a:lstStyle/>
          <a:p>
            <a:pPr indent="0" marL="0">
              <a:buNone/>
            </a:pPr>
            <a:r>
              <a:rPr lang="en-US" sz="1200" b="1" dirty="0">
                <a:solidFill>
                  <a:srgbClr val="1F2540"/>
                </a:solidFill>
                <a:latin typeface="Georgia" pitchFamily="34" charset="0"/>
                <a:ea typeface="Georgia" pitchFamily="34" charset="-122"/>
                <a:cs typeface="Georgia" pitchFamily="34" charset="-120"/>
              </a:rPr>
              <a:t>TikTok organic (28%)</a:t>
            </a:r>
            <a:endParaRPr lang="en-US" sz="1200" dirty="0"/>
          </a:p>
        </p:txBody>
      </p:sp>
      <p:sp>
        <p:nvSpPr>
          <p:cNvPr id="13" name="Text 10"/>
          <p:cNvSpPr/>
          <p:nvPr/>
        </p:nvSpPr>
        <p:spPr>
          <a:xfrm>
            <a:off x="6217920" y="2606040"/>
            <a:ext cx="5303520" cy="50292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Attachment-theory content + session clips (blurred). Owned handle @heyotisapp. Target: 1 viral/week.</a:t>
            </a:r>
            <a:endParaRPr lang="en-US" sz="1050" dirty="0"/>
          </a:p>
        </p:txBody>
      </p:sp>
      <p:sp>
        <p:nvSpPr>
          <p:cNvPr id="14" name="Shape 11"/>
          <p:cNvSpPr/>
          <p:nvPr/>
        </p:nvSpPr>
        <p:spPr>
          <a:xfrm>
            <a:off x="5989320" y="3246120"/>
            <a:ext cx="5715000" cy="914400"/>
          </a:xfrm>
          <a:prstGeom prst="rect">
            <a:avLst/>
          </a:prstGeom>
          <a:solidFill>
            <a:srgbClr val="FFFFFF"/>
          </a:solidFill>
          <a:ln w="12700">
            <a:solidFill>
              <a:srgbClr val="E5E0D5"/>
            </a:solidFill>
            <a:prstDash val="solid"/>
          </a:ln>
        </p:spPr>
      </p:sp>
      <p:sp>
        <p:nvSpPr>
          <p:cNvPr id="15" name="Shape 12"/>
          <p:cNvSpPr/>
          <p:nvPr/>
        </p:nvSpPr>
        <p:spPr>
          <a:xfrm>
            <a:off x="5989320" y="3246120"/>
            <a:ext cx="91440" cy="914400"/>
          </a:xfrm>
          <a:prstGeom prst="rect">
            <a:avLst/>
          </a:prstGeom>
          <a:solidFill>
            <a:srgbClr val="92A6F4"/>
          </a:solidFill>
          <a:ln w="12700">
            <a:solidFill>
              <a:srgbClr val="92A6F4"/>
            </a:solidFill>
            <a:prstDash val="solid"/>
          </a:ln>
        </p:spPr>
      </p:sp>
      <p:sp>
        <p:nvSpPr>
          <p:cNvPr id="16" name="Text 13"/>
          <p:cNvSpPr/>
          <p:nvPr/>
        </p:nvSpPr>
        <p:spPr>
          <a:xfrm>
            <a:off x="6217920" y="3337560"/>
            <a:ext cx="5303520" cy="320040"/>
          </a:xfrm>
          <a:prstGeom prst="rect">
            <a:avLst/>
          </a:prstGeom>
          <a:noFill/>
          <a:ln/>
        </p:spPr>
        <p:txBody>
          <a:bodyPr wrap="square" lIns="0" tIns="0" rIns="0" bIns="0" rtlCol="0" anchor="ctr"/>
          <a:lstStyle/>
          <a:p>
            <a:pPr indent="0" marL="0">
              <a:buNone/>
            </a:pPr>
            <a:r>
              <a:rPr lang="en-US" sz="1200" b="1" dirty="0">
                <a:solidFill>
                  <a:srgbClr val="1F2540"/>
                </a:solidFill>
                <a:latin typeface="Georgia" pitchFamily="34" charset="0"/>
                <a:ea typeface="Georgia" pitchFamily="34" charset="-122"/>
                <a:cs typeface="Georgia" pitchFamily="34" charset="-120"/>
              </a:rPr>
              <a:t>Creator partnerships (18%)</a:t>
            </a:r>
            <a:endParaRPr lang="en-US" sz="1200" dirty="0"/>
          </a:p>
        </p:txBody>
      </p:sp>
      <p:sp>
        <p:nvSpPr>
          <p:cNvPr id="17" name="Text 14"/>
          <p:cNvSpPr/>
          <p:nvPr/>
        </p:nvSpPr>
        <p:spPr>
          <a:xfrm>
            <a:off x="6217920" y="3657600"/>
            <a:ext cx="5303520" cy="50292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Long-form authentic usage with 30 creators in year one. Revenue share on linked signups.</a:t>
            </a:r>
            <a:endParaRPr lang="en-US" sz="1050" dirty="0"/>
          </a:p>
        </p:txBody>
      </p:sp>
      <p:sp>
        <p:nvSpPr>
          <p:cNvPr id="18" name="Shape 15"/>
          <p:cNvSpPr/>
          <p:nvPr/>
        </p:nvSpPr>
        <p:spPr>
          <a:xfrm>
            <a:off x="5989320" y="4297680"/>
            <a:ext cx="5715000" cy="914400"/>
          </a:xfrm>
          <a:prstGeom prst="rect">
            <a:avLst/>
          </a:prstGeom>
          <a:solidFill>
            <a:srgbClr val="FFFFFF"/>
          </a:solidFill>
          <a:ln w="12700">
            <a:solidFill>
              <a:srgbClr val="E5E0D5"/>
            </a:solidFill>
            <a:prstDash val="solid"/>
          </a:ln>
        </p:spPr>
      </p:sp>
      <p:sp>
        <p:nvSpPr>
          <p:cNvPr id="19" name="Shape 16"/>
          <p:cNvSpPr/>
          <p:nvPr/>
        </p:nvSpPr>
        <p:spPr>
          <a:xfrm>
            <a:off x="5989320" y="4297680"/>
            <a:ext cx="91440" cy="914400"/>
          </a:xfrm>
          <a:prstGeom prst="rect">
            <a:avLst/>
          </a:prstGeom>
          <a:solidFill>
            <a:srgbClr val="F67700"/>
          </a:solidFill>
          <a:ln w="12700">
            <a:solidFill>
              <a:srgbClr val="F67700"/>
            </a:solidFill>
            <a:prstDash val="solid"/>
          </a:ln>
        </p:spPr>
      </p:sp>
      <p:sp>
        <p:nvSpPr>
          <p:cNvPr id="20" name="Text 17"/>
          <p:cNvSpPr/>
          <p:nvPr/>
        </p:nvSpPr>
        <p:spPr>
          <a:xfrm>
            <a:off x="6217920" y="4389120"/>
            <a:ext cx="5303520" cy="320040"/>
          </a:xfrm>
          <a:prstGeom prst="rect">
            <a:avLst/>
          </a:prstGeom>
          <a:noFill/>
          <a:ln/>
        </p:spPr>
        <p:txBody>
          <a:bodyPr wrap="square" lIns="0" tIns="0" rIns="0" bIns="0" rtlCol="0" anchor="ctr"/>
          <a:lstStyle/>
          <a:p>
            <a:pPr indent="0" marL="0">
              <a:buNone/>
            </a:pPr>
            <a:r>
              <a:rPr lang="en-US" sz="1200" b="1" dirty="0">
                <a:solidFill>
                  <a:srgbClr val="1F2540"/>
                </a:solidFill>
                <a:latin typeface="Georgia" pitchFamily="34" charset="0"/>
                <a:ea typeface="Georgia" pitchFamily="34" charset="-122"/>
                <a:cs typeface="Georgia" pitchFamily="34" charset="-120"/>
              </a:rPr>
              <a:t>SEO (14%)</a:t>
            </a:r>
            <a:endParaRPr lang="en-US" sz="1200" dirty="0"/>
          </a:p>
        </p:txBody>
      </p:sp>
      <p:sp>
        <p:nvSpPr>
          <p:cNvPr id="21" name="Text 18"/>
          <p:cNvSpPr/>
          <p:nvPr/>
        </p:nvSpPr>
        <p:spPr>
          <a:xfrm>
            <a:off x="6217920" y="4709160"/>
            <a:ext cx="5303520" cy="50292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Own the 200 highest-intent queries — “how to apologise after a fight”, “anxious avoidant”, “repair attempts.”</a:t>
            </a:r>
            <a:endParaRPr lang="en-US" sz="1050" dirty="0"/>
          </a:p>
        </p:txBody>
      </p:sp>
      <p:sp>
        <p:nvSpPr>
          <p:cNvPr id="22" name="Shape 19"/>
          <p:cNvSpPr/>
          <p:nvPr/>
        </p:nvSpPr>
        <p:spPr>
          <a:xfrm>
            <a:off x="5989320" y="5349240"/>
            <a:ext cx="5715000" cy="914400"/>
          </a:xfrm>
          <a:prstGeom prst="rect">
            <a:avLst/>
          </a:prstGeom>
          <a:solidFill>
            <a:srgbClr val="FFFFFF"/>
          </a:solidFill>
          <a:ln w="12700">
            <a:solidFill>
              <a:srgbClr val="E5E0D5"/>
            </a:solidFill>
            <a:prstDash val="solid"/>
          </a:ln>
        </p:spPr>
      </p:sp>
      <p:sp>
        <p:nvSpPr>
          <p:cNvPr id="23" name="Shape 20"/>
          <p:cNvSpPr/>
          <p:nvPr/>
        </p:nvSpPr>
        <p:spPr>
          <a:xfrm>
            <a:off x="5989320" y="5349240"/>
            <a:ext cx="91440" cy="914400"/>
          </a:xfrm>
          <a:prstGeom prst="rect">
            <a:avLst/>
          </a:prstGeom>
          <a:solidFill>
            <a:srgbClr val="BD57F2"/>
          </a:solidFill>
          <a:ln w="12700">
            <a:solidFill>
              <a:srgbClr val="BD57F2"/>
            </a:solidFill>
            <a:prstDash val="solid"/>
          </a:ln>
        </p:spPr>
      </p:sp>
      <p:sp>
        <p:nvSpPr>
          <p:cNvPr id="24" name="Text 21"/>
          <p:cNvSpPr/>
          <p:nvPr/>
        </p:nvSpPr>
        <p:spPr>
          <a:xfrm>
            <a:off x="6217920" y="5440680"/>
            <a:ext cx="5303520" cy="320040"/>
          </a:xfrm>
          <a:prstGeom prst="rect">
            <a:avLst/>
          </a:prstGeom>
          <a:noFill/>
          <a:ln/>
        </p:spPr>
        <p:txBody>
          <a:bodyPr wrap="square" lIns="0" tIns="0" rIns="0" bIns="0" rtlCol="0" anchor="ctr"/>
          <a:lstStyle/>
          <a:p>
            <a:pPr indent="0" marL="0">
              <a:buNone/>
            </a:pPr>
            <a:r>
              <a:rPr lang="en-US" sz="1200" b="1" dirty="0">
                <a:solidFill>
                  <a:srgbClr val="1F2540"/>
                </a:solidFill>
                <a:latin typeface="Georgia" pitchFamily="34" charset="0"/>
                <a:ea typeface="Georgia" pitchFamily="34" charset="-122"/>
                <a:cs typeface="Georgia" pitchFamily="34" charset="-120"/>
              </a:rPr>
              <a:t>Paid social + SEM (26%)</a:t>
            </a:r>
            <a:endParaRPr lang="en-US" sz="1200" dirty="0"/>
          </a:p>
        </p:txBody>
      </p:sp>
      <p:sp>
        <p:nvSpPr>
          <p:cNvPr id="25" name="Text 22"/>
          <p:cNvSpPr/>
          <p:nvPr/>
        </p:nvSpPr>
        <p:spPr>
          <a:xfrm>
            <a:off x="6217920" y="5760720"/>
            <a:ext cx="5303520" cy="502920"/>
          </a:xfrm>
          <a:prstGeom prst="rect">
            <a:avLst/>
          </a:prstGeom>
          <a:noFill/>
          <a:ln/>
        </p:spPr>
        <p:txBody>
          <a:bodyPr wrap="square" lIns="0" tIns="0" rIns="0" bIns="0" rtlCol="0" anchor="ctr"/>
          <a:lstStyle/>
          <a:p>
            <a:pPr indent="0" marL="0">
              <a:buNone/>
            </a:pPr>
            <a:r>
              <a:rPr lang="en-US" sz="1050" dirty="0">
                <a:solidFill>
                  <a:srgbClr val="2A2D34"/>
                </a:solidFill>
                <a:latin typeface="Calibri" pitchFamily="34" charset="0"/>
                <a:ea typeface="Calibri" pitchFamily="34" charset="-122"/>
                <a:cs typeface="Calibri" pitchFamily="34" charset="-120"/>
              </a:rPr>
              <a:t>Launch spend ramps after organic hits 30k users. UGC-style creative out-performs polished 4:1.</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BD57F2"/>
          </a:solidFill>
          <a:ln w="12700">
            <a:solidFill>
              <a:srgbClr val="BD57F2"/>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26</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BD57F2"/>
                </a:solidFill>
                <a:latin typeface="Calibri" pitchFamily="34" charset="0"/>
                <a:ea typeface="Calibri" pitchFamily="34" charset="-122"/>
                <a:cs typeface="Calibri" pitchFamily="34" charset="-120"/>
              </a:rPr>
              <a:t>25 · PRODUCT ROADMAP</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12-month product roadmap.</a:t>
            </a:r>
            <a:endParaRPr lang="en-US" sz="3200" dirty="0"/>
          </a:p>
        </p:txBody>
      </p:sp>
      <p:sp>
        <p:nvSpPr>
          <p:cNvPr id="9" name="Shape 7"/>
          <p:cNvSpPr/>
          <p:nvPr/>
        </p:nvSpPr>
        <p:spPr>
          <a:xfrm>
            <a:off x="548640" y="2103120"/>
            <a:ext cx="2651760" cy="4297680"/>
          </a:xfrm>
          <a:prstGeom prst="rect">
            <a:avLst/>
          </a:prstGeom>
          <a:solidFill>
            <a:srgbClr val="FFFFFF"/>
          </a:solidFill>
          <a:ln w="12700">
            <a:solidFill>
              <a:srgbClr val="E5E0D5"/>
            </a:solidFill>
            <a:prstDash val="solid"/>
          </a:ln>
        </p:spPr>
      </p:sp>
      <p:sp>
        <p:nvSpPr>
          <p:cNvPr id="10" name="Shape 8"/>
          <p:cNvSpPr/>
          <p:nvPr/>
        </p:nvSpPr>
        <p:spPr>
          <a:xfrm>
            <a:off x="548640" y="2103120"/>
            <a:ext cx="2651760" cy="502920"/>
          </a:xfrm>
          <a:prstGeom prst="rect">
            <a:avLst/>
          </a:prstGeom>
          <a:solidFill>
            <a:srgbClr val="96D35F"/>
          </a:solidFill>
          <a:ln w="12700">
            <a:solidFill>
              <a:srgbClr val="96D35F"/>
            </a:solidFill>
            <a:prstDash val="solid"/>
          </a:ln>
        </p:spPr>
      </p:sp>
      <p:sp>
        <p:nvSpPr>
          <p:cNvPr id="11" name="Text 9"/>
          <p:cNvSpPr/>
          <p:nvPr/>
        </p:nvSpPr>
        <p:spPr>
          <a:xfrm>
            <a:off x="685800" y="2103120"/>
            <a:ext cx="2468880" cy="502920"/>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Q2 2026 — LAUNCH</a:t>
            </a:r>
            <a:endParaRPr lang="en-US" sz="1100" dirty="0"/>
          </a:p>
        </p:txBody>
      </p:sp>
      <p:sp>
        <p:nvSpPr>
          <p:cNvPr id="12" name="Shape 10"/>
          <p:cNvSpPr/>
          <p:nvPr/>
        </p:nvSpPr>
        <p:spPr>
          <a:xfrm>
            <a:off x="777240" y="2880360"/>
            <a:ext cx="137160" cy="137160"/>
          </a:xfrm>
          <a:prstGeom prst="ellipse">
            <a:avLst/>
          </a:prstGeom>
          <a:solidFill>
            <a:srgbClr val="96D35F"/>
          </a:solidFill>
          <a:ln w="12700">
            <a:solidFill>
              <a:srgbClr val="96D35F"/>
            </a:solidFill>
            <a:prstDash val="solid"/>
          </a:ln>
        </p:spPr>
      </p:sp>
      <p:sp>
        <p:nvSpPr>
          <p:cNvPr id="13" name="Text 11"/>
          <p:cNvSpPr/>
          <p:nvPr/>
        </p:nvSpPr>
        <p:spPr>
          <a:xfrm>
            <a:off x="1005840" y="278892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Public iOS + Android launch</a:t>
            </a:r>
            <a:endParaRPr lang="en-US" sz="1100" dirty="0"/>
          </a:p>
        </p:txBody>
      </p:sp>
      <p:sp>
        <p:nvSpPr>
          <p:cNvPr id="14" name="Shape 12"/>
          <p:cNvSpPr/>
          <p:nvPr/>
        </p:nvSpPr>
        <p:spPr>
          <a:xfrm>
            <a:off x="777240" y="3703320"/>
            <a:ext cx="137160" cy="137160"/>
          </a:xfrm>
          <a:prstGeom prst="ellipse">
            <a:avLst/>
          </a:prstGeom>
          <a:solidFill>
            <a:srgbClr val="96D35F"/>
          </a:solidFill>
          <a:ln w="12700">
            <a:solidFill>
              <a:srgbClr val="96D35F"/>
            </a:solidFill>
            <a:prstDash val="solid"/>
          </a:ln>
        </p:spPr>
      </p:sp>
      <p:sp>
        <p:nvSpPr>
          <p:cNvPr id="15" name="Text 13"/>
          <p:cNvSpPr/>
          <p:nvPr/>
        </p:nvSpPr>
        <p:spPr>
          <a:xfrm>
            <a:off x="1005840" y="361188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5 assessments live</a:t>
            </a:r>
            <a:endParaRPr lang="en-US" sz="1100" dirty="0"/>
          </a:p>
        </p:txBody>
      </p:sp>
      <p:sp>
        <p:nvSpPr>
          <p:cNvPr id="16" name="Shape 14"/>
          <p:cNvSpPr/>
          <p:nvPr/>
        </p:nvSpPr>
        <p:spPr>
          <a:xfrm>
            <a:off x="777240" y="4526280"/>
            <a:ext cx="137160" cy="137160"/>
          </a:xfrm>
          <a:prstGeom prst="ellipse">
            <a:avLst/>
          </a:prstGeom>
          <a:solidFill>
            <a:srgbClr val="96D35F"/>
          </a:solidFill>
          <a:ln w="12700">
            <a:solidFill>
              <a:srgbClr val="96D35F"/>
            </a:solidFill>
            <a:prstDash val="solid"/>
          </a:ln>
        </p:spPr>
      </p:sp>
      <p:sp>
        <p:nvSpPr>
          <p:cNvPr id="17" name="Text 15"/>
          <p:cNvSpPr/>
          <p:nvPr/>
        </p:nvSpPr>
        <p:spPr>
          <a:xfrm>
            <a:off x="1005840" y="443484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Couple linking + invite codes</a:t>
            </a:r>
            <a:endParaRPr lang="en-US" sz="1100" dirty="0"/>
          </a:p>
        </p:txBody>
      </p:sp>
      <p:sp>
        <p:nvSpPr>
          <p:cNvPr id="18" name="Shape 16"/>
          <p:cNvSpPr/>
          <p:nvPr/>
        </p:nvSpPr>
        <p:spPr>
          <a:xfrm>
            <a:off x="777240" y="5349240"/>
            <a:ext cx="137160" cy="137160"/>
          </a:xfrm>
          <a:prstGeom prst="ellipse">
            <a:avLst/>
          </a:prstGeom>
          <a:solidFill>
            <a:srgbClr val="96D35F"/>
          </a:solidFill>
          <a:ln w="12700">
            <a:solidFill>
              <a:srgbClr val="96D35F"/>
            </a:solidFill>
            <a:prstDash val="solid"/>
          </a:ln>
        </p:spPr>
      </p:sp>
      <p:sp>
        <p:nvSpPr>
          <p:cNvPr id="19" name="Text 17"/>
          <p:cNvSpPr/>
          <p:nvPr/>
        </p:nvSpPr>
        <p:spPr>
          <a:xfrm>
            <a:off x="1005840" y="525780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Core 4-step session flow</a:t>
            </a:r>
            <a:endParaRPr lang="en-US" sz="1100" dirty="0"/>
          </a:p>
        </p:txBody>
      </p:sp>
      <p:sp>
        <p:nvSpPr>
          <p:cNvPr id="20" name="Shape 18"/>
          <p:cNvSpPr/>
          <p:nvPr/>
        </p:nvSpPr>
        <p:spPr>
          <a:xfrm>
            <a:off x="3383280" y="2103120"/>
            <a:ext cx="2651760" cy="4297680"/>
          </a:xfrm>
          <a:prstGeom prst="rect">
            <a:avLst/>
          </a:prstGeom>
          <a:solidFill>
            <a:srgbClr val="FFFFFF"/>
          </a:solidFill>
          <a:ln w="12700">
            <a:solidFill>
              <a:srgbClr val="E5E0D5"/>
            </a:solidFill>
            <a:prstDash val="solid"/>
          </a:ln>
        </p:spPr>
      </p:sp>
      <p:sp>
        <p:nvSpPr>
          <p:cNvPr id="21" name="Shape 19"/>
          <p:cNvSpPr/>
          <p:nvPr/>
        </p:nvSpPr>
        <p:spPr>
          <a:xfrm>
            <a:off x="3383280" y="2103120"/>
            <a:ext cx="2651760" cy="502920"/>
          </a:xfrm>
          <a:prstGeom prst="rect">
            <a:avLst/>
          </a:prstGeom>
          <a:solidFill>
            <a:srgbClr val="92A6F4"/>
          </a:solidFill>
          <a:ln w="12700">
            <a:solidFill>
              <a:srgbClr val="92A6F4"/>
            </a:solidFill>
            <a:prstDash val="solid"/>
          </a:ln>
        </p:spPr>
      </p:sp>
      <p:sp>
        <p:nvSpPr>
          <p:cNvPr id="22" name="Text 20"/>
          <p:cNvSpPr/>
          <p:nvPr/>
        </p:nvSpPr>
        <p:spPr>
          <a:xfrm>
            <a:off x="3520440" y="2103120"/>
            <a:ext cx="2468880" cy="502920"/>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Q3 2026 — DEPTH</a:t>
            </a:r>
            <a:endParaRPr lang="en-US" sz="1100" dirty="0"/>
          </a:p>
        </p:txBody>
      </p:sp>
      <p:sp>
        <p:nvSpPr>
          <p:cNvPr id="23" name="Shape 21"/>
          <p:cNvSpPr/>
          <p:nvPr/>
        </p:nvSpPr>
        <p:spPr>
          <a:xfrm>
            <a:off x="3611880" y="2880360"/>
            <a:ext cx="137160" cy="137160"/>
          </a:xfrm>
          <a:prstGeom prst="ellipse">
            <a:avLst/>
          </a:prstGeom>
          <a:solidFill>
            <a:srgbClr val="92A6F4"/>
          </a:solidFill>
          <a:ln w="12700">
            <a:solidFill>
              <a:srgbClr val="92A6F4"/>
            </a:solidFill>
            <a:prstDash val="solid"/>
          </a:ln>
        </p:spPr>
      </p:sp>
      <p:sp>
        <p:nvSpPr>
          <p:cNvPr id="24" name="Text 22"/>
          <p:cNvSpPr/>
          <p:nvPr/>
        </p:nvSpPr>
        <p:spPr>
          <a:xfrm>
            <a:off x="3840480" y="278892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Voice vent (expo-speech-recognition)</a:t>
            </a:r>
            <a:endParaRPr lang="en-US" sz="1100" dirty="0"/>
          </a:p>
        </p:txBody>
      </p:sp>
      <p:sp>
        <p:nvSpPr>
          <p:cNvPr id="25" name="Shape 23"/>
          <p:cNvSpPr/>
          <p:nvPr/>
        </p:nvSpPr>
        <p:spPr>
          <a:xfrm>
            <a:off x="3611880" y="3703320"/>
            <a:ext cx="137160" cy="137160"/>
          </a:xfrm>
          <a:prstGeom prst="ellipse">
            <a:avLst/>
          </a:prstGeom>
          <a:solidFill>
            <a:srgbClr val="92A6F4"/>
          </a:solidFill>
          <a:ln w="12700">
            <a:solidFill>
              <a:srgbClr val="92A6F4"/>
            </a:solidFill>
            <a:prstDash val="solid"/>
          </a:ln>
        </p:spPr>
      </p:sp>
      <p:sp>
        <p:nvSpPr>
          <p:cNvPr id="26" name="Text 24"/>
          <p:cNvSpPr/>
          <p:nvPr/>
        </p:nvSpPr>
        <p:spPr>
          <a:xfrm>
            <a:off x="3840480" y="361188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Session memory + continuity</a:t>
            </a:r>
            <a:endParaRPr lang="en-US" sz="1100" dirty="0"/>
          </a:p>
        </p:txBody>
      </p:sp>
      <p:sp>
        <p:nvSpPr>
          <p:cNvPr id="27" name="Shape 25"/>
          <p:cNvSpPr/>
          <p:nvPr/>
        </p:nvSpPr>
        <p:spPr>
          <a:xfrm>
            <a:off x="3611880" y="4526280"/>
            <a:ext cx="137160" cy="137160"/>
          </a:xfrm>
          <a:prstGeom prst="ellipse">
            <a:avLst/>
          </a:prstGeom>
          <a:solidFill>
            <a:srgbClr val="92A6F4"/>
          </a:solidFill>
          <a:ln w="12700">
            <a:solidFill>
              <a:srgbClr val="92A6F4"/>
            </a:solidFill>
            <a:prstDash val="solid"/>
          </a:ln>
        </p:spPr>
      </p:sp>
      <p:sp>
        <p:nvSpPr>
          <p:cNvPr id="28" name="Text 26"/>
          <p:cNvSpPr/>
          <p:nvPr/>
        </p:nvSpPr>
        <p:spPr>
          <a:xfrm>
            <a:off x="3840480" y="443484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Partner-shared learnings</a:t>
            </a:r>
            <a:endParaRPr lang="en-US" sz="1100" dirty="0"/>
          </a:p>
        </p:txBody>
      </p:sp>
      <p:sp>
        <p:nvSpPr>
          <p:cNvPr id="29" name="Shape 27"/>
          <p:cNvSpPr/>
          <p:nvPr/>
        </p:nvSpPr>
        <p:spPr>
          <a:xfrm>
            <a:off x="3611880" y="5349240"/>
            <a:ext cx="137160" cy="137160"/>
          </a:xfrm>
          <a:prstGeom prst="ellipse">
            <a:avLst/>
          </a:prstGeom>
          <a:solidFill>
            <a:srgbClr val="92A6F4"/>
          </a:solidFill>
          <a:ln w="12700">
            <a:solidFill>
              <a:srgbClr val="92A6F4"/>
            </a:solidFill>
            <a:prstDash val="solid"/>
          </a:ln>
        </p:spPr>
      </p:sp>
      <p:sp>
        <p:nvSpPr>
          <p:cNvPr id="30" name="Text 28"/>
          <p:cNvSpPr/>
          <p:nvPr/>
        </p:nvSpPr>
        <p:spPr>
          <a:xfrm>
            <a:off x="3840480" y="525780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Weekly reflection ritual</a:t>
            </a:r>
            <a:endParaRPr lang="en-US" sz="1100" dirty="0"/>
          </a:p>
        </p:txBody>
      </p:sp>
      <p:sp>
        <p:nvSpPr>
          <p:cNvPr id="31" name="Shape 29"/>
          <p:cNvSpPr/>
          <p:nvPr/>
        </p:nvSpPr>
        <p:spPr>
          <a:xfrm>
            <a:off x="6217920" y="2103120"/>
            <a:ext cx="2651760" cy="4297680"/>
          </a:xfrm>
          <a:prstGeom prst="rect">
            <a:avLst/>
          </a:prstGeom>
          <a:solidFill>
            <a:srgbClr val="FFFFFF"/>
          </a:solidFill>
          <a:ln w="12700">
            <a:solidFill>
              <a:srgbClr val="E5E0D5"/>
            </a:solidFill>
            <a:prstDash val="solid"/>
          </a:ln>
        </p:spPr>
      </p:sp>
      <p:sp>
        <p:nvSpPr>
          <p:cNvPr id="32" name="Shape 30"/>
          <p:cNvSpPr/>
          <p:nvPr/>
        </p:nvSpPr>
        <p:spPr>
          <a:xfrm>
            <a:off x="6217920" y="2103120"/>
            <a:ext cx="2651760" cy="502920"/>
          </a:xfrm>
          <a:prstGeom prst="rect">
            <a:avLst/>
          </a:prstGeom>
          <a:solidFill>
            <a:srgbClr val="F67700"/>
          </a:solidFill>
          <a:ln w="12700">
            <a:solidFill>
              <a:srgbClr val="F67700"/>
            </a:solidFill>
            <a:prstDash val="solid"/>
          </a:ln>
        </p:spPr>
      </p:sp>
      <p:sp>
        <p:nvSpPr>
          <p:cNvPr id="33" name="Text 31"/>
          <p:cNvSpPr/>
          <p:nvPr/>
        </p:nvSpPr>
        <p:spPr>
          <a:xfrm>
            <a:off x="6355080" y="2103120"/>
            <a:ext cx="2468880" cy="502920"/>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Q4 2026 — RITUAL</a:t>
            </a:r>
            <a:endParaRPr lang="en-US" sz="1100" dirty="0"/>
          </a:p>
        </p:txBody>
      </p:sp>
      <p:sp>
        <p:nvSpPr>
          <p:cNvPr id="34" name="Shape 32"/>
          <p:cNvSpPr/>
          <p:nvPr/>
        </p:nvSpPr>
        <p:spPr>
          <a:xfrm>
            <a:off x="6446520" y="2880360"/>
            <a:ext cx="137160" cy="137160"/>
          </a:xfrm>
          <a:prstGeom prst="ellipse">
            <a:avLst/>
          </a:prstGeom>
          <a:solidFill>
            <a:srgbClr val="F67700"/>
          </a:solidFill>
          <a:ln w="12700">
            <a:solidFill>
              <a:srgbClr val="F67700"/>
            </a:solidFill>
            <a:prstDash val="solid"/>
          </a:ln>
        </p:spPr>
      </p:sp>
      <p:sp>
        <p:nvSpPr>
          <p:cNvPr id="35" name="Text 33"/>
          <p:cNvSpPr/>
          <p:nvPr/>
        </p:nvSpPr>
        <p:spPr>
          <a:xfrm>
            <a:off x="6675120" y="278892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Couple Plan (dual-seat)</a:t>
            </a:r>
            <a:endParaRPr lang="en-US" sz="1100" dirty="0"/>
          </a:p>
        </p:txBody>
      </p:sp>
      <p:sp>
        <p:nvSpPr>
          <p:cNvPr id="36" name="Shape 34"/>
          <p:cNvSpPr/>
          <p:nvPr/>
        </p:nvSpPr>
        <p:spPr>
          <a:xfrm>
            <a:off x="6446520" y="3703320"/>
            <a:ext cx="137160" cy="137160"/>
          </a:xfrm>
          <a:prstGeom prst="ellipse">
            <a:avLst/>
          </a:prstGeom>
          <a:solidFill>
            <a:srgbClr val="F67700"/>
          </a:solidFill>
          <a:ln w="12700">
            <a:solidFill>
              <a:srgbClr val="F67700"/>
            </a:solidFill>
            <a:prstDash val="solid"/>
          </a:ln>
        </p:spPr>
      </p:sp>
      <p:sp>
        <p:nvSpPr>
          <p:cNvPr id="37" name="Text 35"/>
          <p:cNvSpPr/>
          <p:nvPr/>
        </p:nvSpPr>
        <p:spPr>
          <a:xfrm>
            <a:off x="6675120" y="361188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Scheduled check-ins + rituals</a:t>
            </a:r>
            <a:endParaRPr lang="en-US" sz="1100" dirty="0"/>
          </a:p>
        </p:txBody>
      </p:sp>
      <p:sp>
        <p:nvSpPr>
          <p:cNvPr id="38" name="Shape 36"/>
          <p:cNvSpPr/>
          <p:nvPr/>
        </p:nvSpPr>
        <p:spPr>
          <a:xfrm>
            <a:off x="6446520" y="4526280"/>
            <a:ext cx="137160" cy="137160"/>
          </a:xfrm>
          <a:prstGeom prst="ellipse">
            <a:avLst/>
          </a:prstGeom>
          <a:solidFill>
            <a:srgbClr val="F67700"/>
          </a:solidFill>
          <a:ln w="12700">
            <a:solidFill>
              <a:srgbClr val="F67700"/>
            </a:solidFill>
            <a:prstDash val="solid"/>
          </a:ln>
        </p:spPr>
      </p:sp>
      <p:sp>
        <p:nvSpPr>
          <p:cNvPr id="39" name="Text 37"/>
          <p:cNvSpPr/>
          <p:nvPr/>
        </p:nvSpPr>
        <p:spPr>
          <a:xfrm>
            <a:off x="6675120" y="443484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Relationship retrospectives</a:t>
            </a:r>
            <a:endParaRPr lang="en-US" sz="1100" dirty="0"/>
          </a:p>
        </p:txBody>
      </p:sp>
      <p:sp>
        <p:nvSpPr>
          <p:cNvPr id="40" name="Shape 38"/>
          <p:cNvSpPr/>
          <p:nvPr/>
        </p:nvSpPr>
        <p:spPr>
          <a:xfrm>
            <a:off x="6446520" y="5349240"/>
            <a:ext cx="137160" cy="137160"/>
          </a:xfrm>
          <a:prstGeom prst="ellipse">
            <a:avLst/>
          </a:prstGeom>
          <a:solidFill>
            <a:srgbClr val="F67700"/>
          </a:solidFill>
          <a:ln w="12700">
            <a:solidFill>
              <a:srgbClr val="F67700"/>
            </a:solidFill>
            <a:prstDash val="solid"/>
          </a:ln>
        </p:spPr>
      </p:sp>
      <p:sp>
        <p:nvSpPr>
          <p:cNvPr id="41" name="Text 39"/>
          <p:cNvSpPr/>
          <p:nvPr/>
        </p:nvSpPr>
        <p:spPr>
          <a:xfrm>
            <a:off x="6675120" y="525780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Export + archive</a:t>
            </a:r>
            <a:endParaRPr lang="en-US" sz="1100" dirty="0"/>
          </a:p>
        </p:txBody>
      </p:sp>
      <p:sp>
        <p:nvSpPr>
          <p:cNvPr id="42" name="Shape 40"/>
          <p:cNvSpPr/>
          <p:nvPr/>
        </p:nvSpPr>
        <p:spPr>
          <a:xfrm>
            <a:off x="9052560" y="2103120"/>
            <a:ext cx="2651760" cy="4297680"/>
          </a:xfrm>
          <a:prstGeom prst="rect">
            <a:avLst/>
          </a:prstGeom>
          <a:solidFill>
            <a:srgbClr val="FFFFFF"/>
          </a:solidFill>
          <a:ln w="12700">
            <a:solidFill>
              <a:srgbClr val="E5E0D5"/>
            </a:solidFill>
            <a:prstDash val="solid"/>
          </a:ln>
        </p:spPr>
      </p:sp>
      <p:sp>
        <p:nvSpPr>
          <p:cNvPr id="43" name="Shape 41"/>
          <p:cNvSpPr/>
          <p:nvPr/>
        </p:nvSpPr>
        <p:spPr>
          <a:xfrm>
            <a:off x="9052560" y="2103120"/>
            <a:ext cx="2651760" cy="502920"/>
          </a:xfrm>
          <a:prstGeom prst="rect">
            <a:avLst/>
          </a:prstGeom>
          <a:solidFill>
            <a:srgbClr val="BD57F2"/>
          </a:solidFill>
          <a:ln w="12700">
            <a:solidFill>
              <a:srgbClr val="BD57F2"/>
            </a:solidFill>
            <a:prstDash val="solid"/>
          </a:ln>
        </p:spPr>
      </p:sp>
      <p:sp>
        <p:nvSpPr>
          <p:cNvPr id="44" name="Text 42"/>
          <p:cNvSpPr/>
          <p:nvPr/>
        </p:nvSpPr>
        <p:spPr>
          <a:xfrm>
            <a:off x="9189720" y="2103120"/>
            <a:ext cx="2468880" cy="502920"/>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Q1 2027 — LEVERAGE</a:t>
            </a:r>
            <a:endParaRPr lang="en-US" sz="1100" dirty="0"/>
          </a:p>
        </p:txBody>
      </p:sp>
      <p:sp>
        <p:nvSpPr>
          <p:cNvPr id="45" name="Shape 43"/>
          <p:cNvSpPr/>
          <p:nvPr/>
        </p:nvSpPr>
        <p:spPr>
          <a:xfrm>
            <a:off x="9281160" y="2880360"/>
            <a:ext cx="137160" cy="137160"/>
          </a:xfrm>
          <a:prstGeom prst="ellipse">
            <a:avLst/>
          </a:prstGeom>
          <a:solidFill>
            <a:srgbClr val="BD57F2"/>
          </a:solidFill>
          <a:ln w="12700">
            <a:solidFill>
              <a:srgbClr val="BD57F2"/>
            </a:solidFill>
            <a:prstDash val="solid"/>
          </a:ln>
        </p:spPr>
      </p:sp>
      <p:sp>
        <p:nvSpPr>
          <p:cNvPr id="46" name="Text 44"/>
          <p:cNvSpPr/>
          <p:nvPr/>
        </p:nvSpPr>
        <p:spPr>
          <a:xfrm>
            <a:off x="9509760" y="278892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Therapist-assisted tier (B2B2C)</a:t>
            </a:r>
            <a:endParaRPr lang="en-US" sz="1100" dirty="0"/>
          </a:p>
        </p:txBody>
      </p:sp>
      <p:sp>
        <p:nvSpPr>
          <p:cNvPr id="47" name="Shape 45"/>
          <p:cNvSpPr/>
          <p:nvPr/>
        </p:nvSpPr>
        <p:spPr>
          <a:xfrm>
            <a:off x="9281160" y="3703320"/>
            <a:ext cx="137160" cy="137160"/>
          </a:xfrm>
          <a:prstGeom prst="ellipse">
            <a:avLst/>
          </a:prstGeom>
          <a:solidFill>
            <a:srgbClr val="BD57F2"/>
          </a:solidFill>
          <a:ln w="12700">
            <a:solidFill>
              <a:srgbClr val="BD57F2"/>
            </a:solidFill>
            <a:prstDash val="solid"/>
          </a:ln>
        </p:spPr>
      </p:sp>
      <p:sp>
        <p:nvSpPr>
          <p:cNvPr id="48" name="Text 46"/>
          <p:cNvSpPr/>
          <p:nvPr/>
        </p:nvSpPr>
        <p:spPr>
          <a:xfrm>
            <a:off x="9509760" y="361188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Enterprise EAP pilots</a:t>
            </a:r>
            <a:endParaRPr lang="en-US" sz="1100" dirty="0"/>
          </a:p>
        </p:txBody>
      </p:sp>
      <p:sp>
        <p:nvSpPr>
          <p:cNvPr id="49" name="Shape 47"/>
          <p:cNvSpPr/>
          <p:nvPr/>
        </p:nvSpPr>
        <p:spPr>
          <a:xfrm>
            <a:off x="9281160" y="4526280"/>
            <a:ext cx="137160" cy="137160"/>
          </a:xfrm>
          <a:prstGeom prst="ellipse">
            <a:avLst/>
          </a:prstGeom>
          <a:solidFill>
            <a:srgbClr val="BD57F2"/>
          </a:solidFill>
          <a:ln w="12700">
            <a:solidFill>
              <a:srgbClr val="BD57F2"/>
            </a:solidFill>
            <a:prstDash val="solid"/>
          </a:ln>
        </p:spPr>
      </p:sp>
      <p:sp>
        <p:nvSpPr>
          <p:cNvPr id="50" name="Text 48"/>
          <p:cNvSpPr/>
          <p:nvPr/>
        </p:nvSpPr>
        <p:spPr>
          <a:xfrm>
            <a:off x="9509760" y="443484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Android Wear + widgets</a:t>
            </a:r>
            <a:endParaRPr lang="en-US" sz="1100" dirty="0"/>
          </a:p>
        </p:txBody>
      </p:sp>
      <p:sp>
        <p:nvSpPr>
          <p:cNvPr id="51" name="Shape 49"/>
          <p:cNvSpPr/>
          <p:nvPr/>
        </p:nvSpPr>
        <p:spPr>
          <a:xfrm>
            <a:off x="9281160" y="5349240"/>
            <a:ext cx="137160" cy="137160"/>
          </a:xfrm>
          <a:prstGeom prst="ellipse">
            <a:avLst/>
          </a:prstGeom>
          <a:solidFill>
            <a:srgbClr val="BD57F2"/>
          </a:solidFill>
          <a:ln w="12700">
            <a:solidFill>
              <a:srgbClr val="BD57F2"/>
            </a:solidFill>
            <a:prstDash val="solid"/>
          </a:ln>
        </p:spPr>
      </p:sp>
      <p:sp>
        <p:nvSpPr>
          <p:cNvPr id="52" name="Text 50"/>
          <p:cNvSpPr/>
          <p:nvPr/>
        </p:nvSpPr>
        <p:spPr>
          <a:xfrm>
            <a:off x="9509760" y="5257800"/>
            <a:ext cx="2148840" cy="731520"/>
          </a:xfrm>
          <a:prstGeom prst="rect">
            <a:avLst/>
          </a:prstGeom>
          <a:noFill/>
          <a:ln/>
        </p:spPr>
        <p:txBody>
          <a:bodyPr wrap="square" lIns="0" tIns="0" rIns="0" bIns="0" rtlCol="0" anchor="ctr"/>
          <a:lstStyle/>
          <a:p>
            <a:pPr indent="0" marL="0">
              <a:buNone/>
            </a:pPr>
            <a:r>
              <a:rPr lang="en-US" sz="1100" dirty="0">
                <a:solidFill>
                  <a:srgbClr val="2A2D34"/>
                </a:solidFill>
                <a:latin typeface="Calibri" pitchFamily="34" charset="0"/>
                <a:ea typeface="Calibri" pitchFamily="34" charset="-122"/>
                <a:cs typeface="Calibri" pitchFamily="34" charset="-120"/>
              </a:rPr>
              <a:t>Localisation: ES, PT-BR, DE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F67700"/>
          </a:solidFill>
          <a:ln w="12700">
            <a:solidFill>
              <a:srgbClr val="F67700"/>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27</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F67700"/>
                </a:solidFill>
                <a:latin typeface="Calibri" pitchFamily="34" charset="0"/>
                <a:ea typeface="Calibri" pitchFamily="34" charset="-122"/>
                <a:cs typeface="Calibri" pitchFamily="34" charset="-120"/>
              </a:rPr>
              <a:t>26 · RISK REGISTER</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Five material risks, five named mitigations.</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155680" cy="914400"/>
        </p:xfrm>
        <a:graphic>
          <a:graphicData uri="http://schemas.openxmlformats.org/drawingml/2006/table">
            <a:tbl>
              <a:tblPr/>
              <a:tblGrid>
                <a:gridCol w="4023360"/>
                <a:gridCol w="1371600"/>
                <a:gridCol w="1371600"/>
                <a:gridCol w="4389120"/>
              </a:tblGrid>
              <a:tr h="6858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Likelihood</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Impact</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Mitigation</a:t>
                      </a:r>
                      <a:endParaRPr lang="en-US" sz="1100" dirty="0">
                        <a:latin typeface="Calibri" charset="0"/>
                        <a:ea typeface="Calibri" charset="0"/>
                        <a:cs typeface="Calibri" charset="0"/>
                      </a:endParaRPr>
                    </a:p>
                  </a:txBody>
                  <a:tcPr marL="91440" marR="91440" marT="45720" marB="45720">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solidFill>
                      <a:srgbClr val="1F2540"/>
                    </a:solidFill>
                  </a:tcPr>
                </a:tc>
              </a:tr>
              <a:tr h="6858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Clinical liability — user acts on Otis output in crisis</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F67700"/>
                          </a:solidFill>
                          <a:latin typeface="Calibri" pitchFamily="34" charset="0"/>
                          <a:ea typeface="Calibri" pitchFamily="34" charset="-122"/>
                          <a:cs typeface="Calibri" pitchFamily="34" charset="-120"/>
                        </a:rPr>
                        <a:t>Med</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B83232"/>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Crisis detection + regional helplines + explicit non-therapy framing (live in-app)</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6858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Model cost spike — Anthropic pricing change</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F67700"/>
                          </a:solidFill>
                          <a:latin typeface="Calibri" pitchFamily="34" charset="0"/>
                          <a:ea typeface="Calibri" pitchFamily="34" charset="-122"/>
                          <a:cs typeface="Calibri" pitchFamily="34" charset="-120"/>
                        </a:rPr>
                        <a:t>Med</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F67700"/>
                          </a:solidFill>
                          <a:latin typeface="Calibri" pitchFamily="34" charset="0"/>
                          <a:ea typeface="Calibri" pitchFamily="34" charset="-122"/>
                          <a:cs typeface="Calibri" pitchFamily="34" charset="-120"/>
                        </a:rPr>
                        <a:t>Med</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Dual-model support (Haiku/Opus); cost-cap per user; contractual cap with provider</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6858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Platform risk — App Store rejects mental-health AI</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96D35F"/>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B83232"/>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Apple Health &amp; Fitness category precedent; clinical board review; PEGI/IARC pre-submission</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6858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Privacy breach — vent data exposure</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96D35F"/>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B83232"/>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RLS at DB layer; quarterly pen-test; SOC 2 Type I by M12; published data-use report</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r h="685800">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Incumbent fast-follow — Paired/Lasting copies flow</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B83232"/>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F67700"/>
                          </a:solidFill>
                          <a:latin typeface="Calibri" pitchFamily="34" charset="0"/>
                          <a:ea typeface="Calibri" pitchFamily="34" charset="-122"/>
                          <a:cs typeface="Calibri" pitchFamily="34" charset="-120"/>
                        </a:rPr>
                        <a:t>Med</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c>
                  <a:txBody>
                    <a:bodyPr/>
                    <a:lstStyle/>
                    <a:p>
                      <a:pPr indent="0" marL="0">
                        <a:buNone/>
                      </a:pPr>
                      <a:r>
                        <a:rPr lang="en-US" sz="1100" dirty="0">
                          <a:solidFill>
                            <a:srgbClr val="2A2D34"/>
                          </a:solidFill>
                          <a:latin typeface="Calibri" pitchFamily="34" charset="0"/>
                          <a:ea typeface="Calibri" pitchFamily="34" charset="-122"/>
                          <a:cs typeface="Calibri" pitchFamily="34" charset="-120"/>
                        </a:rPr>
                        <a:t>Personalisation + private-vent architecture compounds; 18-month data moat lead</a:t>
                      </a:r>
                      <a:endParaRPr lang="en-US" sz="1100" dirty="0">
                        <a:latin typeface="Calibri" charset="0"/>
                        <a:ea typeface="Calibri" charset="0"/>
                        <a:cs typeface="Calibri" charset="0"/>
                      </a:endParaRPr>
                    </a:p>
                  </a:txBody>
                  <a:tcPr marL="91440" marR="91440" marT="45720" marB="45720" anchor="ctr">
                    <a:lnL w="6350" cap="flat" cmpd="sng" algn="ctr">
                      <a:solidFill>
                        <a:srgbClr val="E5E0D5"/>
                      </a:solidFill>
                      <a:prstDash val="solid"/>
                      <a:round/>
                      <a:headEnd type="none" w="med" len="med"/>
                      <a:tailEnd type="none" w="med" len="med"/>
                    </a:lnL>
                    <a:lnR w="6350" cap="flat" cmpd="sng" algn="ctr">
                      <a:solidFill>
                        <a:srgbClr val="E5E0D5"/>
                      </a:solidFill>
                      <a:prstDash val="solid"/>
                      <a:round/>
                      <a:headEnd type="none" w="med" len="med"/>
                      <a:tailEnd type="none" w="med" len="med"/>
                    </a:lnR>
                    <a:lnT w="6350" cap="flat" cmpd="sng" algn="ctr">
                      <a:solidFill>
                        <a:srgbClr val="E5E0D5"/>
                      </a:solidFill>
                      <a:prstDash val="solid"/>
                      <a:round/>
                      <a:headEnd type="none" w="med" len="med"/>
                      <a:tailEnd type="none" w="med" len="med"/>
                    </a:lnT>
                    <a:lnB w="6350" cap="flat" cmpd="sng" algn="ctr">
                      <a:solidFill>
                        <a:srgbClr val="E5E0D5"/>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2161520" cy="45720"/>
          </a:xfrm>
          <a:prstGeom prst="rect">
            <a:avLst/>
          </a:prstGeom>
          <a:solidFill>
            <a:srgbClr val="1F2540"/>
          </a:solidFill>
          <a:ln w="12700">
            <a:solidFill>
              <a:srgbClr val="1F2540"/>
            </a:solidFill>
            <a:prstDash val="solid"/>
          </a:ln>
        </p:spPr>
      </p:sp>
      <p:sp>
        <p:nvSpPr>
          <p:cNvPr id="3" name="Shape 1"/>
          <p:cNvSpPr/>
          <p:nvPr/>
        </p:nvSpPr>
        <p:spPr>
          <a:xfrm>
            <a:off x="0" y="0"/>
            <a:ext cx="137160" cy="6858000"/>
          </a:xfrm>
          <a:prstGeom prst="rect">
            <a:avLst/>
          </a:prstGeom>
          <a:solidFill>
            <a:srgbClr val="96D35F"/>
          </a:solidFill>
          <a:ln w="12700">
            <a:solidFill>
              <a:srgbClr val="96D35F"/>
            </a:solidFill>
            <a:prstDash val="solid"/>
          </a:ln>
        </p:spPr>
      </p:sp>
      <p:sp>
        <p:nvSpPr>
          <p:cNvPr id="4" name="Shape 2"/>
          <p:cNvSpPr/>
          <p:nvPr/>
        </p:nvSpPr>
        <p:spPr>
          <a:xfrm>
            <a:off x="0" y="6720840"/>
            <a:ext cx="12161520" cy="18288"/>
          </a:xfrm>
          <a:prstGeom prst="rect">
            <a:avLst/>
          </a:prstGeom>
          <a:solidFill>
            <a:srgbClr val="E5E0D5"/>
          </a:solidFill>
          <a:ln w="12700">
            <a:solidFill>
              <a:srgbClr val="E5E0D5"/>
            </a:solidFill>
            <a:prstDash val="solid"/>
          </a:ln>
        </p:spPr>
      </p:sp>
      <p:sp>
        <p:nvSpPr>
          <p:cNvPr id="5" name="Text 3"/>
          <p:cNvSpPr/>
          <p:nvPr/>
        </p:nvSpPr>
        <p:spPr>
          <a:xfrm>
            <a:off x="457200" y="6565392"/>
            <a:ext cx="8229600" cy="228600"/>
          </a:xfrm>
          <a:prstGeom prst="rect">
            <a:avLst/>
          </a:prstGeom>
          <a:noFill/>
          <a:ln/>
        </p:spPr>
        <p:txBody>
          <a:bodyPr wrap="square" lIns="0" tIns="0" rIns="0" bIns="0" rtlCol="0" anchor="ctr"/>
          <a:lstStyle/>
          <a:p>
            <a:pPr indent="0" marL="0">
              <a:buNone/>
            </a:pPr>
            <a:r>
              <a:rPr lang="en-US" sz="900" dirty="0">
                <a:solidFill>
                  <a:srgbClr val="6B6A63"/>
                </a:solidFill>
                <a:latin typeface="Calibri" pitchFamily="34" charset="0"/>
                <a:ea typeface="Calibri" pitchFamily="34" charset="-122"/>
                <a:cs typeface="Calibri" pitchFamily="34" charset="-120"/>
              </a:rPr>
              <a:t>Hey Otis  ·  Strategy Deck  ·  Prepared by Deloitte Digital</a:t>
            </a:r>
            <a:endParaRPr lang="en-US" sz="900" dirty="0"/>
          </a:p>
        </p:txBody>
      </p:sp>
      <p:sp>
        <p:nvSpPr>
          <p:cNvPr id="6" name="Text 4"/>
          <p:cNvSpPr/>
          <p:nvPr/>
        </p:nvSpPr>
        <p:spPr>
          <a:xfrm>
            <a:off x="11247120" y="6565392"/>
            <a:ext cx="731520" cy="228600"/>
          </a:xfrm>
          <a:prstGeom prst="rect">
            <a:avLst/>
          </a:prstGeom>
          <a:noFill/>
          <a:ln/>
        </p:spPr>
        <p:txBody>
          <a:bodyPr wrap="square" lIns="0" tIns="0" rIns="0" bIns="0" rtlCol="0" anchor="ctr"/>
          <a:lstStyle/>
          <a:p>
            <a:pPr algn="r" indent="0" marL="0">
              <a:buNone/>
            </a:pPr>
            <a:r>
              <a:rPr lang="en-US" sz="900" dirty="0">
                <a:solidFill>
                  <a:srgbClr val="6B6A63"/>
                </a:solidFill>
                <a:latin typeface="Calibri" pitchFamily="34" charset="0"/>
                <a:ea typeface="Calibri" pitchFamily="34" charset="-122"/>
                <a:cs typeface="Calibri" pitchFamily="34" charset="-120"/>
              </a:rPr>
              <a:t>28</a:t>
            </a:r>
            <a:endParaRPr lang="en-US" sz="900" dirty="0"/>
          </a:p>
        </p:txBody>
      </p:sp>
      <p:sp>
        <p:nvSpPr>
          <p:cNvPr id="7" name="Text 5"/>
          <p:cNvSpPr/>
          <p:nvPr/>
        </p:nvSpPr>
        <p:spPr>
          <a:xfrm>
            <a:off x="457200" y="320040"/>
            <a:ext cx="7315200" cy="274320"/>
          </a:xfrm>
          <a:prstGeom prst="rect">
            <a:avLst/>
          </a:prstGeom>
          <a:noFill/>
          <a:ln/>
        </p:spPr>
        <p:txBody>
          <a:bodyPr wrap="square" lIns="0" tIns="0" rIns="0" bIns="0" rtlCol="0" anchor="ctr"/>
          <a:lstStyle/>
          <a:p>
            <a:pPr indent="0" marL="0">
              <a:buNone/>
            </a:pPr>
            <a:r>
              <a:rPr lang="en-US" sz="1000" b="1" spc="400" kern="0" dirty="0">
                <a:solidFill>
                  <a:srgbClr val="96D35F"/>
                </a:solidFill>
                <a:latin typeface="Calibri" pitchFamily="34" charset="0"/>
                <a:ea typeface="Calibri" pitchFamily="34" charset="-122"/>
                <a:cs typeface="Calibri" pitchFamily="34" charset="-120"/>
              </a:rPr>
              <a:t>27 · CAPITAL · THE ASK</a:t>
            </a:r>
            <a:endParaRPr lang="en-US" sz="1000" dirty="0"/>
          </a:p>
        </p:txBody>
      </p:sp>
      <p:sp>
        <p:nvSpPr>
          <p:cNvPr id="8" name="Text 6"/>
          <p:cNvSpPr/>
          <p:nvPr/>
        </p:nvSpPr>
        <p:spPr>
          <a:xfrm>
            <a:off x="457200" y="640080"/>
            <a:ext cx="11247120" cy="822960"/>
          </a:xfrm>
          <a:prstGeom prst="rect">
            <a:avLst/>
          </a:prstGeom>
          <a:noFill/>
          <a:ln/>
        </p:spPr>
        <p:txBody>
          <a:bodyPr wrap="square" lIns="0" tIns="0" rIns="0" bIns="0" rtlCol="0" anchor="ctr"/>
          <a:lstStyle/>
          <a:p>
            <a:pPr indent="0" marL="0">
              <a:buNone/>
            </a:pPr>
            <a:r>
              <a:rPr lang="en-US" sz="3200" b="1" dirty="0">
                <a:solidFill>
                  <a:srgbClr val="1F2540"/>
                </a:solidFill>
                <a:latin typeface="Georgia" pitchFamily="34" charset="0"/>
                <a:ea typeface="Georgia" pitchFamily="34" charset="-122"/>
                <a:cs typeface="Georgia" pitchFamily="34" charset="-120"/>
              </a:rPr>
              <a:t>Seed round: $2.5M to reach 68k paying users by M24.</a:t>
            </a:r>
            <a:endParaRPr lang="en-US" sz="3200" dirty="0"/>
          </a:p>
        </p:txBody>
      </p:sp>
      <p:sp>
        <p:nvSpPr>
          <p:cNvPr id="9" name="Shape 7"/>
          <p:cNvSpPr/>
          <p:nvPr/>
        </p:nvSpPr>
        <p:spPr>
          <a:xfrm>
            <a:off x="548640" y="2103120"/>
            <a:ext cx="5394960" cy="4297680"/>
          </a:xfrm>
          <a:prstGeom prst="rect">
            <a:avLst/>
          </a:prstGeom>
          <a:solidFill>
            <a:srgbClr val="1F2540"/>
          </a:solidFill>
          <a:ln w="12700">
            <a:solidFill>
              <a:srgbClr val="1F2540"/>
            </a:solidFill>
            <a:prstDash val="solid"/>
          </a:ln>
        </p:spPr>
      </p:sp>
      <p:sp>
        <p:nvSpPr>
          <p:cNvPr id="10" name="Text 8"/>
          <p:cNvSpPr/>
          <p:nvPr/>
        </p:nvSpPr>
        <p:spPr>
          <a:xfrm>
            <a:off x="822960" y="2331720"/>
            <a:ext cx="4572000" cy="274320"/>
          </a:xfrm>
          <a:prstGeom prst="rect">
            <a:avLst/>
          </a:prstGeom>
          <a:noFill/>
          <a:ln/>
        </p:spPr>
        <p:txBody>
          <a:bodyPr wrap="square" lIns="0" tIns="0" rIns="0" bIns="0" rtlCol="0" anchor="ctr"/>
          <a:lstStyle/>
          <a:p>
            <a:pPr indent="0" marL="0">
              <a:buNone/>
            </a:pPr>
            <a:r>
              <a:rPr lang="en-US" sz="1100" b="1" spc="500" kern="0" dirty="0">
                <a:solidFill>
                  <a:srgbClr val="96D35F"/>
                </a:solidFill>
                <a:latin typeface="Calibri" pitchFamily="34" charset="0"/>
                <a:ea typeface="Calibri" pitchFamily="34" charset="-122"/>
                <a:cs typeface="Calibri" pitchFamily="34" charset="-120"/>
              </a:rPr>
              <a:t>THE ASK</a:t>
            </a:r>
            <a:endParaRPr lang="en-US" sz="1100" dirty="0"/>
          </a:p>
        </p:txBody>
      </p:sp>
      <p:sp>
        <p:nvSpPr>
          <p:cNvPr id="11" name="Text 9"/>
          <p:cNvSpPr/>
          <p:nvPr/>
        </p:nvSpPr>
        <p:spPr>
          <a:xfrm>
            <a:off x="822960" y="2697480"/>
            <a:ext cx="4572000" cy="1371600"/>
          </a:xfrm>
          <a:prstGeom prst="rect">
            <a:avLst/>
          </a:prstGeom>
          <a:noFill/>
          <a:ln/>
        </p:spPr>
        <p:txBody>
          <a:bodyPr wrap="square" lIns="0" tIns="0" rIns="0" bIns="0" rtlCol="0" anchor="ctr"/>
          <a:lstStyle/>
          <a:p>
            <a:pPr indent="0" marL="0">
              <a:buNone/>
            </a:pPr>
            <a:r>
              <a:rPr lang="en-US" sz="8600" b="1" dirty="0">
                <a:solidFill>
                  <a:srgbClr val="FAF7F2"/>
                </a:solidFill>
                <a:latin typeface="Georgia" pitchFamily="34" charset="0"/>
                <a:ea typeface="Georgia" pitchFamily="34" charset="-122"/>
                <a:cs typeface="Georgia" pitchFamily="34" charset="-120"/>
              </a:rPr>
              <a:t>$2.5M</a:t>
            </a:r>
            <a:endParaRPr lang="en-US" sz="8600" dirty="0"/>
          </a:p>
        </p:txBody>
      </p:sp>
      <p:sp>
        <p:nvSpPr>
          <p:cNvPr id="12" name="Text 10"/>
          <p:cNvSpPr/>
          <p:nvPr/>
        </p:nvSpPr>
        <p:spPr>
          <a:xfrm>
            <a:off x="822960" y="4069080"/>
            <a:ext cx="4572000" cy="365760"/>
          </a:xfrm>
          <a:prstGeom prst="rect">
            <a:avLst/>
          </a:prstGeom>
          <a:noFill/>
          <a:ln/>
        </p:spPr>
        <p:txBody>
          <a:bodyPr wrap="square" lIns="0" tIns="0" rIns="0" bIns="0" rtlCol="0" anchor="ctr"/>
          <a:lstStyle/>
          <a:p>
            <a:pPr indent="0" marL="0">
              <a:buNone/>
            </a:pPr>
            <a:r>
              <a:rPr lang="en-US" sz="1400" i="1" dirty="0">
                <a:solidFill>
                  <a:srgbClr val="96D35F"/>
                </a:solidFill>
                <a:latin typeface="Georgia" pitchFamily="34" charset="0"/>
                <a:ea typeface="Georgia" pitchFamily="34" charset="-122"/>
                <a:cs typeface="Georgia" pitchFamily="34" charset="-120"/>
              </a:rPr>
              <a:t>Seed · SAFE / priced round</a:t>
            </a:r>
            <a:endParaRPr lang="en-US" sz="1400" dirty="0"/>
          </a:p>
        </p:txBody>
      </p:sp>
      <p:sp>
        <p:nvSpPr>
          <p:cNvPr id="13" name="Text 11"/>
          <p:cNvSpPr/>
          <p:nvPr/>
        </p:nvSpPr>
        <p:spPr>
          <a:xfrm>
            <a:off x="822960" y="4892040"/>
            <a:ext cx="4846320" cy="1463040"/>
          </a:xfrm>
          <a:prstGeom prst="rect">
            <a:avLst/>
          </a:prstGeom>
          <a:noFill/>
          <a:ln/>
        </p:spPr>
        <p:txBody>
          <a:bodyPr wrap="square" lIns="0" tIns="0" rIns="0" bIns="0" rtlCol="0" anchor="ctr"/>
          <a:lstStyle/>
          <a:p>
            <a:pPr indent="0" marL="0">
              <a:buNone/>
            </a:pPr>
            <a:r>
              <a:rPr lang="en-US" sz="1200" dirty="0">
                <a:solidFill>
                  <a:srgbClr val="B9C4E0"/>
                </a:solidFill>
                <a:latin typeface="Calibri" pitchFamily="34" charset="0"/>
                <a:ea typeface="Calibri" pitchFamily="34" charset="-122"/>
                <a:cs typeface="Calibri" pitchFamily="34" charset="-120"/>
              </a:rPr>
              <a:t>Targeted close: Q3 2026. Runway: 24 months to Series A milestones (68k paying, $6.8M ARR, LTV/CAC &gt; 4).</a:t>
            </a:r>
            <a:endParaRPr lang="en-US" sz="1200" dirty="0"/>
          </a:p>
        </p:txBody>
      </p:sp>
      <p:sp>
        <p:nvSpPr>
          <p:cNvPr id="14" name="Text 12"/>
          <p:cNvSpPr/>
          <p:nvPr/>
        </p:nvSpPr>
        <p:spPr>
          <a:xfrm>
            <a:off x="6400800" y="2194560"/>
            <a:ext cx="5303520" cy="274320"/>
          </a:xfrm>
          <a:prstGeom prst="rect">
            <a:avLst/>
          </a:prstGeom>
          <a:noFill/>
          <a:ln/>
        </p:spPr>
        <p:txBody>
          <a:bodyPr wrap="square" lIns="0" tIns="0" rIns="0" bIns="0" rtlCol="0" anchor="ctr"/>
          <a:lstStyle/>
          <a:p>
            <a:pPr indent="0" marL="0">
              <a:buNone/>
            </a:pPr>
            <a:r>
              <a:rPr lang="en-US" sz="1100" b="1" spc="500" kern="0" dirty="0">
                <a:solidFill>
                  <a:srgbClr val="96D35F"/>
                </a:solidFill>
                <a:latin typeface="Calibri" pitchFamily="34" charset="0"/>
                <a:ea typeface="Calibri" pitchFamily="34" charset="-122"/>
                <a:cs typeface="Calibri" pitchFamily="34" charset="-120"/>
              </a:rPr>
              <a:t>USE OF FUNDS</a:t>
            </a:r>
            <a:endParaRPr lang="en-US" sz="1100" dirty="0"/>
          </a:p>
        </p:txBody>
      </p:sp>
      <p:sp>
        <p:nvSpPr>
          <p:cNvPr id="15" name="Shape 13"/>
          <p:cNvSpPr/>
          <p:nvPr/>
        </p:nvSpPr>
        <p:spPr>
          <a:xfrm>
            <a:off x="6400800" y="2651760"/>
            <a:ext cx="5303520" cy="777240"/>
          </a:xfrm>
          <a:prstGeom prst="rect">
            <a:avLst/>
          </a:prstGeom>
          <a:solidFill>
            <a:srgbClr val="FFFFFF"/>
          </a:solidFill>
          <a:ln w="12700">
            <a:solidFill>
              <a:srgbClr val="E5E0D5"/>
            </a:solidFill>
            <a:prstDash val="solid"/>
          </a:ln>
        </p:spPr>
      </p:sp>
      <p:sp>
        <p:nvSpPr>
          <p:cNvPr id="16" name="Shape 14"/>
          <p:cNvSpPr/>
          <p:nvPr/>
        </p:nvSpPr>
        <p:spPr>
          <a:xfrm>
            <a:off x="6400800" y="2651760"/>
            <a:ext cx="109728" cy="777240"/>
          </a:xfrm>
          <a:prstGeom prst="rect">
            <a:avLst/>
          </a:prstGeom>
          <a:solidFill>
            <a:srgbClr val="96D35F"/>
          </a:solidFill>
          <a:ln w="12700">
            <a:solidFill>
              <a:srgbClr val="96D35F"/>
            </a:solidFill>
            <a:prstDash val="solid"/>
          </a:ln>
        </p:spPr>
      </p:sp>
      <p:sp>
        <p:nvSpPr>
          <p:cNvPr id="17" name="Text 15"/>
          <p:cNvSpPr/>
          <p:nvPr/>
        </p:nvSpPr>
        <p:spPr>
          <a:xfrm>
            <a:off x="6629400" y="2743200"/>
            <a:ext cx="1097280" cy="594360"/>
          </a:xfrm>
          <a:prstGeom prst="rect">
            <a:avLst/>
          </a:prstGeom>
          <a:noFill/>
          <a:ln/>
        </p:spPr>
        <p:txBody>
          <a:bodyPr wrap="square" lIns="0" tIns="0" rIns="0" bIns="0" rtlCol="0" anchor="ctr"/>
          <a:lstStyle/>
          <a:p>
            <a:pPr indent="0" marL="0">
              <a:buNone/>
            </a:pPr>
            <a:r>
              <a:rPr lang="en-US" sz="2200" b="1" dirty="0">
                <a:solidFill>
                  <a:srgbClr val="96D35F"/>
                </a:solidFill>
                <a:latin typeface="Georgia" pitchFamily="34" charset="0"/>
                <a:ea typeface="Georgia" pitchFamily="34" charset="-122"/>
                <a:cs typeface="Georgia" pitchFamily="34" charset="-120"/>
              </a:rPr>
              <a:t>40%</a:t>
            </a:r>
            <a:endParaRPr lang="en-US" sz="2200" dirty="0"/>
          </a:p>
        </p:txBody>
      </p:sp>
      <p:sp>
        <p:nvSpPr>
          <p:cNvPr id="18" name="Text 16"/>
          <p:cNvSpPr/>
          <p:nvPr/>
        </p:nvSpPr>
        <p:spPr>
          <a:xfrm>
            <a:off x="7772400" y="2743200"/>
            <a:ext cx="3840480" cy="320040"/>
          </a:xfrm>
          <a:prstGeom prst="rect">
            <a:avLst/>
          </a:prstGeom>
          <a:noFill/>
          <a:ln/>
        </p:spPr>
        <p:txBody>
          <a:bodyPr wrap="square" lIns="0" tIns="0" rIns="0" bIns="0" rtlCol="0" anchor="ctr"/>
          <a:lstStyle/>
          <a:p>
            <a:pPr indent="0" marL="0">
              <a:buNone/>
            </a:pPr>
            <a:r>
              <a:rPr lang="en-US" sz="1300" b="1" dirty="0">
                <a:solidFill>
                  <a:srgbClr val="1F2540"/>
                </a:solidFill>
                <a:latin typeface="Georgia" pitchFamily="34" charset="0"/>
                <a:ea typeface="Georgia" pitchFamily="34" charset="-122"/>
                <a:cs typeface="Georgia" pitchFamily="34" charset="-120"/>
              </a:rPr>
              <a:t>Growth &amp; acquisition</a:t>
            </a:r>
            <a:endParaRPr lang="en-US" sz="1300" dirty="0"/>
          </a:p>
        </p:txBody>
      </p:sp>
      <p:sp>
        <p:nvSpPr>
          <p:cNvPr id="19" name="Text 17"/>
          <p:cNvSpPr/>
          <p:nvPr/>
        </p:nvSpPr>
        <p:spPr>
          <a:xfrm>
            <a:off x="7772400" y="3063240"/>
            <a:ext cx="3840480" cy="320040"/>
          </a:xfrm>
          <a:prstGeom prst="rect">
            <a:avLst/>
          </a:prstGeom>
          <a:noFill/>
          <a:ln/>
        </p:spPr>
        <p:txBody>
          <a:bodyPr wrap="square" lIns="0" tIns="0" rIns="0" bIns="0" rtlCol="0" anchor="ctr"/>
          <a:lstStyle/>
          <a:p>
            <a:pPr indent="0" marL="0">
              <a:buNone/>
            </a:pPr>
            <a:r>
              <a:rPr lang="en-US" sz="1050" i="1" dirty="0">
                <a:solidFill>
                  <a:srgbClr val="6B6A63"/>
                </a:solidFill>
                <a:latin typeface="Calibri" pitchFamily="34" charset="0"/>
                <a:ea typeface="Calibri" pitchFamily="34" charset="-122"/>
                <a:cs typeface="Calibri" pitchFamily="34" charset="-120"/>
              </a:rPr>
              <a:t>Paid + creator, at $21 blended CAC</a:t>
            </a:r>
            <a:endParaRPr lang="en-US" sz="1050" dirty="0"/>
          </a:p>
        </p:txBody>
      </p:sp>
      <p:sp>
        <p:nvSpPr>
          <p:cNvPr id="20" name="Shape 18"/>
          <p:cNvSpPr/>
          <p:nvPr/>
        </p:nvSpPr>
        <p:spPr>
          <a:xfrm>
            <a:off x="6400800" y="3566160"/>
            <a:ext cx="5303520" cy="777240"/>
          </a:xfrm>
          <a:prstGeom prst="rect">
            <a:avLst/>
          </a:prstGeom>
          <a:solidFill>
            <a:srgbClr val="FFFFFF"/>
          </a:solidFill>
          <a:ln w="12700">
            <a:solidFill>
              <a:srgbClr val="E5E0D5"/>
            </a:solidFill>
            <a:prstDash val="solid"/>
          </a:ln>
        </p:spPr>
      </p:sp>
      <p:sp>
        <p:nvSpPr>
          <p:cNvPr id="21" name="Shape 19"/>
          <p:cNvSpPr/>
          <p:nvPr/>
        </p:nvSpPr>
        <p:spPr>
          <a:xfrm>
            <a:off x="6400800" y="3566160"/>
            <a:ext cx="109728" cy="777240"/>
          </a:xfrm>
          <a:prstGeom prst="rect">
            <a:avLst/>
          </a:prstGeom>
          <a:solidFill>
            <a:srgbClr val="92A6F4"/>
          </a:solidFill>
          <a:ln w="12700">
            <a:solidFill>
              <a:srgbClr val="92A6F4"/>
            </a:solidFill>
            <a:prstDash val="solid"/>
          </a:ln>
        </p:spPr>
      </p:sp>
      <p:sp>
        <p:nvSpPr>
          <p:cNvPr id="22" name="Text 20"/>
          <p:cNvSpPr/>
          <p:nvPr/>
        </p:nvSpPr>
        <p:spPr>
          <a:xfrm>
            <a:off x="6629400" y="3657600"/>
            <a:ext cx="1097280" cy="594360"/>
          </a:xfrm>
          <a:prstGeom prst="rect">
            <a:avLst/>
          </a:prstGeom>
          <a:noFill/>
          <a:ln/>
        </p:spPr>
        <p:txBody>
          <a:bodyPr wrap="square" lIns="0" tIns="0" rIns="0" bIns="0" rtlCol="0" anchor="ctr"/>
          <a:lstStyle/>
          <a:p>
            <a:pPr indent="0" marL="0">
              <a:buNone/>
            </a:pPr>
            <a:r>
              <a:rPr lang="en-US" sz="2200" b="1" dirty="0">
                <a:solidFill>
                  <a:srgbClr val="92A6F4"/>
                </a:solidFill>
                <a:latin typeface="Georgia" pitchFamily="34" charset="0"/>
                <a:ea typeface="Georgia" pitchFamily="34" charset="-122"/>
                <a:cs typeface="Georgia" pitchFamily="34" charset="-120"/>
              </a:rPr>
              <a:t>28%</a:t>
            </a:r>
            <a:endParaRPr lang="en-US" sz="2200" dirty="0"/>
          </a:p>
        </p:txBody>
      </p:sp>
      <p:sp>
        <p:nvSpPr>
          <p:cNvPr id="23" name="Text 21"/>
          <p:cNvSpPr/>
          <p:nvPr/>
        </p:nvSpPr>
        <p:spPr>
          <a:xfrm>
            <a:off x="7772400" y="3657600"/>
            <a:ext cx="3840480" cy="320040"/>
          </a:xfrm>
          <a:prstGeom prst="rect">
            <a:avLst/>
          </a:prstGeom>
          <a:noFill/>
          <a:ln/>
        </p:spPr>
        <p:txBody>
          <a:bodyPr wrap="square" lIns="0" tIns="0" rIns="0" bIns="0" rtlCol="0" anchor="ctr"/>
          <a:lstStyle/>
          <a:p>
            <a:pPr indent="0" marL="0">
              <a:buNone/>
            </a:pPr>
            <a:r>
              <a:rPr lang="en-US" sz="1300" b="1" dirty="0">
                <a:solidFill>
                  <a:srgbClr val="1F2540"/>
                </a:solidFill>
                <a:latin typeface="Georgia" pitchFamily="34" charset="0"/>
                <a:ea typeface="Georgia" pitchFamily="34" charset="-122"/>
                <a:cs typeface="Georgia" pitchFamily="34" charset="-120"/>
              </a:rPr>
              <a:t>Product &amp; engineering</a:t>
            </a:r>
            <a:endParaRPr lang="en-US" sz="1300" dirty="0"/>
          </a:p>
        </p:txBody>
      </p:sp>
      <p:sp>
        <p:nvSpPr>
          <p:cNvPr id="24" name="Text 22"/>
          <p:cNvSpPr/>
          <p:nvPr/>
        </p:nvSpPr>
        <p:spPr>
          <a:xfrm>
            <a:off x="7772400" y="3977640"/>
            <a:ext cx="3840480" cy="320040"/>
          </a:xfrm>
          <a:prstGeom prst="rect">
            <a:avLst/>
          </a:prstGeom>
          <a:noFill/>
          <a:ln/>
        </p:spPr>
        <p:txBody>
          <a:bodyPr wrap="square" lIns="0" tIns="0" rIns="0" bIns="0" rtlCol="0" anchor="ctr"/>
          <a:lstStyle/>
          <a:p>
            <a:pPr indent="0" marL="0">
              <a:buNone/>
            </a:pPr>
            <a:r>
              <a:rPr lang="en-US" sz="1050" i="1" dirty="0">
                <a:solidFill>
                  <a:srgbClr val="6B6A63"/>
                </a:solidFill>
                <a:latin typeface="Calibri" pitchFamily="34" charset="0"/>
                <a:ea typeface="Calibri" pitchFamily="34" charset="-122"/>
                <a:cs typeface="Calibri" pitchFamily="34" charset="-120"/>
              </a:rPr>
              <a:t>3 eng, 1 design, 1 clinical lead</a:t>
            </a:r>
            <a:endParaRPr lang="en-US" sz="1050" dirty="0"/>
          </a:p>
        </p:txBody>
      </p:sp>
      <p:sp>
        <p:nvSpPr>
          <p:cNvPr id="25" name="Shape 23"/>
          <p:cNvSpPr/>
          <p:nvPr/>
        </p:nvSpPr>
        <p:spPr>
          <a:xfrm>
            <a:off x="6400800" y="4480560"/>
            <a:ext cx="5303520" cy="777240"/>
          </a:xfrm>
          <a:prstGeom prst="rect">
            <a:avLst/>
          </a:prstGeom>
          <a:solidFill>
            <a:srgbClr val="FFFFFF"/>
          </a:solidFill>
          <a:ln w="12700">
            <a:solidFill>
              <a:srgbClr val="E5E0D5"/>
            </a:solidFill>
            <a:prstDash val="solid"/>
          </a:ln>
        </p:spPr>
      </p:sp>
      <p:sp>
        <p:nvSpPr>
          <p:cNvPr id="26" name="Shape 24"/>
          <p:cNvSpPr/>
          <p:nvPr/>
        </p:nvSpPr>
        <p:spPr>
          <a:xfrm>
            <a:off x="6400800" y="4480560"/>
            <a:ext cx="109728" cy="777240"/>
          </a:xfrm>
          <a:prstGeom prst="rect">
            <a:avLst/>
          </a:prstGeom>
          <a:solidFill>
            <a:srgbClr val="BD57F2"/>
          </a:solidFill>
          <a:ln w="12700">
            <a:solidFill>
              <a:srgbClr val="BD57F2"/>
            </a:solidFill>
            <a:prstDash val="solid"/>
          </a:ln>
        </p:spPr>
      </p:sp>
      <p:sp>
        <p:nvSpPr>
          <p:cNvPr id="27" name="Text 25"/>
          <p:cNvSpPr/>
          <p:nvPr/>
        </p:nvSpPr>
        <p:spPr>
          <a:xfrm>
            <a:off x="6629400" y="4572000"/>
            <a:ext cx="1097280" cy="594360"/>
          </a:xfrm>
          <a:prstGeom prst="rect">
            <a:avLst/>
          </a:prstGeom>
          <a:noFill/>
          <a:ln/>
        </p:spPr>
        <p:txBody>
          <a:bodyPr wrap="square" lIns="0" tIns="0" rIns="0" bIns="0" rtlCol="0" anchor="ctr"/>
          <a:lstStyle/>
          <a:p>
            <a:pPr indent="0" marL="0">
              <a:buNone/>
            </a:pPr>
            <a:r>
              <a:rPr lang="en-US" sz="2200" b="1" dirty="0">
                <a:solidFill>
                  <a:srgbClr val="BD57F2"/>
                </a:solidFill>
                <a:latin typeface="Georgia" pitchFamily="34" charset="0"/>
                <a:ea typeface="Georgia" pitchFamily="34" charset="-122"/>
                <a:cs typeface="Georgia" pitchFamily="34" charset="-120"/>
              </a:rPr>
              <a:t>18%</a:t>
            </a:r>
            <a:endParaRPr lang="en-US" sz="2200" dirty="0"/>
          </a:p>
        </p:txBody>
      </p:sp>
      <p:sp>
        <p:nvSpPr>
          <p:cNvPr id="28" name="Text 26"/>
          <p:cNvSpPr/>
          <p:nvPr/>
        </p:nvSpPr>
        <p:spPr>
          <a:xfrm>
            <a:off x="7772400" y="4572000"/>
            <a:ext cx="3840480" cy="320040"/>
          </a:xfrm>
          <a:prstGeom prst="rect">
            <a:avLst/>
          </a:prstGeom>
          <a:noFill/>
          <a:ln/>
        </p:spPr>
        <p:txBody>
          <a:bodyPr wrap="square" lIns="0" tIns="0" rIns="0" bIns="0" rtlCol="0" anchor="ctr"/>
          <a:lstStyle/>
          <a:p>
            <a:pPr indent="0" marL="0">
              <a:buNone/>
            </a:pPr>
            <a:r>
              <a:rPr lang="en-US" sz="1300" b="1" dirty="0">
                <a:solidFill>
                  <a:srgbClr val="1F2540"/>
                </a:solidFill>
                <a:latin typeface="Georgia" pitchFamily="34" charset="0"/>
                <a:ea typeface="Georgia" pitchFamily="34" charset="-122"/>
                <a:cs typeface="Georgia" pitchFamily="34" charset="-120"/>
              </a:rPr>
              <a:t>Clinical &amp; research</a:t>
            </a:r>
            <a:endParaRPr lang="en-US" sz="1300" dirty="0"/>
          </a:p>
        </p:txBody>
      </p:sp>
      <p:sp>
        <p:nvSpPr>
          <p:cNvPr id="29" name="Text 27"/>
          <p:cNvSpPr/>
          <p:nvPr/>
        </p:nvSpPr>
        <p:spPr>
          <a:xfrm>
            <a:off x="7772400" y="4892040"/>
            <a:ext cx="3840480" cy="320040"/>
          </a:xfrm>
          <a:prstGeom prst="rect">
            <a:avLst/>
          </a:prstGeom>
          <a:noFill/>
          <a:ln/>
        </p:spPr>
        <p:txBody>
          <a:bodyPr wrap="square" lIns="0" tIns="0" rIns="0" bIns="0" rtlCol="0" anchor="ctr"/>
          <a:lstStyle/>
          <a:p>
            <a:pPr indent="0" marL="0">
              <a:buNone/>
            </a:pPr>
            <a:r>
              <a:rPr lang="en-US" sz="1050" i="1" dirty="0">
                <a:solidFill>
                  <a:srgbClr val="6B6A63"/>
                </a:solidFill>
                <a:latin typeface="Calibri" pitchFamily="34" charset="0"/>
                <a:ea typeface="Calibri" pitchFamily="34" charset="-122"/>
                <a:cs typeface="Calibri" pitchFamily="34" charset="-120"/>
              </a:rPr>
              <a:t>Board of advisers + efficacy studies</a:t>
            </a:r>
            <a:endParaRPr lang="en-US" sz="1050" dirty="0"/>
          </a:p>
        </p:txBody>
      </p:sp>
      <p:sp>
        <p:nvSpPr>
          <p:cNvPr id="30" name="Shape 28"/>
          <p:cNvSpPr/>
          <p:nvPr/>
        </p:nvSpPr>
        <p:spPr>
          <a:xfrm>
            <a:off x="6400800" y="5394960"/>
            <a:ext cx="5303520" cy="777240"/>
          </a:xfrm>
          <a:prstGeom prst="rect">
            <a:avLst/>
          </a:prstGeom>
          <a:solidFill>
            <a:srgbClr val="FFFFFF"/>
          </a:solidFill>
          <a:ln w="12700">
            <a:solidFill>
              <a:srgbClr val="E5E0D5"/>
            </a:solidFill>
            <a:prstDash val="solid"/>
          </a:ln>
        </p:spPr>
      </p:sp>
      <p:sp>
        <p:nvSpPr>
          <p:cNvPr id="31" name="Shape 29"/>
          <p:cNvSpPr/>
          <p:nvPr/>
        </p:nvSpPr>
        <p:spPr>
          <a:xfrm>
            <a:off x="6400800" y="5394960"/>
            <a:ext cx="109728" cy="777240"/>
          </a:xfrm>
          <a:prstGeom prst="rect">
            <a:avLst/>
          </a:prstGeom>
          <a:solidFill>
            <a:srgbClr val="F67700"/>
          </a:solidFill>
          <a:ln w="12700">
            <a:solidFill>
              <a:srgbClr val="F67700"/>
            </a:solidFill>
            <a:prstDash val="solid"/>
          </a:ln>
        </p:spPr>
      </p:sp>
      <p:sp>
        <p:nvSpPr>
          <p:cNvPr id="32" name="Text 30"/>
          <p:cNvSpPr/>
          <p:nvPr/>
        </p:nvSpPr>
        <p:spPr>
          <a:xfrm>
            <a:off x="6629400" y="5486400"/>
            <a:ext cx="1097280" cy="594360"/>
          </a:xfrm>
          <a:prstGeom prst="rect">
            <a:avLst/>
          </a:prstGeom>
          <a:noFill/>
          <a:ln/>
        </p:spPr>
        <p:txBody>
          <a:bodyPr wrap="square" lIns="0" tIns="0" rIns="0" bIns="0" rtlCol="0" anchor="ctr"/>
          <a:lstStyle/>
          <a:p>
            <a:pPr indent="0" marL="0">
              <a:buNone/>
            </a:pPr>
            <a:r>
              <a:rPr lang="en-US" sz="2200" b="1" dirty="0">
                <a:solidFill>
                  <a:srgbClr val="F67700"/>
                </a:solidFill>
                <a:latin typeface="Georgia" pitchFamily="34" charset="0"/>
                <a:ea typeface="Georgia" pitchFamily="34" charset="-122"/>
                <a:cs typeface="Georgia" pitchFamily="34" charset="-120"/>
              </a:rPr>
              <a:t>14%</a:t>
            </a:r>
            <a:endParaRPr lang="en-US" sz="2200" dirty="0"/>
          </a:p>
        </p:txBody>
      </p:sp>
      <p:sp>
        <p:nvSpPr>
          <p:cNvPr id="33" name="Text 31"/>
          <p:cNvSpPr/>
          <p:nvPr/>
        </p:nvSpPr>
        <p:spPr>
          <a:xfrm>
            <a:off x="7772400" y="5486400"/>
            <a:ext cx="3840480" cy="320040"/>
          </a:xfrm>
          <a:prstGeom prst="rect">
            <a:avLst/>
          </a:prstGeom>
          <a:noFill/>
          <a:ln/>
        </p:spPr>
        <p:txBody>
          <a:bodyPr wrap="square" lIns="0" tIns="0" rIns="0" bIns="0" rtlCol="0" anchor="ctr"/>
          <a:lstStyle/>
          <a:p>
            <a:pPr indent="0" marL="0">
              <a:buNone/>
            </a:pPr>
            <a:r>
              <a:rPr lang="en-US" sz="1300" b="1" dirty="0">
                <a:solidFill>
                  <a:srgbClr val="1F2540"/>
                </a:solidFill>
                <a:latin typeface="Georgia" pitchFamily="34" charset="0"/>
                <a:ea typeface="Georgia" pitchFamily="34" charset="-122"/>
                <a:cs typeface="Georgia" pitchFamily="34" charset="-120"/>
              </a:rPr>
              <a:t>Operations &amp; reserve</a:t>
            </a:r>
            <a:endParaRPr lang="en-US" sz="1300" dirty="0"/>
          </a:p>
        </p:txBody>
      </p:sp>
      <p:sp>
        <p:nvSpPr>
          <p:cNvPr id="34" name="Text 32"/>
          <p:cNvSpPr/>
          <p:nvPr/>
        </p:nvSpPr>
        <p:spPr>
          <a:xfrm>
            <a:off x="7772400" y="5806440"/>
            <a:ext cx="3840480" cy="320040"/>
          </a:xfrm>
          <a:prstGeom prst="rect">
            <a:avLst/>
          </a:prstGeom>
          <a:noFill/>
          <a:ln/>
        </p:spPr>
        <p:txBody>
          <a:bodyPr wrap="square" lIns="0" tIns="0" rIns="0" bIns="0" rtlCol="0" anchor="ctr"/>
          <a:lstStyle/>
          <a:p>
            <a:pPr indent="0" marL="0">
              <a:buNone/>
            </a:pPr>
            <a:r>
              <a:rPr lang="en-US" sz="1050" i="1" dirty="0">
                <a:solidFill>
                  <a:srgbClr val="6B6A63"/>
                </a:solidFill>
                <a:latin typeface="Calibri" pitchFamily="34" charset="0"/>
                <a:ea typeface="Calibri" pitchFamily="34" charset="-122"/>
                <a:cs typeface="Calibri" pitchFamily="34" charset="-120"/>
              </a:rPr>
              <a:t>Legal, compliance, G&amp;A, contingency</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F2540"/>
        </a:solidFill>
      </p:bgPr>
    </p:bg>
    <p:spTree>
      <p:nvGrpSpPr>
        <p:cNvPr id="1" name=""/>
        <p:cNvGrpSpPr/>
        <p:nvPr/>
      </p:nvGrpSpPr>
      <p:grpSpPr>
        <a:xfrm>
          <a:off x="0" y="0"/>
          <a:ext cx="0" cy="0"/>
          <a:chOff x="0" y="0"/>
          <a:chExt cx="0" cy="0"/>
        </a:xfrm>
      </p:grpSpPr>
      <p:sp>
        <p:nvSpPr>
          <p:cNvPr id="2" name="Shape 0"/>
          <p:cNvSpPr/>
          <p:nvPr/>
        </p:nvSpPr>
        <p:spPr>
          <a:xfrm>
            <a:off x="0" y="0"/>
            <a:ext cx="3040380" cy="91440"/>
          </a:xfrm>
          <a:prstGeom prst="rect">
            <a:avLst/>
          </a:prstGeom>
          <a:solidFill>
            <a:srgbClr val="96D35F"/>
          </a:solidFill>
          <a:ln w="12700">
            <a:solidFill>
              <a:srgbClr val="96D35F"/>
            </a:solidFill>
            <a:prstDash val="solid"/>
          </a:ln>
        </p:spPr>
      </p:sp>
      <p:sp>
        <p:nvSpPr>
          <p:cNvPr id="3" name="Shape 1"/>
          <p:cNvSpPr/>
          <p:nvPr/>
        </p:nvSpPr>
        <p:spPr>
          <a:xfrm>
            <a:off x="3040380" y="0"/>
            <a:ext cx="3040380" cy="91440"/>
          </a:xfrm>
          <a:prstGeom prst="rect">
            <a:avLst/>
          </a:prstGeom>
          <a:solidFill>
            <a:srgbClr val="92A6F4"/>
          </a:solidFill>
          <a:ln w="12700">
            <a:solidFill>
              <a:srgbClr val="92A6F4"/>
            </a:solidFill>
            <a:prstDash val="solid"/>
          </a:ln>
        </p:spPr>
      </p:sp>
      <p:sp>
        <p:nvSpPr>
          <p:cNvPr id="4" name="Shape 2"/>
          <p:cNvSpPr/>
          <p:nvPr/>
        </p:nvSpPr>
        <p:spPr>
          <a:xfrm>
            <a:off x="6080760" y="0"/>
            <a:ext cx="3040380" cy="91440"/>
          </a:xfrm>
          <a:prstGeom prst="rect">
            <a:avLst/>
          </a:prstGeom>
          <a:solidFill>
            <a:srgbClr val="F67700"/>
          </a:solidFill>
          <a:ln w="12700">
            <a:solidFill>
              <a:srgbClr val="F67700"/>
            </a:solidFill>
            <a:prstDash val="solid"/>
          </a:ln>
        </p:spPr>
      </p:sp>
      <p:sp>
        <p:nvSpPr>
          <p:cNvPr id="5" name="Shape 3"/>
          <p:cNvSpPr/>
          <p:nvPr/>
        </p:nvSpPr>
        <p:spPr>
          <a:xfrm>
            <a:off x="9121140" y="0"/>
            <a:ext cx="3040380" cy="91440"/>
          </a:xfrm>
          <a:prstGeom prst="rect">
            <a:avLst/>
          </a:prstGeom>
          <a:solidFill>
            <a:srgbClr val="BD57F2"/>
          </a:solidFill>
          <a:ln w="12700">
            <a:solidFill>
              <a:srgbClr val="BD57F2"/>
            </a:solidFill>
            <a:prstDash val="solid"/>
          </a:ln>
        </p:spPr>
      </p:sp>
      <p:sp>
        <p:nvSpPr>
          <p:cNvPr id="6" name="Text 4"/>
          <p:cNvSpPr/>
          <p:nvPr/>
        </p:nvSpPr>
        <p:spPr>
          <a:xfrm>
            <a:off x="731520" y="1097280"/>
            <a:ext cx="9144000" cy="274320"/>
          </a:xfrm>
          <a:prstGeom prst="rect">
            <a:avLst/>
          </a:prstGeom>
          <a:noFill/>
          <a:ln/>
        </p:spPr>
        <p:txBody>
          <a:bodyPr wrap="square" lIns="0" tIns="0" rIns="0" bIns="0" rtlCol="0" anchor="ctr"/>
          <a:lstStyle/>
          <a:p>
            <a:pPr indent="0" marL="0">
              <a:buNone/>
            </a:pPr>
            <a:r>
              <a:rPr lang="en-US" sz="1100" b="1" spc="600" kern="0" dirty="0">
                <a:solidFill>
                  <a:srgbClr val="96D35F"/>
                </a:solidFill>
                <a:latin typeface="Calibri" pitchFamily="34" charset="0"/>
                <a:ea typeface="Calibri" pitchFamily="34" charset="-122"/>
                <a:cs typeface="Calibri" pitchFamily="34" charset="-120"/>
              </a:rPr>
              <a:t>THE VISION</a:t>
            </a:r>
            <a:endParaRPr lang="en-US" sz="1100" dirty="0"/>
          </a:p>
        </p:txBody>
      </p:sp>
      <p:sp>
        <p:nvSpPr>
          <p:cNvPr id="7" name="Text 5"/>
          <p:cNvSpPr/>
          <p:nvPr/>
        </p:nvSpPr>
        <p:spPr>
          <a:xfrm>
            <a:off x="731520" y="1554480"/>
            <a:ext cx="10972800" cy="914400"/>
          </a:xfrm>
          <a:prstGeom prst="rect">
            <a:avLst/>
          </a:prstGeom>
          <a:noFill/>
          <a:ln/>
        </p:spPr>
        <p:txBody>
          <a:bodyPr wrap="square" lIns="0" tIns="0" rIns="0" bIns="0" rtlCol="0" anchor="ctr"/>
          <a:lstStyle/>
          <a:p>
            <a:pPr indent="0" marL="0">
              <a:buNone/>
            </a:pPr>
            <a:r>
              <a:rPr lang="en-US" sz="4400" b="1" dirty="0">
                <a:solidFill>
                  <a:srgbClr val="FAF7F2"/>
                </a:solidFill>
                <a:latin typeface="Georgia" pitchFamily="34" charset="0"/>
                <a:ea typeface="Georgia" pitchFamily="34" charset="-122"/>
                <a:cs typeface="Georgia" pitchFamily="34" charset="-120"/>
              </a:rPr>
              <a:t>Every couple who wants to stay,</a:t>
            </a:r>
            <a:endParaRPr lang="en-US" sz="4400" dirty="0"/>
          </a:p>
        </p:txBody>
      </p:sp>
      <p:sp>
        <p:nvSpPr>
          <p:cNvPr id="8" name="Text 6"/>
          <p:cNvSpPr/>
          <p:nvPr/>
        </p:nvSpPr>
        <p:spPr>
          <a:xfrm>
            <a:off x="731520" y="2468880"/>
            <a:ext cx="10972800" cy="914400"/>
          </a:xfrm>
          <a:prstGeom prst="rect">
            <a:avLst/>
          </a:prstGeom>
          <a:noFill/>
          <a:ln/>
        </p:spPr>
        <p:txBody>
          <a:bodyPr wrap="square" lIns="0" tIns="0" rIns="0" bIns="0" rtlCol="0" anchor="ctr"/>
          <a:lstStyle/>
          <a:p>
            <a:pPr indent="0" marL="0">
              <a:buNone/>
            </a:pPr>
            <a:r>
              <a:rPr lang="en-US" sz="4400" b="1" i="1" dirty="0">
                <a:solidFill>
                  <a:srgbClr val="96D35F"/>
                </a:solidFill>
                <a:latin typeface="Georgia" pitchFamily="34" charset="0"/>
                <a:ea typeface="Georgia" pitchFamily="34" charset="-122"/>
                <a:cs typeface="Georgia" pitchFamily="34" charset="-120"/>
              </a:rPr>
              <a:t>has the tool to repair.</a:t>
            </a:r>
            <a:endParaRPr lang="en-US" sz="4400" dirty="0"/>
          </a:p>
        </p:txBody>
      </p:sp>
      <p:sp>
        <p:nvSpPr>
          <p:cNvPr id="9" name="Text 7"/>
          <p:cNvSpPr/>
          <p:nvPr/>
        </p:nvSpPr>
        <p:spPr>
          <a:xfrm>
            <a:off x="731520" y="3657600"/>
            <a:ext cx="10515600" cy="2011680"/>
          </a:xfrm>
          <a:prstGeom prst="rect">
            <a:avLst/>
          </a:prstGeom>
          <a:noFill/>
          <a:ln/>
        </p:spPr>
        <p:txBody>
          <a:bodyPr wrap="square" lIns="0" tIns="0" rIns="0" bIns="0" rtlCol="0" anchor="ctr"/>
          <a:lstStyle/>
          <a:p>
            <a:pPr indent="0" marL="0">
              <a:buNone/>
            </a:pPr>
            <a:r>
              <a:rPr lang="en-US" sz="1500" dirty="0">
                <a:solidFill>
                  <a:srgbClr val="D4D8E6"/>
                </a:solidFill>
                <a:latin typeface="Calibri" pitchFamily="34" charset="0"/>
                <a:ea typeface="Calibri" pitchFamily="34" charset="-122"/>
                <a:cs typeface="Calibri" pitchFamily="34" charset="-120"/>
              </a:rPr>
              <a:t>Hey Otis is the first product to treat repair as the category — not prompts, not therapy, not journaling. When a couple fights tonight and finds their way back to honest conversation before the morning, that's the product working. Do that for ten million couples, and we've changed something material about how people stay in love.</a:t>
            </a:r>
            <a:endParaRPr lang="en-US" sz="1500" dirty="0"/>
          </a:p>
        </p:txBody>
      </p:sp>
      <p:sp>
        <p:nvSpPr>
          <p:cNvPr id="10" name="Text 8"/>
          <p:cNvSpPr/>
          <p:nvPr/>
        </p:nvSpPr>
        <p:spPr>
          <a:xfrm>
            <a:off x="731520" y="5760720"/>
            <a:ext cx="5486400" cy="457200"/>
          </a:xfrm>
          <a:prstGeom prst="rect">
            <a:avLst/>
          </a:prstGeom>
          <a:noFill/>
          <a:ln/>
        </p:spPr>
        <p:txBody>
          <a:bodyPr wrap="square" lIns="0" tIns="0" rIns="0" bIns="0" rtlCol="0" anchor="ctr"/>
          <a:lstStyle/>
          <a:p>
            <a:pPr indent="0" marL="0">
              <a:buNone/>
            </a:pPr>
            <a:r>
              <a:rPr lang="en-US" sz="2000" i="1" dirty="0">
                <a:solidFill>
                  <a:srgbClr val="FAF7F2"/>
                </a:solidFill>
                <a:latin typeface="Georgia" pitchFamily="34" charset="0"/>
                <a:ea typeface="Georgia" pitchFamily="34" charset="-122"/>
                <a:cs typeface="Georgia" pitchFamily="34" charset="-120"/>
              </a:rPr>
              <a:t>Thank you.</a:t>
            </a:r>
            <a:endParaRPr lang="en-US" sz="2000" dirty="0"/>
          </a:p>
        </p:txBody>
      </p:sp>
      <p:sp>
        <p:nvSpPr>
          <p:cNvPr id="11" name="Text 9"/>
          <p:cNvSpPr/>
          <p:nvPr/>
        </p:nvSpPr>
        <p:spPr>
          <a:xfrm>
            <a:off x="731520" y="6400800"/>
            <a:ext cx="10515600" cy="274320"/>
          </a:xfrm>
          <a:prstGeom prst="rect">
            <a:avLst/>
          </a:prstGeom>
          <a:noFill/>
          <a:ln/>
        </p:spPr>
        <p:txBody>
          <a:bodyPr wrap="square" lIns="0" tIns="0" rIns="0" bIns="0" rtlCol="0" anchor="ctr"/>
          <a:lstStyle/>
          <a:p>
            <a:pPr indent="0" marL="0">
              <a:buNone/>
            </a:pPr>
            <a:r>
              <a:rPr lang="en-US" sz="1000" spc="300" kern="0" dirty="0">
                <a:solidFill>
                  <a:srgbClr val="6B6A63"/>
                </a:solidFill>
                <a:latin typeface="Calibri" pitchFamily="34" charset="0"/>
                <a:ea typeface="Calibri" pitchFamily="34" charset="-122"/>
                <a:cs typeface="Calibri" pitchFamily="34" charset="-120"/>
              </a:rPr>
              <a:t>Deloitte Digital  ·  Strategy &amp; Analytics  ·  April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Hey Otis — Strategic Positioning, Market &amp; Operating Model</dc:title>
  <dc:subject>PptxGenJS Presentation</dc:subject>
  <dc:creator>Deloitte Digital — Strategy &amp; Analytics</dc:creator>
  <cp:lastModifiedBy>Deloitte Digital — Strategy &amp; Analytics</cp:lastModifiedBy>
  <cp:revision>1</cp:revision>
  <dcterms:created xsi:type="dcterms:W3CDTF">2026-04-17T10:21:33Z</dcterms:created>
  <dcterms:modified xsi:type="dcterms:W3CDTF">2026-04-17T10:21:33Z</dcterms:modified>
</cp:coreProperties>
</file>