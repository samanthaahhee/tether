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8E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96D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4400" b="1">
                <a:solidFill>
                  <a:srgbClr val="211E28"/>
                </a:solidFill>
                <a:latin typeface="Inter"/>
              </a:rPr>
              <a:t>hey Otis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>
                <a:solidFill>
                  <a:srgbClr val="211E28"/>
                </a:solidFill>
                <a:latin typeface="Inter"/>
              </a:rPr>
              <a:t>From rupture to repair.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976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211E28"/>
                </a:solidFill>
                <a:latin typeface="Inter"/>
              </a:rPr>
              <a:t>A private guide for couples in conflict.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0350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211E28"/>
                </a:solidFill>
                <a:latin typeface="Inter"/>
              </a:rPr>
              <a:t>Samantha Ahhee  ·  Founder, Hey Otis  ·  Amsterdam,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4A7A23"/>
                </a:solidFill>
                <a:latin typeface="Inter"/>
              </a:rPr>
              <a:t>THE HOOK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>
                <a:solidFill>
                  <a:srgbClr val="211E28"/>
                </a:solidFill>
                <a:latin typeface="Inter"/>
              </a:rPr>
              <a:t>Every couple argues.
The ones that last learn how to repair.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200" b="0">
                <a:solidFill>
                  <a:srgbClr val="3A3630"/>
                </a:solidFill>
                <a:latin typeface="Inter"/>
              </a:rPr>
              <a:t>“Conflict in relationships is inevitable. It's not a sign that something is broken, it's a signal that something needs attention.”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521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4A7A23"/>
                </a:solidFill>
                <a:latin typeface="Inter"/>
              </a:rPr>
              <a:t>— Esther Perel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4A7A23"/>
                </a:solidFill>
                <a:latin typeface="Inter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4000" b="1">
                <a:solidFill>
                  <a:srgbClr val="211E28"/>
                </a:solidFill>
                <a:latin typeface="Inter"/>
              </a:rPr>
              <a:t>Conflict isn't the problem. Silence 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447" y="2743200"/>
            <a:ext cx="260604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E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447" y="3017520"/>
            <a:ext cx="2606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>
                <a:solidFill>
                  <a:srgbClr val="4EA989"/>
                </a:solidFill>
                <a:latin typeface="Inter"/>
              </a:rPr>
              <a:t>69%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327" y="4114800"/>
            <a:ext cx="2240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>
                <a:solidFill>
                  <a:srgbClr val="80798C"/>
                </a:solidFill>
                <a:latin typeface="Inter"/>
              </a:rPr>
              <a:t>of conflicts are perpetual,
they never fully resolve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98367" y="2743200"/>
            <a:ext cx="260604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E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98367" y="3017520"/>
            <a:ext cx="2606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>
                <a:solidFill>
                  <a:srgbClr val="92A6F4"/>
                </a:solidFill>
                <a:latin typeface="Inter"/>
              </a:rPr>
              <a:t>6 yrs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81247" y="4114800"/>
            <a:ext cx="2240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>
                <a:solidFill>
                  <a:srgbClr val="80798C"/>
                </a:solidFill>
                <a:latin typeface="Inter"/>
              </a:rPr>
              <a:t>couples wait before
seeking any help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7287" y="2743200"/>
            <a:ext cx="260604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E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87287" y="3017520"/>
            <a:ext cx="2606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>
                <a:solidFill>
                  <a:srgbClr val="F67700"/>
                </a:solidFill>
                <a:latin typeface="Inter"/>
              </a:rPr>
              <a:t>96%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0167" y="4114800"/>
            <a:ext cx="2240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>
                <a:solidFill>
                  <a:srgbClr val="80798C"/>
                </a:solidFill>
                <a:latin typeface="Inter"/>
              </a:rPr>
              <a:t>of conversations are
determined by how they start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76207" y="2743200"/>
            <a:ext cx="260604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E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76207" y="3017520"/>
            <a:ext cx="2606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>
                <a:solidFill>
                  <a:srgbClr val="BD57F2"/>
                </a:solidFill>
                <a:latin typeface="Inter"/>
              </a:rPr>
              <a:t>5:1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59087" y="4114800"/>
            <a:ext cx="2240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>
                <a:solidFill>
                  <a:srgbClr val="80798C"/>
                </a:solidFill>
                <a:latin typeface="Inter"/>
              </a:rPr>
              <a:t>positive to negative,
the magic ratio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6692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500" b="0">
                <a:solidFill>
                  <a:srgbClr val="80798C"/>
                </a:solidFill>
                <a:latin typeface="Inter"/>
              </a:rPr>
              <a:t>Most couples don't break up because they fight. They break up because they stop trying to understand each other.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4A7A23"/>
                </a:solidFill>
                <a:latin typeface="Inter"/>
              </a:rPr>
              <a:t>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211E28"/>
                </a:solidFill>
                <a:latin typeface="Inter"/>
              </a:rPr>
              <a:t>Therapy works. But most fights happen between sessions.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6587" y="3108960"/>
            <a:ext cx="352044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E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0907" y="3429000"/>
            <a:ext cx="2971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211E28"/>
                </a:solidFill>
                <a:latin typeface="Inter"/>
              </a:rPr>
              <a:t>Therapy is expensive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0907" y="4206240"/>
            <a:ext cx="2971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80798C"/>
                </a:solidFill>
                <a:latin typeface="Inter"/>
              </a:rPr>
              <a:t>$150 to $300 per session in most major cities. Most couples can't sustain weekly.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5627" y="3108960"/>
            <a:ext cx="352044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E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9947" y="3429000"/>
            <a:ext cx="2971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211E28"/>
                </a:solidFill>
                <a:latin typeface="Inter"/>
              </a:rPr>
              <a:t>Waitlists are months long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9947" y="4206240"/>
            <a:ext cx="2971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80798C"/>
                </a:solidFill>
                <a:latin typeface="Inter"/>
              </a:rPr>
              <a:t>Couples in crisis wait 6 to 12 weeks for an opening. The fights don't wait.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4667" y="3108960"/>
            <a:ext cx="352044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E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58987" y="3429000"/>
            <a:ext cx="2971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211E28"/>
                </a:solidFill>
                <a:latin typeface="Inter"/>
              </a:rPr>
              <a:t>The damage is between sessions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8987" y="4206240"/>
            <a:ext cx="2971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80798C"/>
                </a:solidFill>
                <a:latin typeface="Inter"/>
              </a:rPr>
              <a:t>Most ruptures happen at 11pm on a Tuesday, nine days from the next appointment.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9436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80798C"/>
                </a:solidFill>
                <a:latin typeface="Inter"/>
              </a:rPr>
              <a:t>AI has finally crossed the threshold to help people process emotion safely, privately, and in real time. The window to build this is open.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8E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4A7A23"/>
                </a:solidFill>
                <a:latin typeface="Inter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1124712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>
                <a:solidFill>
                  <a:srgbClr val="211E28"/>
                </a:solidFill>
                <a:latin typeface="Inter"/>
              </a:rPr>
              <a:t>Hey Otis is a private guide that walks couples
from rupture to repair.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937760"/>
            <a:ext cx="112471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2000" b="0">
                <a:solidFill>
                  <a:srgbClr val="211E28"/>
                </a:solidFill>
                <a:latin typeface="Inter"/>
              </a:rPr>
              <a:t>In your pocket. At 11pm. When your therapist doesn't pick up.
Not a replacement for therapy. The thing that makes therapy work.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4A7A23"/>
                </a:solidFill>
                <a:latin typeface="Inter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1">
                <a:solidFill>
                  <a:srgbClr val="211E28"/>
                </a:solidFill>
                <a:latin typeface="Inter"/>
              </a:rPr>
              <a:t>Four steps. One conversation at a 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447" y="2377440"/>
            <a:ext cx="534924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E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29487" y="2697480"/>
            <a:ext cx="502920" cy="502920"/>
          </a:xfrm>
          <a:prstGeom prst="ellipse">
            <a:avLst/>
          </a:prstGeom>
          <a:solidFill>
            <a:srgbClr val="4EA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9487" y="2734056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69567" y="2670048"/>
            <a:ext cx="4251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211E28"/>
                </a:solidFill>
                <a:latin typeface="Inter"/>
              </a:rPr>
              <a:t>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69567" y="3017520"/>
            <a:ext cx="4251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80798C"/>
                </a:solidFill>
                <a:latin typeface="Inter"/>
              </a:rPr>
              <a:t>LET IT ALL 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9487" y="3474720"/>
            <a:ext cx="4709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3A3630"/>
                </a:solidFill>
                <a:latin typeface="Inter"/>
              </a:rPr>
              <a:t>A private space to say exactly what you're feeling. Putting emotion into words reduces its intensity.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2377440"/>
            <a:ext cx="534924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E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53047" y="2697480"/>
            <a:ext cx="502920" cy="502920"/>
          </a:xfrm>
          <a:prstGeom prst="ellipse">
            <a:avLst/>
          </a:prstGeom>
          <a:solidFill>
            <a:srgbClr val="92A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2734056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93127" y="2670048"/>
            <a:ext cx="4251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211E28"/>
                </a:solidFill>
                <a:latin typeface="Inter"/>
              </a:rPr>
              <a:t>Understand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93127" y="3017520"/>
            <a:ext cx="4251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80798C"/>
                </a:solidFill>
                <a:latin typeface="Inter"/>
              </a:rPr>
              <a:t>WHAT'S REALLY GOING ON?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3047" y="3474720"/>
            <a:ext cx="4709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3A3630"/>
                </a:solidFill>
                <a:latin typeface="Inter"/>
              </a:rPr>
              <a:t>Most arguments aren't about what they seem. Hey Otis helps you find the unmet need underneath.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447" y="4846320"/>
            <a:ext cx="534924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E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29487" y="5166360"/>
            <a:ext cx="502920" cy="502920"/>
          </a:xfrm>
          <a:prstGeom prst="ellipse">
            <a:avLst/>
          </a:prstGeom>
          <a:solidFill>
            <a:srgbClr val="F6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9487" y="5202936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69567" y="5138928"/>
            <a:ext cx="4251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211E28"/>
                </a:solidFill>
                <a:latin typeface="Inter"/>
              </a:rPr>
              <a:t>Prepare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9567" y="5486400"/>
            <a:ext cx="4251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80798C"/>
                </a:solidFill>
                <a:latin typeface="Inter"/>
              </a:rPr>
              <a:t>FIND THE RIGHT WORDS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487" y="5943600"/>
            <a:ext cx="4709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3A3630"/>
                </a:solidFill>
                <a:latin typeface="Inter"/>
              </a:rPr>
              <a:t>Coaches you to frame what you want to say, so your partner hears you, not an attack.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3007" y="4846320"/>
            <a:ext cx="534924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E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53047" y="5166360"/>
            <a:ext cx="502920" cy="502920"/>
          </a:xfrm>
          <a:prstGeom prst="ellipse">
            <a:avLst/>
          </a:prstGeom>
          <a:solidFill>
            <a:srgbClr val="BD5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047" y="5202936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93127" y="5138928"/>
            <a:ext cx="4251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211E28"/>
                </a:solidFill>
                <a:latin typeface="Inter"/>
              </a:rPr>
              <a:t>Nurture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93127" y="5486400"/>
            <a:ext cx="4251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80798C"/>
                </a:solidFill>
                <a:latin typeface="Inter"/>
              </a:rPr>
              <a:t>HAVE THE CONVERSATION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53047" y="5943600"/>
            <a:ext cx="4709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3A3630"/>
                </a:solidFill>
                <a:latin typeface="Inter"/>
              </a:rPr>
              <a:t>Step by step support during the actual repair. How to open softly, what to say if it gets heated.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4A7A23"/>
                </a:solidFill>
                <a:latin typeface="Inter"/>
              </a:rPr>
              <a:t>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6400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11E28"/>
                </a:solidFill>
                <a:latin typeface="Inter"/>
              </a:rPr>
              <a:t>A relationship that learns the more you share.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3227832"/>
            <a:ext cx="164592" cy="164592"/>
          </a:xfrm>
          <a:prstGeom prst="ellipse">
            <a:avLst/>
          </a:prstGeom>
          <a:solidFill>
            <a:srgbClr val="96D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10896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3A3630"/>
                </a:solidFill>
                <a:latin typeface="Inter"/>
              </a:rPr>
              <a:t>Short assessments map how each partner experiences love, conflict, and stress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3867912"/>
            <a:ext cx="164592" cy="164592"/>
          </a:xfrm>
          <a:prstGeom prst="ellipse">
            <a:avLst/>
          </a:prstGeom>
          <a:solidFill>
            <a:srgbClr val="96D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74904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3A3630"/>
                </a:solidFill>
                <a:latin typeface="Inter"/>
              </a:rPr>
              <a:t>Voice or text input. Use it solo or together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4507992"/>
            <a:ext cx="164592" cy="164592"/>
          </a:xfrm>
          <a:prstGeom prst="ellipse">
            <a:avLst/>
          </a:prstGeom>
          <a:solidFill>
            <a:srgbClr val="96D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38912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3A3630"/>
                </a:solidFill>
                <a:latin typeface="Inter"/>
              </a:rPr>
              <a:t>End to end private. We never train models on your data. We never sell it.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5148072"/>
            <a:ext cx="164592" cy="164592"/>
          </a:xfrm>
          <a:prstGeom prst="ellipse">
            <a:avLst/>
          </a:prstGeom>
          <a:solidFill>
            <a:srgbClr val="96D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502920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3A3630"/>
                </a:solidFill>
                <a:latin typeface="Inter"/>
              </a:rPr>
              <a:t>Available 24/7 on iOS, Android, and web</a:t>
            </a:r>
          </a:p>
        </p:txBody>
      </p:sp>
      <p:pic>
        <p:nvPicPr>
          <p:cNvPr id="13" name="Picture 12" descr="hero-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463040"/>
            <a:ext cx="4572000" cy="432250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4A7A23"/>
                </a:solidFill>
                <a:latin typeface="Inter"/>
              </a:rPr>
              <a:t>EVIDENCE BASED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211E28"/>
                </a:solidFill>
                <a:latin typeface="Inter"/>
              </a:rPr>
              <a:t>Built on the same frameworks couples therapists use.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7987" y="3200400"/>
            <a:ext cx="214884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E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5147" y="3566160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211E28"/>
                </a:solidFill>
                <a:latin typeface="Inter"/>
              </a:rPr>
              <a:t>Gottman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5147" y="4114800"/>
            <a:ext cx="1874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100" b="0">
                <a:solidFill>
                  <a:srgbClr val="80798C"/>
                </a:solidFill>
                <a:latin typeface="Inter"/>
              </a:rPr>
              <a:t>Conflict styles + sound
relationship house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89707" y="3200400"/>
            <a:ext cx="214884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E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26867" y="3566160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211E28"/>
                </a:solidFill>
                <a:latin typeface="Inter"/>
              </a:rPr>
              <a:t>Attachment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26867" y="4114800"/>
            <a:ext cx="1874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100" b="0">
                <a:solidFill>
                  <a:srgbClr val="80798C"/>
                </a:solidFill>
                <a:latin typeface="Inter"/>
              </a:rPr>
              <a:t>Anxious / avoidant /
secure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1427" y="3200400"/>
            <a:ext cx="214884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E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58587" y="3566160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211E28"/>
                </a:solidFill>
                <a:latin typeface="Inter"/>
              </a:rPr>
              <a:t>NVC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58587" y="4114800"/>
            <a:ext cx="1874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100" b="0">
                <a:solidFill>
                  <a:srgbClr val="80798C"/>
                </a:solidFill>
                <a:latin typeface="Inter"/>
              </a:rPr>
              <a:t>Observation, feeling,
need, request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53147" y="3200400"/>
            <a:ext cx="214884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E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0307" y="3566160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211E28"/>
                </a:solidFill>
                <a:latin typeface="Inter"/>
              </a:rPr>
              <a:t>Love Languages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0307" y="4114800"/>
            <a:ext cx="1874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100" b="0">
                <a:solidFill>
                  <a:srgbClr val="80798C"/>
                </a:solidFill>
                <a:latin typeface="Inter"/>
              </a:rPr>
              <a:t>How each partner
gives + receives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84867" y="3200400"/>
            <a:ext cx="214884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E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22027" y="3566160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211E28"/>
                </a:solidFill>
                <a:latin typeface="Inter"/>
              </a:rPr>
              <a:t>IFS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22027" y="4114800"/>
            <a:ext cx="1874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100" b="0">
                <a:solidFill>
                  <a:srgbClr val="80798C"/>
                </a:solidFill>
                <a:latin typeface="Inter"/>
              </a:rPr>
              <a:t>Parts work for
self understanding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76072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80798C"/>
                </a:solidFill>
                <a:latin typeface="Inter"/>
              </a:rPr>
              <a:t>Otis is not making it up. Every prompt, every reframe, every step is grounded in peer reviewed couples research.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4A7A23"/>
                </a:solidFill>
                <a:latin typeface="Inter"/>
              </a:rPr>
              <a:t>THE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600" b="1">
                <a:solidFill>
                  <a:srgbClr val="211E28"/>
                </a:solidFill>
                <a:latin typeface="Inter"/>
              </a:rPr>
              <a:t>A massive, underserved category.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106984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E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33472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>
                <a:solidFill>
                  <a:srgbClr val="4EA989"/>
                </a:solidFill>
                <a:latin typeface="Inter"/>
              </a:rPr>
              <a:t>$1.2T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26517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211E28"/>
                </a:solidFill>
                <a:latin typeface="Inter"/>
              </a:rPr>
              <a:t>TAM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97180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80798C"/>
                </a:solidFill>
                <a:latin typeface="Inter"/>
              </a:rPr>
              <a:t>Global wellness market (Global Wellness Institute, 2024)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611880"/>
            <a:ext cx="106984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E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776472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>
                <a:solidFill>
                  <a:srgbClr val="4EA989"/>
                </a:solidFill>
                <a:latin typeface="Inter"/>
              </a:rPr>
              <a:t>$58B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37947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211E28"/>
                </a:solidFill>
                <a:latin typeface="Inter"/>
              </a:rPr>
              <a:t>SAM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411480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80798C"/>
                </a:solidFill>
                <a:latin typeface="Inter"/>
              </a:rPr>
              <a:t>Mental health + relationship wellness, growing 17% YoY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754880"/>
            <a:ext cx="106984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E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919472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>
                <a:solidFill>
                  <a:srgbClr val="4EA989"/>
                </a:solidFill>
                <a:latin typeface="Inter"/>
              </a:rPr>
              <a:t>$4B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49377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211E28"/>
                </a:solidFill>
                <a:latin typeface="Inter"/>
              </a:rPr>
              <a:t>SOM (Year 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525780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80798C"/>
                </a:solidFill>
                <a:latin typeface="Inter"/>
              </a:rPr>
              <a:t>English speaking couples 25 to 55 willing to pay for ongoing 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035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300" b="0">
                <a:solidFill>
                  <a:srgbClr val="80798C"/>
                </a:solidFill>
                <a:latin typeface="Inter"/>
              </a:rPr>
              <a:t>47M couples in the US alone are in long term relationships and not in therapy. We're not stealing share from BetterHelp. We're creating a new category.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4A7A23"/>
                </a:solidFill>
                <a:latin typeface="Inter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211E28"/>
                </a:solidFill>
                <a:latin typeface="Inter"/>
              </a:rPr>
              <a:t>Subscription. Aligned with the long term work of a relationship.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6587" y="3017520"/>
            <a:ext cx="352044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E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6587" y="3337560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1">
                <a:solidFill>
                  <a:srgbClr val="80798C"/>
                </a:solidFill>
                <a:latin typeface="Inter"/>
              </a:rPr>
              <a:t>FREE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6587" y="3886200"/>
            <a:ext cx="3520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211E28"/>
                </a:solidFill>
                <a:latin typeface="Inter"/>
              </a:rPr>
              <a:t>$0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0907" y="4709160"/>
            <a:ext cx="2971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200" b="0">
                <a:solidFill>
                  <a:srgbClr val="80798C"/>
                </a:solidFill>
                <a:latin typeface="Inter"/>
              </a:rPr>
              <a:t>Daily check ins, one guided
repair per month, basic insights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5627" y="3017520"/>
            <a:ext cx="352044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96D3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35627" y="3337560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1">
                <a:solidFill>
                  <a:srgbClr val="80798C"/>
                </a:solidFill>
                <a:latin typeface="Inter"/>
              </a:rPr>
              <a:t>HEY OTIS PLUS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35627" y="3886200"/>
            <a:ext cx="3520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211E28"/>
                </a:solidFill>
                <a:latin typeface="Inter"/>
              </a:rPr>
              <a:t>$14.99/mo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9947" y="4709160"/>
            <a:ext cx="2971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200" b="0">
                <a:solidFill>
                  <a:srgbClr val="80798C"/>
                </a:solidFill>
                <a:latin typeface="Inter"/>
              </a:rPr>
              <a:t>Unlimited repairs, partner sync,
full assessment library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4667" y="3017520"/>
            <a:ext cx="352044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E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84667" y="3337560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1">
                <a:solidFill>
                  <a:srgbClr val="80798C"/>
                </a:solidFill>
                <a:latin typeface="Inter"/>
              </a:rPr>
              <a:t>COUPLES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4667" y="3886200"/>
            <a:ext cx="3520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211E28"/>
                </a:solidFill>
                <a:latin typeface="Inter"/>
              </a:rPr>
              <a:t>$22/mo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8987" y="4709160"/>
            <a:ext cx="2971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200" b="0">
                <a:solidFill>
                  <a:srgbClr val="80798C"/>
                </a:solidFill>
                <a:latin typeface="Inter"/>
              </a:rPr>
              <a:t>Both partners synced, shared
history, deeper insight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9436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80798C"/>
                </a:solidFill>
                <a:latin typeface="Inter"/>
              </a:rPr>
              <a:t>Therapy is $200 a session. Hey Otis is less than two coffees a week, available the moment you need 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4A7A23"/>
                </a:solidFill>
                <a:latin typeface="Inter"/>
              </a:rPr>
              <a:t>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600" b="1">
                <a:solidFill>
                  <a:srgbClr val="211E28"/>
                </a:solidFill>
                <a:latin typeface="Inter"/>
              </a:rPr>
              <a:t>Where we are today.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6587" y="2743200"/>
            <a:ext cx="352044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E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6587" y="3200400"/>
            <a:ext cx="3520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0" b="1">
                <a:solidFill>
                  <a:srgbClr val="211E28"/>
                </a:solidFill>
                <a:latin typeface="Inter"/>
              </a:rPr>
              <a:t>[X]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6587" y="4297680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1">
                <a:solidFill>
                  <a:srgbClr val="211E28"/>
                </a:solidFill>
                <a:latin typeface="Inter"/>
              </a:rPr>
              <a:t>WAITLIST SIGNUPS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0907" y="4709160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80798C"/>
                </a:solidFill>
                <a:latin typeface="Inter"/>
              </a:rPr>
              <a:t>from heyotis.app + organic Reddit + IG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5627" y="2743200"/>
            <a:ext cx="352044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E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35627" y="3200400"/>
            <a:ext cx="3520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0" b="1">
                <a:solidFill>
                  <a:srgbClr val="211E28"/>
                </a:solidFill>
                <a:latin typeface="Inter"/>
              </a:rPr>
              <a:t>[X]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35627" y="4297680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1">
                <a:solidFill>
                  <a:srgbClr val="211E28"/>
                </a:solidFill>
                <a:latin typeface="Inter"/>
              </a:rPr>
              <a:t>SURVEY RESPONSES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9947" y="4709160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80798C"/>
                </a:solidFill>
                <a:latin typeface="Inter"/>
              </a:rPr>
              <a:t>primary research from real couples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4667" y="2743200"/>
            <a:ext cx="352044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E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84667" y="3200400"/>
            <a:ext cx="3520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0" b="1">
                <a:solidFill>
                  <a:srgbClr val="211E28"/>
                </a:solidFill>
                <a:latin typeface="Inter"/>
              </a:rPr>
              <a:t>78%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4667" y="4297680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1">
                <a:solidFill>
                  <a:srgbClr val="211E28"/>
                </a:solidFill>
                <a:latin typeface="Inter"/>
              </a:rPr>
              <a:t>SAID THEY'D TRY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8987" y="4709160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80798C"/>
                </a:solidFill>
                <a:latin typeface="Inter"/>
              </a:rPr>
              <a:t>from in-survey product 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8521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80798C"/>
                </a:solidFill>
                <a:latin typeface="Inter"/>
              </a:rPr>
              <a:t>Beta launching Q3 2026 in EN speaking markets. Apple + Google submission ready. Brand identity, marketing site, and waitlist infrastructure all live.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4A7A23"/>
                </a:solidFill>
                <a:latin typeface="Inter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600" b="1">
                <a:solidFill>
                  <a:srgbClr val="211E28"/>
                </a:solidFill>
                <a:latin typeface="Inter"/>
              </a:rPr>
              <a:t>Built by people who've lived this.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6587" y="2560320"/>
            <a:ext cx="352044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E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0907" y="2880360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211E28"/>
                </a:solidFill>
                <a:latin typeface="Inter"/>
              </a:rPr>
              <a:t>Samantha Ahhee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0907" y="342900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4A7A23"/>
                </a:solidFill>
                <a:latin typeface="Inter"/>
              </a:rPr>
              <a:t>FOUNDER + CEO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0907" y="3931920"/>
            <a:ext cx="2971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3A3630"/>
                </a:solidFill>
                <a:latin typeface="Inter"/>
              </a:rPr>
              <a:t>Designer + builder. Previously [your prior role]. Built Hey Otis after experiencing first hand what was missing between therapy and the everyday.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5627" y="2560320"/>
            <a:ext cx="352044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E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9947" y="2880360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211E28"/>
                </a:solidFill>
                <a:latin typeface="Inter"/>
              </a:rPr>
              <a:t>[Add advisor name]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9947" y="342900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4A7A23"/>
                </a:solidFill>
                <a:latin typeface="Inter"/>
              </a:rPr>
              <a:t>CLINICAL ADVISOR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9947" y="3931920"/>
            <a:ext cx="2971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3A3630"/>
                </a:solidFill>
                <a:latin typeface="Inter"/>
              </a:rPr>
              <a:t>Licensed couples therapist. Validates the frameworks, the prompts, the safety guardrails.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4667" y="2560320"/>
            <a:ext cx="352044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E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58987" y="2880360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211E28"/>
                </a:solidFill>
                <a:latin typeface="Inter"/>
              </a:rPr>
              <a:t>[Add advisor name]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8987" y="342900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4A7A23"/>
                </a:solidFill>
                <a:latin typeface="Inter"/>
              </a:rPr>
              <a:t>TECHNICAL ADVISOR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8987" y="3931920"/>
            <a:ext cx="2971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3A3630"/>
                </a:solidFill>
                <a:latin typeface="Inter"/>
              </a:rPr>
              <a:t>ML / AI background. Helps shape the model layer + private architecture.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8E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96D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4A7A23"/>
                </a:solidFill>
                <a:latin typeface="Inter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6400" b="1">
                <a:solidFill>
                  <a:srgbClr val="211E28"/>
                </a:solidFill>
                <a:latin typeface="Inter"/>
              </a:rPr>
              <a:t>Raising [€XXX]K pre seed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0"/>
            <a:ext cx="112471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2000" b="0">
                <a:solidFill>
                  <a:srgbClr val="211E28"/>
                </a:solidFill>
                <a:latin typeface="Inter"/>
              </a:rPr>
              <a:t>To launch publicly, hit 10,000 paying users in 18 months,
and prove that couples will pay to learn how to repair.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607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211E28"/>
                </a:solidFill>
                <a:latin typeface="Inter"/>
              </a:rPr>
              <a:t>samantha.ahhee@gmail.com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0">
                <a:solidFill>
                  <a:srgbClr val="211E28"/>
                </a:solidFill>
                <a:latin typeface="Inter"/>
              </a:rPr>
              <a:t>heyotis.app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