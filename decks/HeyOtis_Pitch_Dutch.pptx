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E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211E28"/>
                </a:solidFill>
                <a:latin typeface="Inter"/>
              </a:rPr>
              <a:t>hey Otis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211E28"/>
                </a:solidFill>
                <a:latin typeface="Inter"/>
              </a:rPr>
              <a:t>From rupture to repair.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211E28"/>
                </a:solidFill>
                <a:latin typeface="Inter"/>
              </a:rPr>
              <a:t>A private AI guide for couples in conflict.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11E28"/>
                </a:solidFill>
                <a:latin typeface="Inter"/>
              </a:rPr>
              <a:t>Samantha Ahhee  ·  Founder, Hey Otis  ·  Amsterdam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Conflict isn't the problem. Silence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3A3630"/>
                </a:solidFill>
                <a:latin typeface="Inter"/>
              </a:rPr>
              <a:t>69% of relationship conflicts never fully resolve.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3A3630"/>
                </a:solidFill>
                <a:latin typeface="Inter"/>
              </a:rPr>
              <a:t>Couples wait six years before seeking help.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3A3630"/>
                </a:solidFill>
                <a:latin typeface="Inter"/>
              </a:rPr>
              <a:t>Most fights happen at 11pm — nine days from the next therapy session, if there is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80798C"/>
                </a:solidFill>
                <a:latin typeface="Inter"/>
              </a:rPr>
              <a:t>When my own relationship hit that wall, I had nothing to reach for that wasn't a self-help book or a 3am text to a friend.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Three things shifted in the last 24 months.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834640"/>
            <a:ext cx="228600" cy="228600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97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211E28"/>
                </a:solidFill>
                <a:latin typeface="Inter"/>
              </a:rPr>
              <a:t>Models are 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46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0798C"/>
                </a:solidFill>
                <a:latin typeface="Inter"/>
              </a:rPr>
              <a:t>LLMs crossed the threshold for emotional nuance without giving harmful advice.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069080"/>
            <a:ext cx="228600" cy="228600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211E28"/>
                </a:solidFill>
                <a:latin typeface="Inter"/>
              </a:rPr>
              <a:t>Regulation is 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0798C"/>
                </a:solidFill>
                <a:latin typeface="Inter"/>
              </a:rPr>
              <a:t>The EU AI Act gives us a clear frame to build trustworthy mental-health AI 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303520"/>
            <a:ext cx="228600" cy="228600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166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211E28"/>
                </a:solidFill>
                <a:latin typeface="Inter"/>
              </a:rPr>
              <a:t>Demand broke open.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7150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0798C"/>
                </a:solidFill>
                <a:latin typeface="Inter"/>
              </a:rPr>
              <a:t>Dutch GGZ relatietherapie waitlists hit 6+ months. The gap is now structural.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11E28"/>
                </a:solidFill>
                <a:latin typeface="Inter"/>
              </a:rPr>
              <a:t>A private space to use during conflict.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227832"/>
            <a:ext cx="164592" cy="164592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10896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Open it after a fight. Walk through four steps. Arrive at a conversation.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822192"/>
            <a:ext cx="164592" cy="164592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Solo or synced with your partner. Voice or text input.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416552"/>
            <a:ext cx="164592" cy="164592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End-to-end private. We never train on user data. GDPR-native.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010912"/>
            <a:ext cx="164592" cy="164592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920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Available on iOS, Android, and web.</a:t>
            </a:r>
          </a:p>
        </p:txBody>
      </p:sp>
      <p:pic>
        <p:nvPicPr>
          <p:cNvPr id="13" name="Picture 12" descr="hero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297680" cy="40631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Four steps. One conversation at a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283464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92427" y="3200400"/>
            <a:ext cx="640080" cy="640080"/>
          </a:xfrm>
          <a:prstGeom prst="ellipse">
            <a:avLst/>
          </a:prstGeom>
          <a:solidFill>
            <a:srgbClr val="4EA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325526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4023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211E28"/>
                </a:solidFill>
                <a:latin typeface="Inter"/>
              </a:rPr>
              <a:t>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45720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Say what you're feeling. Privately.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8367" y="283464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1347" y="3200400"/>
            <a:ext cx="640080" cy="640080"/>
          </a:xfrm>
          <a:prstGeom prst="ellipse">
            <a:avLst/>
          </a:prstGeom>
          <a:solidFill>
            <a:srgbClr val="92A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8367" y="325526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8367" y="4023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211E28"/>
                </a:solidFill>
                <a:latin typeface="Inter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247" y="45720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Find the unmet need underneath.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283464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0267" y="3200400"/>
            <a:ext cx="640080" cy="640080"/>
          </a:xfrm>
          <a:prstGeom prst="ellipse">
            <a:avLst/>
          </a:prstGeom>
          <a:solidFill>
            <a:srgbClr val="F6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287" y="325526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023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211E28"/>
                </a:solidFill>
                <a:latin typeface="Inter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45720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Frame what you want to say.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6207" y="283464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59187" y="3200400"/>
            <a:ext cx="640080" cy="640080"/>
          </a:xfrm>
          <a:prstGeom prst="ellipse">
            <a:avLst/>
          </a:prstGeom>
          <a:solidFill>
            <a:srgbClr val="BD5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6207" y="325526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6207" y="4023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211E28"/>
                </a:solidFill>
                <a:latin typeface="Inter"/>
              </a:rPr>
              <a:t>Nurture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9087" y="45720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Walk through the actual repair.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Each step maps to peer-reviewed couples research: emotion regulation, attachment, NVC, Gottman softened start-up.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WEDGE &amp;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Why ChatGPT won't eat this. Why BetterHelp can't.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27432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0907" y="31089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Frameworks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384048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Validated by clinical advisor. 18 months to build, hard to clone.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27432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9947" y="31089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Memory flywheel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9947" y="384048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Each session compounds. Generic chatbots forget you between chats.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4667" y="27432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8987" y="310896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Brand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8987" y="384048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EU-native, private by default. The category punishes any breach.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We are explicitly not a medical device. The clinical advisor on the team validates that boundary monthly.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European-first. Bottoms-up.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1635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4EA989"/>
                </a:solidFill>
                <a:latin typeface="Inter"/>
              </a:rPr>
              <a:t>47M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90779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long-term couples in the EU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6791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4EA989"/>
                </a:solidFill>
                <a:latin typeface="Inter"/>
              </a:rPr>
              <a:t>38M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95935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are not in any form of therapy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1947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4EA989"/>
                </a:solidFill>
                <a:latin typeface="Inter"/>
              </a:rPr>
              <a:t>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01091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= 190k subs in 5 years × €15/mo = €34M ARR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Comparables: Replika (10M users, $80M ARR) · Paired UK ($9M Series A) · Headspace (€600M valuation, mental-wellness adjacency).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4A7A23"/>
                </a:solidFill>
                <a:latin typeface="Inter"/>
              </a:rPr>
              <a:t>We start in NL + UK + DACH. US is Year 3, not Year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Subscription. Couple-tier is the unlock.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26517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6587" y="2926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587" y="34290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211E28"/>
                </a:solidFill>
                <a:latin typeface="Inter"/>
              </a:rPr>
              <a:t>€0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42062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One guided repair per month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basic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6517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96D3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5627" y="2926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PLUS (SOLO)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5627" y="34290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211E28"/>
                </a:solidFill>
                <a:latin typeface="Inter"/>
              </a:rPr>
              <a:t>€14.99/mo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9947" y="42062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Unlimited repairs, partner sync,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full assessment library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26517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4667" y="2926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COUPLES (BOTH)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4667" y="34290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211E28"/>
                </a:solidFill>
                <a:latin typeface="Inter"/>
              </a:rPr>
              <a:t>€22/mo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8987" y="42062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Both partners synced,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shared history, deeper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11E28"/>
                </a:solidFill>
                <a:latin typeface="Inter"/>
              </a:rPr>
              <a:t>Assumptions: blended CAC €18  ·  14-month tenure  ·  78% gross margin  ·  LTV €185.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Couple subscription = built-in viral loop. One signup brings two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YEAR 1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Three channels. Honest CPA targets.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Reddit + Substack organic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Relationship subs, attachment-style writers. Already running.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26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500" b="1">
                <a:solidFill>
                  <a:srgbClr val="4A7A23"/>
                </a:solidFill>
                <a:latin typeface="Inter"/>
              </a:rPr>
              <a:t>CPA target: €4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033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Couples-therapist referrals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Clinicians give Hey Otis to clients between sessions.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9776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500" b="1">
                <a:solidFill>
                  <a:srgbClr val="4A7A23"/>
                </a:solidFill>
                <a:latin typeface="Inter"/>
              </a:rPr>
              <a:t>CPA target: €8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Instagram Reels + creators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Short-form clinical-content partnerships. Brand-driven.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0292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500" b="1">
                <a:solidFill>
                  <a:srgbClr val="4A7A23"/>
                </a:solidFill>
                <a:latin typeface="Inter"/>
              </a:rPr>
              <a:t>CPA target: €25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Channel 1 is already validated by the heyotis.app/research survey campaign.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Where we are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26517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6587" y="306324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211E28"/>
                </a:solidFill>
                <a:latin typeface="Inter"/>
              </a:rPr>
              <a:t>[X]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587" y="4069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11E28"/>
                </a:solidFill>
                <a:latin typeface="Inter"/>
              </a:rPr>
              <a:t>WAITLIST SIGNUPS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443484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heyotis.app, organic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6517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5627" y="306324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211E28"/>
                </a:solidFill>
                <a:latin typeface="Inter"/>
              </a:rPr>
              <a:t>[X]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5627" y="4069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11E28"/>
                </a:solidFill>
                <a:latin typeface="Inter"/>
              </a:rPr>
              <a:t>SURVEY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9947" y="443484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primary research, real couples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26517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4667" y="306324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211E28"/>
                </a:solidFill>
                <a:latin typeface="Inter"/>
              </a:rP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4667" y="4069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11E28"/>
                </a:solidFill>
                <a:latin typeface="Inter"/>
              </a:rPr>
              <a:t>SAID THEY'D TRY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8987" y="443484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from in-survey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Brand, marketing site, Supabase backend, payments, app prototype — all live.</a:t>
            </a:r>
          </a:p>
          <a:p>
            <a:pPr algn="ctr">
              <a:lnSpc>
                <a:spcPct val="16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Beta launching Q3 2026 in EN-speaking markets. Apple + Google submission ready.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Two founders. Lived experience + commercial pedigree.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246888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0907" y="2788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Samantha Ahhee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3383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7A23"/>
                </a:solidFill>
                <a:latin typeface="Inter"/>
              </a:rPr>
              <a:t>FOUNDER +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38404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A3630"/>
                </a:solidFill>
                <a:latin typeface="Inter"/>
              </a:rPr>
              <a:t>Designer + builder. Previously [your prior role]. Built the Hey Otis product, brand, and primary-research system end-to-end. Lives the problem.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46888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9947" y="2788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[Husband's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3383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7A23"/>
                </a:solidFill>
                <a:latin typeface="Inter"/>
              </a:rPr>
              <a:t>CO-FOUNDER + 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9947" y="38404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A3630"/>
                </a:solidFill>
                <a:latin typeface="Inter"/>
              </a:rPr>
              <a:t>[N] years bringing software products to market. Previously [his prior role at company]. Owns commercial strategy, partnerships, and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246888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8987" y="2788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Hiring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3383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7A23"/>
                </a:solidFill>
                <a:latin typeface="Inter"/>
              </a:rPr>
              <a:t>CLINICAL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8987" y="38404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A3630"/>
                </a:solidFill>
                <a:latin typeface="Inter"/>
              </a:rPr>
              <a:t>Licensed couples therapist to validate frameworks, prompts, safety guardrails. In conversation with two candidates.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E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800" b="1">
                <a:solidFill>
                  <a:srgbClr val="211E28"/>
                </a:solidFill>
                <a:latin typeface="Inter"/>
              </a:rPr>
              <a:t>Raising [€XXX]K pre-seed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>
                <a:solidFill>
                  <a:srgbClr val="211E28"/>
                </a:solidFill>
                <a:latin typeface="Inter"/>
              </a:rPr>
              <a:t>24-month runway. To launch publicly, hit 10,000 paying users,</a:t>
            </a:r>
          </a:p>
          <a:p>
            <a:pPr algn="ctr">
              <a:lnSpc>
                <a:spcPct val="150000"/>
              </a:lnSpc>
            </a:pPr>
            <a:r>
              <a:rPr sz="2000" b="0">
                <a:solidFill>
                  <a:srgbClr val="211E28"/>
                </a:solidFill>
                <a:latin typeface="Inter"/>
              </a:rPr>
              <a:t>validate Couples-tier LTV, and reach Seed milestones.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>
                <a:solidFill>
                  <a:srgbClr val="4A7A23"/>
                </a:solidFill>
                <a:latin typeface="Inter"/>
              </a:rPr>
              <a:t>Plan to stack with WBSO R&amp;D credit + RVO Innovation Credit</a:t>
            </a:r>
          </a:p>
          <a:p>
            <a:pPr algn="ctr">
              <a:lnSpc>
                <a:spcPct val="150000"/>
              </a:lnSpc>
            </a:pPr>
            <a:r>
              <a:rPr sz="1400" b="1">
                <a:solidFill>
                  <a:srgbClr val="4A7A23"/>
                </a:solidFill>
                <a:latin typeface="Inter"/>
              </a:rPr>
              <a:t>(targeting +6 months runway non-dilutively)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samantha.ahhee@gmail.com  ·  heyotis.app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APPENDIX · WHY THIS INCUBATOR (DELETE THE OTHERS)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92A6F4"/>
                </a:solidFill>
                <a:latin typeface="Inter"/>
              </a:rPr>
              <a:t>Why Antler NL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3A3630"/>
                </a:solidFill>
                <a:latin typeface="Inter"/>
              </a:rPr>
              <a:t>Antler's residency model and consumer-health portfolio fit Hey Otis precisely. We come in with the product, brand, and primary research already in market. We use the residency to (a) validate clinical co-investor relationships, (b) sharpen the EU-first GTM motion, and (c) close the clinical-lead hire. The category we're in — couples mental wellness — is brand-and-trust before it's anything else, and Antler portfolio peers have solved exactly that distribution problem.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APPENDIX · WHY THIS INCUBATOR (DELETE THE OTHERS)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4EA989"/>
                </a:solidFill>
                <a:latin typeface="Inter"/>
              </a:rPr>
              <a:t>Why Rockstart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3A3630"/>
                </a:solidFill>
                <a:latin typeface="Inter"/>
              </a:rPr>
              <a:t>Rockstart Health's clinician network is the unlock for our second GTM channel: therapist referrals. Hey Otis only works as a therapist-recommended tool if therapists know it exists. Your portfolio of companies bridging digital and in-person care gives us the peer group that has solved exactly this distribution problem. We'd also leverage your brand to accelerate insurance-reimbursement conversations in Germany, where the pathway exists.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APPENDIX · WHY THIS INCUBATOR (DELETE THE OTHERS)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67700"/>
                </a:solidFill>
                <a:latin typeface="Inter"/>
              </a:rPr>
              <a:t>Why TechLeap.nl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3A3630"/>
                </a:solidFill>
                <a:latin typeface="Inter"/>
              </a:rPr>
              <a:t>TechLeap is the validation layer that opens the next two doors: the RVO Innovation Credit (for clinical-validation work) and the EIC Accelerator at Horizon Europe (for EU-wide expansion). Both are non-dilutive and well-suited to our 18-month roadmap. A TechLeap stamp also accelerates the brand-trust conversation that drives our B2C unit economics. We'd use the TechLeap network to bridge into both grant pipelines and Rise programme alumni for hiring.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APPENDIX · WHY THIS INCUBATOR (DELETE THE OTHERS)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BD57F2"/>
                </a:solidFill>
                <a:latin typeface="Inter"/>
              </a:rPr>
              <a:t>Why ACE Incubator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3A3630"/>
                </a:solidFill>
                <a:latin typeface="Inter"/>
              </a:rPr>
              <a:t>ACE's link to the University of Amsterdam — and the clinical psychology department specifically — gives Hey Otis the academic validation layer that consumer mental-health products usually have to build years in. A research collaboration with UvA on conflict-resolution outcomes would be the strongest defensibility moat we could build at this stage. ACE's local network also shortens the hiring loop for the clinical lead role.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